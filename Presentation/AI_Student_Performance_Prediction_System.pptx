
<file path=[Content_Types].xml><?xml version="1.0" encoding="utf-8"?>
<Types xmlns="http://schemas.openxmlformats.org/package/2006/content-types">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charts/chart1.xml" ContentType="application/vnd.openxmlformats-officedocument.drawingml.chart+xml"/>
  <Override PartName="/ppt/notesSlides/notesSlide9.xml" ContentType="application/vnd.openxmlformats-officedocument.presentationml.notesSlide+xml"/>
  <Override PartName="/ppt/notesSlides/notesSlide10.xml" ContentType="application/vnd.openxmlformats-officedocument.presentationml.notesSlide+xml"/>
  <Override PartName="/ppt/charts/chart2.xml" ContentType="application/vnd.openxmlformats-officedocument.drawingml.chart+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7"/>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98" d="100"/>
          <a:sy n="98" d="100"/>
        </p:scale>
        <p:origin x="82" y="26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Worksheet.xlsx"/></Relationships>
</file>

<file path=ppt/charts/_rels/chart2.xml.rels><?xml version="1.0" encoding="UTF-8" standalone="yes"?>
<Relationships xmlns="http://schemas.openxmlformats.org/package/2006/relationships"><Relationship Id="rId1" Type="http://schemas.openxmlformats.org/officeDocument/2006/relationships/package" Target="../embeddings/Microsoft_Excel_Worksheet1.xlsx"/></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title>
      <c:tx>
        <c:rich>
          <a:bodyPr/>
          <a:lstStyle/>
          <a:p>
            <a:pPr>
              <a:defRPr sz="1300" b="0" i="0" u="none" strike="noStrike">
                <a:solidFill>
                  <a:srgbClr val="1B1F3B"/>
                </a:solidFill>
                <a:latin typeface="Arial"/>
              </a:defRPr>
            </a:pPr>
            <a:r>
              <a:rPr lang="en-IN" sz="1300" b="0" i="0" u="none" strike="noStrike">
                <a:solidFill>
                  <a:srgbClr val="1B1F3B"/>
                </a:solidFill>
                <a:latin typeface="Arial"/>
              </a:rPr>
              <a:t>Model Accuracy Comparison (%)</a:t>
            </a:r>
          </a:p>
        </c:rich>
      </c:tx>
      <c:overlay val="0"/>
    </c:title>
    <c:autoTitleDeleted val="0"/>
    <c:plotArea>
      <c:layout/>
      <c:barChart>
        <c:barDir val="bar"/>
        <c:grouping val="clustered"/>
        <c:varyColors val="0"/>
        <c:ser>
          <c:idx val="0"/>
          <c:order val="0"/>
          <c:tx>
            <c:strRef>
              <c:f>Sheet1!$B$1</c:f>
              <c:strCache>
                <c:ptCount val="1"/>
                <c:pt idx="0">
                  <c:v>Accuracy %</c:v>
                </c:pt>
              </c:strCache>
            </c:strRef>
          </c:tx>
          <c:spPr>
            <a:solidFill>
              <a:srgbClr val="6C3CE9"/>
            </a:solidFill>
            <a:effectLst/>
          </c:spPr>
          <c:invertIfNegative val="0"/>
          <c:dLbls>
            <c:numFmt formatCode="#,##0" sourceLinked="0"/>
            <c:spPr>
              <a:noFill/>
              <a:ln>
                <a:noFill/>
              </a:ln>
              <a:effectLst/>
            </c:spPr>
            <c:txPr>
              <a:bodyPr/>
              <a:lstStyle/>
              <a:p>
                <a:pPr>
                  <a:defRPr sz="1000" b="0" i="0" u="none" strike="noStrike">
                    <a:solidFill>
                      <a:srgbClr val="1B1F3B"/>
                    </a:solidFill>
                    <a:latin typeface="Arial"/>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Sheet1!$A$2:$A$6</c:f>
              <c:strCache>
                <c:ptCount val="5"/>
                <c:pt idx="0">
                  <c:v>Random Forest</c:v>
                </c:pt>
                <c:pt idx="1">
                  <c:v>Gradient Boosting</c:v>
                </c:pt>
                <c:pt idx="2">
                  <c:v>Support Vector Machine</c:v>
                </c:pt>
                <c:pt idx="3">
                  <c:v>Decision Tree</c:v>
                </c:pt>
                <c:pt idx="4">
                  <c:v>Logistic Regression</c:v>
                </c:pt>
              </c:strCache>
            </c:strRef>
          </c:cat>
          <c:val>
            <c:numRef>
              <c:f>Sheet1!$B$2:$B$6</c:f>
              <c:numCache>
                <c:formatCode>General</c:formatCode>
                <c:ptCount val="5"/>
                <c:pt idx="0">
                  <c:v>92.5</c:v>
                </c:pt>
                <c:pt idx="1">
                  <c:v>91.8</c:v>
                </c:pt>
                <c:pt idx="2">
                  <c:v>87.9</c:v>
                </c:pt>
                <c:pt idx="3">
                  <c:v>88.2</c:v>
                </c:pt>
                <c:pt idx="4">
                  <c:v>85.3</c:v>
                </c:pt>
              </c:numCache>
            </c:numRef>
          </c:val>
          <c:extLst>
            <c:ext xmlns:c16="http://schemas.microsoft.com/office/drawing/2014/chart" uri="{C3380CC4-5D6E-409C-BE32-E72D297353CC}">
              <c16:uniqueId val="{00000000-3E98-4046-AAC8-E6B8D2C112A0}"/>
            </c:ext>
          </c:extLst>
        </c:ser>
        <c:dLbls>
          <c:showLegendKey val="0"/>
          <c:showVal val="1"/>
          <c:showCatName val="0"/>
          <c:showSerName val="0"/>
          <c:showPercent val="0"/>
          <c:showBubbleSize val="0"/>
        </c:dLbls>
        <c:gapWidth val="150"/>
        <c:axId val="2094734554"/>
        <c:axId val="2094734552"/>
      </c:barChart>
      <c:catAx>
        <c:axId val="2094734554"/>
        <c:scaling>
          <c:orientation val="minMax"/>
        </c:scaling>
        <c:delete val="0"/>
        <c:axPos val="l"/>
        <c:numFmt formatCode="General" sourceLinked="1"/>
        <c:majorTickMark val="out"/>
        <c:minorTickMark val="none"/>
        <c:tickLblPos val="nextTo"/>
        <c:spPr>
          <a:ln w="12700" cap="flat">
            <a:solidFill>
              <a:srgbClr val="888888"/>
            </a:solidFill>
            <a:prstDash val="solid"/>
            <a:round/>
          </a:ln>
        </c:spPr>
        <c:txPr>
          <a:bodyPr/>
          <a:lstStyle/>
          <a:p>
            <a:pPr>
              <a:defRPr sz="1000" b="0" i="0" u="none" strike="noStrike">
                <a:solidFill>
                  <a:srgbClr val="1B1F3B"/>
                </a:solidFill>
                <a:latin typeface="Arial"/>
              </a:defRPr>
            </a:pPr>
            <a:endParaRPr lang="en-US"/>
          </a:p>
        </c:txPr>
        <c:crossAx val="2094734552"/>
        <c:crosses val="autoZero"/>
        <c:auto val="1"/>
        <c:lblAlgn val="ctr"/>
        <c:lblOffset val="100"/>
        <c:noMultiLvlLbl val="1"/>
      </c:catAx>
      <c:valAx>
        <c:axId val="2094734552"/>
        <c:scaling>
          <c:orientation val="minMax"/>
          <c:max val="95"/>
          <c:min val="80"/>
        </c:scaling>
        <c:delete val="0"/>
        <c:axPos val="b"/>
        <c:majorGridlines>
          <c:spPr>
            <a:ln w="12700" cap="flat">
              <a:solidFill>
                <a:srgbClr val="E1E3F0"/>
              </a:solidFill>
              <a:prstDash val="solid"/>
              <a:round/>
            </a:ln>
          </c:spPr>
        </c:majorGridlines>
        <c:numFmt formatCode="General" sourceLinked="0"/>
        <c:majorTickMark val="out"/>
        <c:minorTickMark val="none"/>
        <c:tickLblPos val="low"/>
        <c:spPr>
          <a:ln w="12700" cap="flat">
            <a:solidFill>
              <a:srgbClr val="888888"/>
            </a:solidFill>
            <a:prstDash val="solid"/>
            <a:round/>
          </a:ln>
        </c:spPr>
        <c:txPr>
          <a:bodyPr/>
          <a:lstStyle/>
          <a:p>
            <a:pPr>
              <a:defRPr sz="900" b="0" i="0" u="none" strike="noStrike">
                <a:solidFill>
                  <a:srgbClr val="6E7488"/>
                </a:solidFill>
                <a:latin typeface="Arial"/>
              </a:defRPr>
            </a:pPr>
            <a:endParaRPr lang="en-US"/>
          </a:p>
        </c:txPr>
        <c:crossAx val="2094734554"/>
        <c:crosses val="autoZero"/>
        <c:crossBetween val="between"/>
      </c:valAx>
      <c:spPr>
        <a:noFill/>
        <a:ln>
          <a:noFill/>
        </a:ln>
        <a:effectLst/>
      </c:spPr>
    </c:plotArea>
    <c:plotVisOnly val="1"/>
    <c:dispBlanksAs val="span"/>
    <c:showDLblsOverMax val="1"/>
  </c:chart>
  <c:spPr>
    <a:no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title>
      <c:tx>
        <c:rich>
          <a:bodyPr/>
          <a:lstStyle/>
          <a:p>
            <a:pPr>
              <a:defRPr sz="1200" b="0" i="0" u="none" strike="noStrike">
                <a:solidFill>
                  <a:srgbClr val="1B1F3B"/>
                </a:solidFill>
                <a:latin typeface="Arial"/>
              </a:defRPr>
            </a:pPr>
            <a:r>
              <a:rPr lang="en-IN" sz="1200" b="0" i="0" u="none" strike="noStrike">
                <a:solidFill>
                  <a:srgbClr val="1B1F3B"/>
                </a:solidFill>
                <a:latin typeface="Arial"/>
              </a:rPr>
              <a:t>Top Feature Importance</a:t>
            </a:r>
          </a:p>
        </c:rich>
      </c:tx>
      <c:overlay val="0"/>
    </c:title>
    <c:autoTitleDeleted val="0"/>
    <c:plotArea>
      <c:layout/>
      <c:barChart>
        <c:barDir val="bar"/>
        <c:grouping val="clustered"/>
        <c:varyColors val="0"/>
        <c:ser>
          <c:idx val="0"/>
          <c:order val="0"/>
          <c:tx>
            <c:strRef>
              <c:f>Sheet1!$B$1</c:f>
              <c:strCache>
                <c:ptCount val="1"/>
                <c:pt idx="0">
                  <c:v>Importance</c:v>
                </c:pt>
              </c:strCache>
            </c:strRef>
          </c:tx>
          <c:spPr>
            <a:solidFill>
              <a:srgbClr val="2F5CFF"/>
            </a:solidFill>
            <a:effectLst/>
          </c:spPr>
          <c:invertIfNegative val="0"/>
          <c:dLbls>
            <c:numFmt formatCode="#,##0" sourceLinked="0"/>
            <c:spPr>
              <a:noFill/>
              <a:ln>
                <a:noFill/>
              </a:ln>
              <a:effectLst/>
            </c:spPr>
            <c:txPr>
              <a:bodyPr/>
              <a:lstStyle/>
              <a:p>
                <a:pPr>
                  <a:defRPr sz="900" b="0" i="0" u="none" strike="noStrike">
                    <a:solidFill>
                      <a:srgbClr val="000000"/>
                    </a:solidFill>
                    <a:latin typeface="Arial"/>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Sheet1!$A$2:$A$6</c:f>
              <c:strCache>
                <c:ptCount val="5"/>
                <c:pt idx="0">
                  <c:v>Attendance</c:v>
                </c:pt>
                <c:pt idx="1">
                  <c:v>Prev. Marks</c:v>
                </c:pt>
                <c:pt idx="2">
                  <c:v>Study Hrs</c:v>
                </c:pt>
                <c:pt idx="3">
                  <c:v>Internal Marks</c:v>
                </c:pt>
                <c:pt idx="4">
                  <c:v>Discipline</c:v>
                </c:pt>
              </c:strCache>
            </c:strRef>
          </c:cat>
          <c:val>
            <c:numRef>
              <c:f>Sheet1!$B$2:$B$6</c:f>
              <c:numCache>
                <c:formatCode>General</c:formatCode>
                <c:ptCount val="5"/>
                <c:pt idx="0">
                  <c:v>0.27</c:v>
                </c:pt>
                <c:pt idx="1">
                  <c:v>0.24</c:v>
                </c:pt>
                <c:pt idx="2">
                  <c:v>0.19</c:v>
                </c:pt>
                <c:pt idx="3">
                  <c:v>0.15</c:v>
                </c:pt>
                <c:pt idx="4">
                  <c:v>0.09</c:v>
                </c:pt>
              </c:numCache>
            </c:numRef>
          </c:val>
          <c:extLst>
            <c:ext xmlns:c16="http://schemas.microsoft.com/office/drawing/2014/chart" uri="{C3380CC4-5D6E-409C-BE32-E72D297353CC}">
              <c16:uniqueId val="{00000000-1211-4FCD-A470-57BDF9C92C7E}"/>
            </c:ext>
          </c:extLst>
        </c:ser>
        <c:dLbls>
          <c:showLegendKey val="0"/>
          <c:showVal val="1"/>
          <c:showCatName val="0"/>
          <c:showSerName val="0"/>
          <c:showPercent val="0"/>
          <c:showBubbleSize val="0"/>
        </c:dLbls>
        <c:gapWidth val="150"/>
        <c:axId val="2094734554"/>
        <c:axId val="2094734552"/>
      </c:barChart>
      <c:catAx>
        <c:axId val="2094734554"/>
        <c:scaling>
          <c:orientation val="minMax"/>
        </c:scaling>
        <c:delete val="0"/>
        <c:axPos val="l"/>
        <c:numFmt formatCode="General" sourceLinked="1"/>
        <c:majorTickMark val="out"/>
        <c:minorTickMark val="none"/>
        <c:tickLblPos val="nextTo"/>
        <c:spPr>
          <a:ln w="12700" cap="flat">
            <a:solidFill>
              <a:srgbClr val="888888"/>
            </a:solidFill>
            <a:prstDash val="solid"/>
            <a:round/>
          </a:ln>
        </c:spPr>
        <c:txPr>
          <a:bodyPr/>
          <a:lstStyle/>
          <a:p>
            <a:pPr>
              <a:defRPr sz="950" b="0" i="0" u="none" strike="noStrike">
                <a:solidFill>
                  <a:srgbClr val="1B1F3B"/>
                </a:solidFill>
                <a:latin typeface="Arial"/>
              </a:defRPr>
            </a:pPr>
            <a:endParaRPr lang="en-US"/>
          </a:p>
        </c:txPr>
        <c:crossAx val="2094734552"/>
        <c:crosses val="autoZero"/>
        <c:auto val="1"/>
        <c:lblAlgn val="ctr"/>
        <c:lblOffset val="100"/>
        <c:noMultiLvlLbl val="1"/>
      </c:catAx>
      <c:valAx>
        <c:axId val="2094734552"/>
        <c:scaling>
          <c:orientation val="minMax"/>
        </c:scaling>
        <c:delete val="0"/>
        <c:axPos val="b"/>
        <c:majorGridlines>
          <c:spPr>
            <a:ln w="12700" cap="flat">
              <a:solidFill>
                <a:srgbClr val="E1E3F0"/>
              </a:solidFill>
              <a:prstDash val="solid"/>
              <a:round/>
            </a:ln>
          </c:spPr>
        </c:majorGridlines>
        <c:numFmt formatCode="General" sourceLinked="0"/>
        <c:majorTickMark val="out"/>
        <c:minorTickMark val="none"/>
        <c:tickLblPos val="low"/>
        <c:spPr>
          <a:ln w="12700" cap="flat">
            <a:solidFill>
              <a:srgbClr val="888888"/>
            </a:solidFill>
            <a:prstDash val="solid"/>
            <a:round/>
          </a:ln>
        </c:spPr>
        <c:txPr>
          <a:bodyPr/>
          <a:lstStyle/>
          <a:p>
            <a:pPr>
              <a:defRPr sz="850" b="0" i="0" u="none" strike="noStrike">
                <a:solidFill>
                  <a:srgbClr val="6E7488"/>
                </a:solidFill>
                <a:latin typeface="Arial"/>
              </a:defRPr>
            </a:pPr>
            <a:endParaRPr lang="en-US"/>
          </a:p>
        </c:txPr>
        <c:crossAx val="2094734554"/>
        <c:crosses val="autoZero"/>
        <c:crossBetween val="between"/>
      </c:valAx>
      <c:spPr>
        <a:noFill/>
        <a:ln>
          <a:noFill/>
        </a:ln>
        <a:effectLst/>
      </c:spPr>
    </c:plotArea>
    <c:plotVisOnly val="1"/>
    <c:dispBlanksAs val="span"/>
    <c:showDLblsOverMax val="1"/>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45403045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[morning/afternoon], respected panel. My name is [Your Name], and today I'm presenting my machine learning internship project titled 'AI-Driven Student Performance Prediction System.' This project was completed as part of my [Internship Name] under the guidance of [Guide Name] at [College Name], [Department Name]. The system uses machine learning to predict a student's academic performance based on multiple academic and personal factors, helping teachers identify at-risk students early and take corrective action. Over the next few minutes, I'll walk you through the problem, the system architecture, the technology used, the machine learning pipeline, the results we achieved, and the key learnings from this internship.</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Traditionally, student evaluation has been reactive — a teacher only realizes a student is struggling once exam results come in, by which time significant learning gaps have already formed. Every student is different: attendance, study hours, sleep, stress levels and family background all affect performance, but schools rarely analyze these factors together. Institutions already collect a lot of data, but very little of it is converted into predictive insight. This is exactly the gap our AI system fills — it analyzes multiple factors simultaneously to flag at-risk students early, and its applications range from early-warning systems for mentors to institution-wide analytics dashboards for department heads.</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project has six core objectives. First, predict a student's academic performance category using machine learning. Second, identify at-risk students early so intervention is possible before it's too late. Third, go beyond raw prediction and provide personalized, actionable recommendations. Fourth, support teachers with objective, data-backed decision making rather than gut feeling. Fifth, ultimately improve overall student success rates through earlier action. And finally, package all of this into a scalable, production-ready web application built on Flask so it can realistically be deployed in an institution.</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diagram shows the end-to-end architecture. The flow starts with the User — a student, teacher, or admin — interacting through the Frontend, built with HTML, CSS, Bootstrap and JavaScript. Requests hit the Flask Backend, which handles routing, authentication, and business logic. The backend calls the trained Machine Learning Model to score the request, using data stored in and retrieved from the SQLite Database, which holds users, predictions, and feedback. The Prediction Engine then formats the ML output and generates personalized recommendations, which finally surface on the Dashboard and Reports layer for analytics, history tracking, and CSV export.</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system is built on a clean, modern stack. On the backend, we use Python with the Flask web framework. The frontend uses HTML, CSS, Bootstrap 5 and JavaScript for a responsive, professional interface. SQLite serves as the database, storing users, predictions and feedback. Scikit-Learn powers the machine learning layer, supported by Pandas and NumPy for data handling, Matplotlib for visualization, Joblib for model serialization, and Chart.js for interactive charts in the browser. Development was done in VS Code with Cursor AI assistance, and the project is version-controlled with Git and hosted on GitHub.</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 training, we generated a synthetic dataset of over 10,000 student records covering more than 20 features across four groups: academic metrics like attendance, study hours and previous marks; behavioral factors like stress and motivation; environmental factors like family income and parental education; and lifestyle factors like sleep hours. The target variable is a performance category ranging from Excellent down to At Risk. Before training, the data goes through a preprocessing pipeline: cleaning missing values and duplicates, detecting outliers using the IQR method, one-hot encoding categorical fields, scaling numeric features with StandardScaler, and finally an 80-20 train-test split.</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diagram summarizes the full machine learning pipeline used in the project. Starting from the raw dataset, we perform data cleaning, feature engineering, encoding of categorical variables, and feature scaling. The data is then split into training and test sets. We train multiple models, evaluate them on standard metrics, and select the best performing model. That model is then used for live prediction, and finally the prediction is translated into personalized recommendations for the student or teacher. This is a linear, repeatable workflow that keeps the system explainable and easy to retrain as new data arrives.</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trained and compared five machine learning algorithms: Random Forest, Gradient Boosting, Support Vector Machine, Decision Tree, and Logistic Regression, evaluated on accuracy, precision, recall and F1-score. As the chart and table show, Random Forest achieved the best results, with roughly 92.5% accuracy and a 91% F1-score, narrowly ahead of Gradient Boosting. We selected Random Forest as our final model because it combines the highest accuracy with strong resistance to overfitting through ensembling, and it naturally provides feature importance scores, which makes the predictions explainable to teachers and students, not just a black box.</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application ships with a complete set of screens: a landing home page, secure login and registration, a prediction form where teachers or students enter academic details, a personal dashboard, deeper analytics, exportable reports, an admin-facing student management view, and a detailed prediction results page. Key highlights across these screens are real-time prediction, an automated recommendation engine, report generation, and full prediction history tracking for every user.</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Our best model, Random Forest, achieved 92.5% accuracy, a 91% F1-score, and a strong ROC-AUC of 0.953 on the held-out test set from over 10,000 training records. The feature importance chart shows attendance, previous marks, and study hours are the strongest predictors of a student's performance category, which matches educational intuition and adds explainability to the model. The confusion matrix illustrates how well the model separates performance categories, with most predictions falling on the diagonal, meaning predicted and actual categories usually match, and very few students are misclassified across distant categories.</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Beyond the core prediction engine, the system delivers a complete set of production-style features: AI-based prediction with risk analysis, an automated recommendation engine, an analytics dashboard with rich data visualization, full prediction history tracking, a responsive UI that works on any device, solid database integration, report export to CSV, and secure user authentication with hashed passwords. Together these make the project feel like a real, deployable product rather than just a model demo.</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Every real project has challenges. Data cleaning was addressed with an automated pipeline handling missing values, duplicates, and IQR-based outlier removal. For model selection, we benchmarked five algorithms on identical train-test splits and chose based on weighted F1-score and accuracy. Feature engineering relied on correlation analysis combined with domain knowledge of what actually drives student outcomes. To push model accuracy further, we tuned hyperparameters and used ensembling — 200 trees at a max depth of 20 — to reduce variance and overfitting. Finally, for UI development, we adopted Bootstrap 5 with a component-based template structure so every page stays visually consistent.</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Looking ahead, several enhancements would extend this project's real-world value: incorporating deep learning models for potentially richer pattern recognition, deploying to the cloud for wider accessibility, and building dedicated mobile, teacher and student portals. We also plan email notifications for at-risk alerts, a chatbot for quick student queries, deeper explainable-AI tooling so every prediction is fully transparent, and real-time analytics that update as new data arrives.</a:t>
            </a:r>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conclusion, this project successfully achieved its objectives: we built an end-to-end system that predicts student performance, flags at-risk students, and delivers personalized recommendations, all through a scalable Flask web application. AI in education matters because it turns already-available data into timely, objective evidence teachers can act on. Students benefit from personalized, early feedback rather than only finding out about problems at exam time. On a personal level, this internship gave me hands-on experience across the full machine learning lifecycle — from data generation and preprocessing to model comparison, web deployment, and building a real, usable product.</a:t>
            </a:r>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Thank you for your time and attention. This concludes my presentation on the AI-Driven Student Performance Prediction System. I'd be happy to answer any questions the panel may have, whether about the machine learning model, the system architecture, or the results we achieved. My contact details, GitHub repository and LinkedIn profile are on screen if you'd like to follow up afterward.</a:t>
            </a:r>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xml"/><Relationship Id="rId1" Type="http://schemas.openxmlformats.org/officeDocument/2006/relationships/slideLayout" Target="../slideLayouts/slideLayout1.xml"/><Relationship Id="rId6" Type="http://schemas.openxmlformats.org/officeDocument/2006/relationships/image" Target="../media/image4.png"/><Relationship Id="rId5" Type="http://schemas.openxmlformats.org/officeDocument/2006/relationships/image" Target="../media/image3.png"/><Relationship Id="rId4" Type="http://schemas.openxmlformats.org/officeDocument/2006/relationships/image" Target="../media/image2.png"/></Relationships>
</file>

<file path=ppt/slides/_rels/slide3.xml.rels><?xml version="1.0" encoding="UTF-8" standalone="yes"?>
<Relationships xmlns="http://schemas.openxmlformats.org/package/2006/relationships"><Relationship Id="rId8" Type="http://schemas.openxmlformats.org/officeDocument/2006/relationships/image" Target="../media/image7.png"/><Relationship Id="rId3" Type="http://schemas.openxmlformats.org/officeDocument/2006/relationships/image" Target="../media/image5.png"/><Relationship Id="rId7" Type="http://schemas.openxmlformats.org/officeDocument/2006/relationships/image" Target="../media/image3.png"/><Relationship Id="rId2" Type="http://schemas.openxmlformats.org/officeDocument/2006/relationships/notesSlide" Target="../notesSlides/notesSlide3.xml"/><Relationship Id="rId1" Type="http://schemas.openxmlformats.org/officeDocument/2006/relationships/slideLayout" Target="../slideLayouts/slideLayout1.xml"/><Relationship Id="rId6" Type="http://schemas.openxmlformats.org/officeDocument/2006/relationships/image" Target="../media/image6.png"/><Relationship Id="rId5" Type="http://schemas.openxmlformats.org/officeDocument/2006/relationships/image" Target="../media/image4.png"/><Relationship Id="rId4" Type="http://schemas.openxmlformats.org/officeDocument/2006/relationships/image" Target="../media/image1.png"/></Relationships>
</file>

<file path=ppt/slides/_rels/slide4.xml.rels><?xml version="1.0" encoding="UTF-8" standalone="yes"?>
<Relationships xmlns="http://schemas.openxmlformats.org/package/2006/relationships"><Relationship Id="rId8" Type="http://schemas.openxmlformats.org/officeDocument/2006/relationships/image" Target="../media/image13.png"/><Relationship Id="rId3" Type="http://schemas.openxmlformats.org/officeDocument/2006/relationships/image" Target="../media/image8.png"/><Relationship Id="rId7" Type="http://schemas.openxmlformats.org/officeDocument/2006/relationships/image" Target="../media/image12.png"/><Relationship Id="rId2" Type="http://schemas.openxmlformats.org/officeDocument/2006/relationships/notesSlide" Target="../notesSlides/notesSlide4.xml"/><Relationship Id="rId1" Type="http://schemas.openxmlformats.org/officeDocument/2006/relationships/slideLayout" Target="../slideLayouts/slideLayout1.xml"/><Relationship Id="rId6" Type="http://schemas.openxmlformats.org/officeDocument/2006/relationships/image" Target="../media/image11.png"/><Relationship Id="rId5" Type="http://schemas.openxmlformats.org/officeDocument/2006/relationships/image" Target="../media/image10.png"/><Relationship Id="rId4" Type="http://schemas.openxmlformats.org/officeDocument/2006/relationships/image" Target="../media/image9.png"/><Relationship Id="rId9" Type="http://schemas.openxmlformats.org/officeDocument/2006/relationships/image" Target="../media/image14.png"/></Relationships>
</file>

<file path=ppt/slides/_rels/slide5.xml.rels><?xml version="1.0" encoding="UTF-8" standalone="yes"?>
<Relationships xmlns="http://schemas.openxmlformats.org/package/2006/relationships"><Relationship Id="rId8" Type="http://schemas.openxmlformats.org/officeDocument/2006/relationships/image" Target="../media/image16.png"/><Relationship Id="rId3" Type="http://schemas.openxmlformats.org/officeDocument/2006/relationships/image" Target="../media/image10.png"/><Relationship Id="rId7" Type="http://schemas.openxmlformats.org/officeDocument/2006/relationships/image" Target="../media/image15.png"/><Relationship Id="rId2" Type="http://schemas.openxmlformats.org/officeDocument/2006/relationships/notesSlide" Target="../notesSlides/notesSlide5.xml"/><Relationship Id="rId1" Type="http://schemas.openxmlformats.org/officeDocument/2006/relationships/slideLayout" Target="../slideLayouts/slideLayout1.xml"/><Relationship Id="rId6" Type="http://schemas.openxmlformats.org/officeDocument/2006/relationships/image" Target="../media/image11.png"/><Relationship Id="rId5" Type="http://schemas.openxmlformats.org/officeDocument/2006/relationships/image" Target="../media/image12.png"/><Relationship Id="rId4" Type="http://schemas.openxmlformats.org/officeDocument/2006/relationships/image" Target="../media/image9.png"/></Relationships>
</file>

<file path=ppt/slides/_rels/slide6.xml.rels><?xml version="1.0" encoding="UTF-8" standalone="yes"?>
<Relationships xmlns="http://schemas.openxmlformats.org/package/2006/relationships"><Relationship Id="rId3" Type="http://schemas.openxmlformats.org/officeDocument/2006/relationships/image" Target="../media/image17.png"/><Relationship Id="rId7" Type="http://schemas.openxmlformats.org/officeDocument/2006/relationships/image" Target="../media/image21.png"/><Relationship Id="rId2" Type="http://schemas.openxmlformats.org/officeDocument/2006/relationships/notesSlide" Target="../notesSlides/notesSlide6.xml"/><Relationship Id="rId1" Type="http://schemas.openxmlformats.org/officeDocument/2006/relationships/slideLayout" Target="../slideLayouts/slideLayout1.xml"/><Relationship Id="rId6" Type="http://schemas.openxmlformats.org/officeDocument/2006/relationships/image" Target="../media/image20.png"/><Relationship Id="rId5" Type="http://schemas.openxmlformats.org/officeDocument/2006/relationships/image" Target="../media/image19.png"/><Relationship Id="rId4" Type="http://schemas.openxmlformats.org/officeDocument/2006/relationships/image" Target="../media/image18.png"/></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3" Type="http://schemas.openxmlformats.org/officeDocument/2006/relationships/chart" Target="../charts/chart1.xml"/><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8" Type="http://schemas.openxmlformats.org/officeDocument/2006/relationships/image" Target="../media/image23.png"/><Relationship Id="rId3" Type="http://schemas.openxmlformats.org/officeDocument/2006/relationships/image" Target="../media/image9.png"/><Relationship Id="rId7" Type="http://schemas.openxmlformats.org/officeDocument/2006/relationships/image" Target="../media/image13.png"/><Relationship Id="rId2" Type="http://schemas.openxmlformats.org/officeDocument/2006/relationships/notesSlide" Target="../notesSlides/notesSlide9.xml"/><Relationship Id="rId1" Type="http://schemas.openxmlformats.org/officeDocument/2006/relationships/slideLayout" Target="../slideLayouts/slideLayout1.xml"/><Relationship Id="rId6" Type="http://schemas.openxmlformats.org/officeDocument/2006/relationships/image" Target="../media/image14.png"/><Relationship Id="rId5" Type="http://schemas.openxmlformats.org/officeDocument/2006/relationships/image" Target="../media/image6.png"/><Relationship Id="rId10" Type="http://schemas.openxmlformats.org/officeDocument/2006/relationships/image" Target="../media/image24.png"/><Relationship Id="rId4" Type="http://schemas.openxmlformats.org/officeDocument/2006/relationships/image" Target="../media/image22.png"/><Relationship Id="rId9" Type="http://schemas.openxmlformats.org/officeDocument/2006/relationships/image" Target="../media/image8.png"/></Relationships>
</file>

<file path=ppt/slides/_rels/slide10.xml.rels><?xml version="1.0" encoding="UTF-8" standalone="yes"?>
<Relationships xmlns="http://schemas.openxmlformats.org/package/2006/relationships"><Relationship Id="rId3" Type="http://schemas.openxmlformats.org/officeDocument/2006/relationships/chart" Target="../charts/chart2.xml"/><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8" Type="http://schemas.openxmlformats.org/officeDocument/2006/relationships/image" Target="../media/image25.png"/><Relationship Id="rId3" Type="http://schemas.openxmlformats.org/officeDocument/2006/relationships/image" Target="../media/image11.png"/><Relationship Id="rId7" Type="http://schemas.openxmlformats.org/officeDocument/2006/relationships/image" Target="../media/image13.png"/><Relationship Id="rId12" Type="http://schemas.openxmlformats.org/officeDocument/2006/relationships/image" Target="../media/image22.png"/><Relationship Id="rId2" Type="http://schemas.openxmlformats.org/officeDocument/2006/relationships/notesSlide" Target="../notesSlides/notesSlide11.xml"/><Relationship Id="rId1" Type="http://schemas.openxmlformats.org/officeDocument/2006/relationships/slideLayout" Target="../slideLayouts/slideLayout1.xml"/><Relationship Id="rId6" Type="http://schemas.openxmlformats.org/officeDocument/2006/relationships/image" Target="../media/image14.png"/><Relationship Id="rId11" Type="http://schemas.openxmlformats.org/officeDocument/2006/relationships/image" Target="../media/image23.png"/><Relationship Id="rId5" Type="http://schemas.openxmlformats.org/officeDocument/2006/relationships/image" Target="../media/image4.png"/><Relationship Id="rId10" Type="http://schemas.openxmlformats.org/officeDocument/2006/relationships/image" Target="../media/image12.png"/><Relationship Id="rId4" Type="http://schemas.openxmlformats.org/officeDocument/2006/relationships/image" Target="../media/image1.png"/><Relationship Id="rId9" Type="http://schemas.openxmlformats.org/officeDocument/2006/relationships/image" Target="../media/image26.png"/></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8" Type="http://schemas.openxmlformats.org/officeDocument/2006/relationships/image" Target="../media/image27.png"/><Relationship Id="rId3" Type="http://schemas.openxmlformats.org/officeDocument/2006/relationships/image" Target="../media/image11.png"/><Relationship Id="rId7" Type="http://schemas.openxmlformats.org/officeDocument/2006/relationships/image" Target="../media/image2.png"/><Relationship Id="rId2" Type="http://schemas.openxmlformats.org/officeDocument/2006/relationships/notesSlide" Target="../notesSlides/notesSlide13.xml"/><Relationship Id="rId1" Type="http://schemas.openxmlformats.org/officeDocument/2006/relationships/slideLayout" Target="../slideLayouts/slideLayout1.xml"/><Relationship Id="rId6" Type="http://schemas.openxmlformats.org/officeDocument/2006/relationships/image" Target="../media/image6.png"/><Relationship Id="rId11" Type="http://schemas.openxmlformats.org/officeDocument/2006/relationships/image" Target="../media/image3.png"/><Relationship Id="rId5" Type="http://schemas.openxmlformats.org/officeDocument/2006/relationships/image" Target="../media/image26.png"/><Relationship Id="rId10" Type="http://schemas.openxmlformats.org/officeDocument/2006/relationships/image" Target="../media/image29.png"/><Relationship Id="rId4" Type="http://schemas.openxmlformats.org/officeDocument/2006/relationships/image" Target="../media/image7.png"/><Relationship Id="rId9" Type="http://schemas.openxmlformats.org/officeDocument/2006/relationships/image" Target="../media/image28.png"/></Relationships>
</file>

<file path=ppt/slides/_rels/slide14.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14.xml"/><Relationship Id="rId1" Type="http://schemas.openxmlformats.org/officeDocument/2006/relationships/slideLayout" Target="../slideLayouts/slideLayout1.xml"/><Relationship Id="rId6" Type="http://schemas.openxmlformats.org/officeDocument/2006/relationships/image" Target="../media/image4.png"/><Relationship Id="rId5" Type="http://schemas.openxmlformats.org/officeDocument/2006/relationships/image" Target="../media/image8.png"/><Relationship Id="rId4" Type="http://schemas.openxmlformats.org/officeDocument/2006/relationships/image" Target="../media/image30.png"/></Relationships>
</file>

<file path=ppt/slides/_rels/slide15.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notesSlide" Target="../notesSlides/notesSlide15.xml"/><Relationship Id="rId1" Type="http://schemas.openxmlformats.org/officeDocument/2006/relationships/slideLayout" Target="../slideLayouts/slideLayout1.xml"/><Relationship Id="rId5" Type="http://schemas.openxmlformats.org/officeDocument/2006/relationships/image" Target="../media/image33.png"/><Relationship Id="rId4" Type="http://schemas.openxmlformats.org/officeDocument/2006/relationships/image" Target="../media/image32.png"/></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41A45"/>
        </a:solidFill>
        <a:effectLst/>
      </p:bgPr>
    </p:bg>
    <p:spTree>
      <p:nvGrpSpPr>
        <p:cNvPr id="1" name=""/>
        <p:cNvGrpSpPr/>
        <p:nvPr/>
      </p:nvGrpSpPr>
      <p:grpSpPr>
        <a:xfrm>
          <a:off x="0" y="0"/>
          <a:ext cx="0" cy="0"/>
          <a:chOff x="0" y="0"/>
          <a:chExt cx="0" cy="0"/>
        </a:xfrm>
      </p:grpSpPr>
      <p:sp>
        <p:nvSpPr>
          <p:cNvPr id="2" name="Shape 0"/>
          <p:cNvSpPr/>
          <p:nvPr/>
        </p:nvSpPr>
        <p:spPr>
          <a:xfrm>
            <a:off x="7863840" y="0"/>
            <a:ext cx="4297680" cy="6858000"/>
          </a:xfrm>
          <a:prstGeom prst="rect">
            <a:avLst/>
          </a:prstGeom>
          <a:solidFill>
            <a:srgbClr val="1E2670"/>
          </a:solidFill>
          <a:ln/>
        </p:spPr>
      </p:sp>
      <p:sp>
        <p:nvSpPr>
          <p:cNvPr id="3" name="Shape 1"/>
          <p:cNvSpPr/>
          <p:nvPr/>
        </p:nvSpPr>
        <p:spPr>
          <a:xfrm flipV="1">
            <a:off x="8503920" y="548640"/>
            <a:ext cx="1463040" cy="640080"/>
          </a:xfrm>
          <a:prstGeom prst="line">
            <a:avLst/>
          </a:prstGeom>
          <a:noFill/>
          <a:ln w="9525">
            <a:solidFill>
              <a:srgbClr val="2F5CFF">
                <a:alpha val="45000"/>
              </a:srgbClr>
            </a:solidFill>
            <a:prstDash val="solid"/>
          </a:ln>
        </p:spPr>
      </p:sp>
      <p:sp>
        <p:nvSpPr>
          <p:cNvPr id="4" name="Shape 2"/>
          <p:cNvSpPr/>
          <p:nvPr/>
        </p:nvSpPr>
        <p:spPr>
          <a:xfrm>
            <a:off x="8503920" y="1188720"/>
            <a:ext cx="1463040" cy="822960"/>
          </a:xfrm>
          <a:prstGeom prst="line">
            <a:avLst/>
          </a:prstGeom>
          <a:noFill/>
          <a:ln w="9525">
            <a:solidFill>
              <a:srgbClr val="2F5CFF">
                <a:alpha val="45000"/>
              </a:srgbClr>
            </a:solidFill>
            <a:prstDash val="solid"/>
          </a:ln>
        </p:spPr>
      </p:sp>
      <p:sp>
        <p:nvSpPr>
          <p:cNvPr id="5" name="Shape 3"/>
          <p:cNvSpPr/>
          <p:nvPr/>
        </p:nvSpPr>
        <p:spPr>
          <a:xfrm>
            <a:off x="8503920" y="1188720"/>
            <a:ext cx="1463040" cy="2286000"/>
          </a:xfrm>
          <a:prstGeom prst="line">
            <a:avLst/>
          </a:prstGeom>
          <a:noFill/>
          <a:ln w="9525">
            <a:solidFill>
              <a:srgbClr val="2F5CFF">
                <a:alpha val="45000"/>
              </a:srgbClr>
            </a:solidFill>
            <a:prstDash val="solid"/>
          </a:ln>
        </p:spPr>
      </p:sp>
      <p:sp>
        <p:nvSpPr>
          <p:cNvPr id="6" name="Shape 4"/>
          <p:cNvSpPr/>
          <p:nvPr/>
        </p:nvSpPr>
        <p:spPr>
          <a:xfrm>
            <a:off x="8503920" y="1188720"/>
            <a:ext cx="1463040" cy="3749040"/>
          </a:xfrm>
          <a:prstGeom prst="line">
            <a:avLst/>
          </a:prstGeom>
          <a:noFill/>
          <a:ln w="9525">
            <a:solidFill>
              <a:srgbClr val="2F5CFF">
                <a:alpha val="45000"/>
              </a:srgbClr>
            </a:solidFill>
            <a:prstDash val="solid"/>
          </a:ln>
        </p:spPr>
      </p:sp>
      <p:sp>
        <p:nvSpPr>
          <p:cNvPr id="7" name="Shape 5"/>
          <p:cNvSpPr/>
          <p:nvPr/>
        </p:nvSpPr>
        <p:spPr>
          <a:xfrm flipV="1">
            <a:off x="8503920" y="548640"/>
            <a:ext cx="1463040" cy="2286000"/>
          </a:xfrm>
          <a:prstGeom prst="line">
            <a:avLst/>
          </a:prstGeom>
          <a:noFill/>
          <a:ln w="9525">
            <a:solidFill>
              <a:srgbClr val="2F5CFF">
                <a:alpha val="45000"/>
              </a:srgbClr>
            </a:solidFill>
            <a:prstDash val="solid"/>
          </a:ln>
        </p:spPr>
      </p:sp>
      <p:sp>
        <p:nvSpPr>
          <p:cNvPr id="8" name="Shape 6"/>
          <p:cNvSpPr/>
          <p:nvPr/>
        </p:nvSpPr>
        <p:spPr>
          <a:xfrm flipV="1">
            <a:off x="8503920" y="2011680"/>
            <a:ext cx="1463040" cy="822960"/>
          </a:xfrm>
          <a:prstGeom prst="line">
            <a:avLst/>
          </a:prstGeom>
          <a:noFill/>
          <a:ln w="9525">
            <a:solidFill>
              <a:srgbClr val="2F5CFF">
                <a:alpha val="45000"/>
              </a:srgbClr>
            </a:solidFill>
            <a:prstDash val="solid"/>
          </a:ln>
        </p:spPr>
      </p:sp>
      <p:sp>
        <p:nvSpPr>
          <p:cNvPr id="9" name="Shape 7"/>
          <p:cNvSpPr/>
          <p:nvPr/>
        </p:nvSpPr>
        <p:spPr>
          <a:xfrm>
            <a:off x="8503920" y="2834640"/>
            <a:ext cx="1463040" cy="640080"/>
          </a:xfrm>
          <a:prstGeom prst="line">
            <a:avLst/>
          </a:prstGeom>
          <a:noFill/>
          <a:ln w="9525">
            <a:solidFill>
              <a:srgbClr val="2F5CFF">
                <a:alpha val="45000"/>
              </a:srgbClr>
            </a:solidFill>
            <a:prstDash val="solid"/>
          </a:ln>
        </p:spPr>
      </p:sp>
      <p:sp>
        <p:nvSpPr>
          <p:cNvPr id="10" name="Shape 8"/>
          <p:cNvSpPr/>
          <p:nvPr/>
        </p:nvSpPr>
        <p:spPr>
          <a:xfrm>
            <a:off x="8503920" y="2834640"/>
            <a:ext cx="1463040" cy="2103120"/>
          </a:xfrm>
          <a:prstGeom prst="line">
            <a:avLst/>
          </a:prstGeom>
          <a:noFill/>
          <a:ln w="9525">
            <a:solidFill>
              <a:srgbClr val="2F5CFF">
                <a:alpha val="45000"/>
              </a:srgbClr>
            </a:solidFill>
            <a:prstDash val="solid"/>
          </a:ln>
        </p:spPr>
      </p:sp>
      <p:sp>
        <p:nvSpPr>
          <p:cNvPr id="11" name="Shape 9"/>
          <p:cNvSpPr/>
          <p:nvPr/>
        </p:nvSpPr>
        <p:spPr>
          <a:xfrm flipV="1">
            <a:off x="8503920" y="548640"/>
            <a:ext cx="1463040" cy="3931920"/>
          </a:xfrm>
          <a:prstGeom prst="line">
            <a:avLst/>
          </a:prstGeom>
          <a:noFill/>
          <a:ln w="9525">
            <a:solidFill>
              <a:srgbClr val="2F5CFF">
                <a:alpha val="45000"/>
              </a:srgbClr>
            </a:solidFill>
            <a:prstDash val="solid"/>
          </a:ln>
        </p:spPr>
      </p:sp>
      <p:sp>
        <p:nvSpPr>
          <p:cNvPr id="12" name="Shape 10"/>
          <p:cNvSpPr/>
          <p:nvPr/>
        </p:nvSpPr>
        <p:spPr>
          <a:xfrm flipV="1">
            <a:off x="8503920" y="2011680"/>
            <a:ext cx="1463040" cy="2468880"/>
          </a:xfrm>
          <a:prstGeom prst="line">
            <a:avLst/>
          </a:prstGeom>
          <a:noFill/>
          <a:ln w="9525">
            <a:solidFill>
              <a:srgbClr val="2F5CFF">
                <a:alpha val="45000"/>
              </a:srgbClr>
            </a:solidFill>
            <a:prstDash val="solid"/>
          </a:ln>
        </p:spPr>
      </p:sp>
      <p:sp>
        <p:nvSpPr>
          <p:cNvPr id="13" name="Shape 11"/>
          <p:cNvSpPr/>
          <p:nvPr/>
        </p:nvSpPr>
        <p:spPr>
          <a:xfrm flipV="1">
            <a:off x="8503920" y="3474720"/>
            <a:ext cx="1463040" cy="1005840"/>
          </a:xfrm>
          <a:prstGeom prst="line">
            <a:avLst/>
          </a:prstGeom>
          <a:noFill/>
          <a:ln w="9525">
            <a:solidFill>
              <a:srgbClr val="2F5CFF">
                <a:alpha val="45000"/>
              </a:srgbClr>
            </a:solidFill>
            <a:prstDash val="solid"/>
          </a:ln>
        </p:spPr>
      </p:sp>
      <p:sp>
        <p:nvSpPr>
          <p:cNvPr id="14" name="Shape 12"/>
          <p:cNvSpPr/>
          <p:nvPr/>
        </p:nvSpPr>
        <p:spPr>
          <a:xfrm>
            <a:off x="8503920" y="4480560"/>
            <a:ext cx="1463040" cy="457200"/>
          </a:xfrm>
          <a:prstGeom prst="line">
            <a:avLst/>
          </a:prstGeom>
          <a:noFill/>
          <a:ln w="9525">
            <a:solidFill>
              <a:srgbClr val="2F5CFF">
                <a:alpha val="45000"/>
              </a:srgbClr>
            </a:solidFill>
            <a:prstDash val="solid"/>
          </a:ln>
        </p:spPr>
      </p:sp>
      <p:sp>
        <p:nvSpPr>
          <p:cNvPr id="15" name="Shape 13"/>
          <p:cNvSpPr/>
          <p:nvPr/>
        </p:nvSpPr>
        <p:spPr>
          <a:xfrm>
            <a:off x="9966960" y="548640"/>
            <a:ext cx="1371600" cy="914400"/>
          </a:xfrm>
          <a:prstGeom prst="line">
            <a:avLst/>
          </a:prstGeom>
          <a:noFill/>
          <a:ln w="9525">
            <a:solidFill>
              <a:srgbClr val="2F5CFF">
                <a:alpha val="45000"/>
              </a:srgbClr>
            </a:solidFill>
            <a:prstDash val="solid"/>
          </a:ln>
        </p:spPr>
      </p:sp>
      <p:sp>
        <p:nvSpPr>
          <p:cNvPr id="16" name="Shape 14"/>
          <p:cNvSpPr/>
          <p:nvPr/>
        </p:nvSpPr>
        <p:spPr>
          <a:xfrm>
            <a:off x="9966960" y="548640"/>
            <a:ext cx="1371600" cy="2560320"/>
          </a:xfrm>
          <a:prstGeom prst="line">
            <a:avLst/>
          </a:prstGeom>
          <a:noFill/>
          <a:ln w="9525">
            <a:solidFill>
              <a:srgbClr val="2F5CFF">
                <a:alpha val="45000"/>
              </a:srgbClr>
            </a:solidFill>
            <a:prstDash val="solid"/>
          </a:ln>
        </p:spPr>
      </p:sp>
      <p:sp>
        <p:nvSpPr>
          <p:cNvPr id="17" name="Shape 15"/>
          <p:cNvSpPr/>
          <p:nvPr/>
        </p:nvSpPr>
        <p:spPr>
          <a:xfrm>
            <a:off x="9966960" y="548640"/>
            <a:ext cx="1371600" cy="4114800"/>
          </a:xfrm>
          <a:prstGeom prst="line">
            <a:avLst/>
          </a:prstGeom>
          <a:noFill/>
          <a:ln w="9525">
            <a:solidFill>
              <a:srgbClr val="2F5CFF">
                <a:alpha val="45000"/>
              </a:srgbClr>
            </a:solidFill>
            <a:prstDash val="solid"/>
          </a:ln>
        </p:spPr>
      </p:sp>
      <p:sp>
        <p:nvSpPr>
          <p:cNvPr id="18" name="Shape 16"/>
          <p:cNvSpPr/>
          <p:nvPr/>
        </p:nvSpPr>
        <p:spPr>
          <a:xfrm flipV="1">
            <a:off x="9966960" y="1463040"/>
            <a:ext cx="1371600" cy="548640"/>
          </a:xfrm>
          <a:prstGeom prst="line">
            <a:avLst/>
          </a:prstGeom>
          <a:noFill/>
          <a:ln w="9525">
            <a:solidFill>
              <a:srgbClr val="2F5CFF">
                <a:alpha val="45000"/>
              </a:srgbClr>
            </a:solidFill>
            <a:prstDash val="solid"/>
          </a:ln>
        </p:spPr>
      </p:sp>
      <p:sp>
        <p:nvSpPr>
          <p:cNvPr id="19" name="Shape 17"/>
          <p:cNvSpPr/>
          <p:nvPr/>
        </p:nvSpPr>
        <p:spPr>
          <a:xfrm>
            <a:off x="9966960" y="2011680"/>
            <a:ext cx="1371600" cy="1097280"/>
          </a:xfrm>
          <a:prstGeom prst="line">
            <a:avLst/>
          </a:prstGeom>
          <a:noFill/>
          <a:ln w="9525">
            <a:solidFill>
              <a:srgbClr val="2F5CFF">
                <a:alpha val="45000"/>
              </a:srgbClr>
            </a:solidFill>
            <a:prstDash val="solid"/>
          </a:ln>
        </p:spPr>
      </p:sp>
      <p:sp>
        <p:nvSpPr>
          <p:cNvPr id="20" name="Shape 18"/>
          <p:cNvSpPr/>
          <p:nvPr/>
        </p:nvSpPr>
        <p:spPr>
          <a:xfrm>
            <a:off x="9966960" y="2011680"/>
            <a:ext cx="1371600" cy="2651760"/>
          </a:xfrm>
          <a:prstGeom prst="line">
            <a:avLst/>
          </a:prstGeom>
          <a:noFill/>
          <a:ln w="9525">
            <a:solidFill>
              <a:srgbClr val="2F5CFF">
                <a:alpha val="45000"/>
              </a:srgbClr>
            </a:solidFill>
            <a:prstDash val="solid"/>
          </a:ln>
        </p:spPr>
      </p:sp>
      <p:sp>
        <p:nvSpPr>
          <p:cNvPr id="21" name="Shape 19"/>
          <p:cNvSpPr/>
          <p:nvPr/>
        </p:nvSpPr>
        <p:spPr>
          <a:xfrm flipV="1">
            <a:off x="9966960" y="1463040"/>
            <a:ext cx="1371600" cy="2011680"/>
          </a:xfrm>
          <a:prstGeom prst="line">
            <a:avLst/>
          </a:prstGeom>
          <a:noFill/>
          <a:ln w="9525">
            <a:solidFill>
              <a:srgbClr val="2F5CFF">
                <a:alpha val="45000"/>
              </a:srgbClr>
            </a:solidFill>
            <a:prstDash val="solid"/>
          </a:ln>
        </p:spPr>
      </p:sp>
      <p:sp>
        <p:nvSpPr>
          <p:cNvPr id="22" name="Shape 20"/>
          <p:cNvSpPr/>
          <p:nvPr/>
        </p:nvSpPr>
        <p:spPr>
          <a:xfrm flipV="1">
            <a:off x="9966960" y="3108960"/>
            <a:ext cx="1371600" cy="365760"/>
          </a:xfrm>
          <a:prstGeom prst="line">
            <a:avLst/>
          </a:prstGeom>
          <a:noFill/>
          <a:ln w="9525">
            <a:solidFill>
              <a:srgbClr val="2F5CFF">
                <a:alpha val="45000"/>
              </a:srgbClr>
            </a:solidFill>
            <a:prstDash val="solid"/>
          </a:ln>
        </p:spPr>
      </p:sp>
      <p:sp>
        <p:nvSpPr>
          <p:cNvPr id="23" name="Shape 21"/>
          <p:cNvSpPr/>
          <p:nvPr/>
        </p:nvSpPr>
        <p:spPr>
          <a:xfrm>
            <a:off x="9966960" y="3474720"/>
            <a:ext cx="1371600" cy="1188720"/>
          </a:xfrm>
          <a:prstGeom prst="line">
            <a:avLst/>
          </a:prstGeom>
          <a:noFill/>
          <a:ln w="9525">
            <a:solidFill>
              <a:srgbClr val="2F5CFF">
                <a:alpha val="45000"/>
              </a:srgbClr>
            </a:solidFill>
            <a:prstDash val="solid"/>
          </a:ln>
        </p:spPr>
      </p:sp>
      <p:sp>
        <p:nvSpPr>
          <p:cNvPr id="24" name="Shape 22"/>
          <p:cNvSpPr/>
          <p:nvPr/>
        </p:nvSpPr>
        <p:spPr>
          <a:xfrm flipV="1">
            <a:off x="9966960" y="1463040"/>
            <a:ext cx="1371600" cy="3474720"/>
          </a:xfrm>
          <a:prstGeom prst="line">
            <a:avLst/>
          </a:prstGeom>
          <a:noFill/>
          <a:ln w="9525">
            <a:solidFill>
              <a:srgbClr val="2F5CFF">
                <a:alpha val="45000"/>
              </a:srgbClr>
            </a:solidFill>
            <a:prstDash val="solid"/>
          </a:ln>
        </p:spPr>
      </p:sp>
      <p:sp>
        <p:nvSpPr>
          <p:cNvPr id="25" name="Shape 23"/>
          <p:cNvSpPr/>
          <p:nvPr/>
        </p:nvSpPr>
        <p:spPr>
          <a:xfrm flipV="1">
            <a:off x="9966960" y="3108960"/>
            <a:ext cx="1371600" cy="1828800"/>
          </a:xfrm>
          <a:prstGeom prst="line">
            <a:avLst/>
          </a:prstGeom>
          <a:noFill/>
          <a:ln w="9525">
            <a:solidFill>
              <a:srgbClr val="2F5CFF">
                <a:alpha val="45000"/>
              </a:srgbClr>
            </a:solidFill>
            <a:prstDash val="solid"/>
          </a:ln>
        </p:spPr>
      </p:sp>
      <p:sp>
        <p:nvSpPr>
          <p:cNvPr id="26" name="Shape 24"/>
          <p:cNvSpPr/>
          <p:nvPr/>
        </p:nvSpPr>
        <p:spPr>
          <a:xfrm flipV="1">
            <a:off x="9966960" y="4663440"/>
            <a:ext cx="1371600" cy="274320"/>
          </a:xfrm>
          <a:prstGeom prst="line">
            <a:avLst/>
          </a:prstGeom>
          <a:noFill/>
          <a:ln w="9525">
            <a:solidFill>
              <a:srgbClr val="2F5CFF">
                <a:alpha val="45000"/>
              </a:srgbClr>
            </a:solidFill>
            <a:prstDash val="solid"/>
          </a:ln>
        </p:spPr>
      </p:sp>
      <p:sp>
        <p:nvSpPr>
          <p:cNvPr id="27" name="Shape 25"/>
          <p:cNvSpPr/>
          <p:nvPr/>
        </p:nvSpPr>
        <p:spPr>
          <a:xfrm>
            <a:off x="8403336" y="1088136"/>
            <a:ext cx="201168" cy="201168"/>
          </a:xfrm>
          <a:prstGeom prst="ellipse">
            <a:avLst/>
          </a:prstGeom>
          <a:solidFill>
            <a:srgbClr val="2F5CFF"/>
          </a:solidFill>
          <a:ln w="12700">
            <a:solidFill>
              <a:srgbClr val="FFFFFF"/>
            </a:solidFill>
            <a:prstDash val="solid"/>
          </a:ln>
        </p:spPr>
      </p:sp>
      <p:sp>
        <p:nvSpPr>
          <p:cNvPr id="28" name="Shape 26"/>
          <p:cNvSpPr/>
          <p:nvPr/>
        </p:nvSpPr>
        <p:spPr>
          <a:xfrm>
            <a:off x="8403336" y="2734056"/>
            <a:ext cx="201168" cy="201168"/>
          </a:xfrm>
          <a:prstGeom prst="ellipse">
            <a:avLst/>
          </a:prstGeom>
          <a:solidFill>
            <a:srgbClr val="6C3CE9"/>
          </a:solidFill>
          <a:ln w="12700">
            <a:solidFill>
              <a:srgbClr val="FFFFFF"/>
            </a:solidFill>
            <a:prstDash val="solid"/>
          </a:ln>
        </p:spPr>
      </p:sp>
      <p:sp>
        <p:nvSpPr>
          <p:cNvPr id="29" name="Shape 27"/>
          <p:cNvSpPr/>
          <p:nvPr/>
        </p:nvSpPr>
        <p:spPr>
          <a:xfrm>
            <a:off x="8403336" y="4379976"/>
            <a:ext cx="201168" cy="201168"/>
          </a:xfrm>
          <a:prstGeom prst="ellipse">
            <a:avLst/>
          </a:prstGeom>
          <a:solidFill>
            <a:srgbClr val="6C3CE9"/>
          </a:solidFill>
          <a:ln w="12700">
            <a:solidFill>
              <a:srgbClr val="FFFFFF"/>
            </a:solidFill>
            <a:prstDash val="solid"/>
          </a:ln>
        </p:spPr>
      </p:sp>
      <p:sp>
        <p:nvSpPr>
          <p:cNvPr id="30" name="Shape 28"/>
          <p:cNvSpPr/>
          <p:nvPr/>
        </p:nvSpPr>
        <p:spPr>
          <a:xfrm>
            <a:off x="9866376" y="448056"/>
            <a:ext cx="201168" cy="201168"/>
          </a:xfrm>
          <a:prstGeom prst="ellipse">
            <a:avLst/>
          </a:prstGeom>
          <a:solidFill>
            <a:srgbClr val="2F5CFF"/>
          </a:solidFill>
          <a:ln w="12700">
            <a:solidFill>
              <a:srgbClr val="FFFFFF"/>
            </a:solidFill>
            <a:prstDash val="solid"/>
          </a:ln>
        </p:spPr>
      </p:sp>
      <p:sp>
        <p:nvSpPr>
          <p:cNvPr id="31" name="Shape 29"/>
          <p:cNvSpPr/>
          <p:nvPr/>
        </p:nvSpPr>
        <p:spPr>
          <a:xfrm>
            <a:off x="9866376" y="1911096"/>
            <a:ext cx="201168" cy="201168"/>
          </a:xfrm>
          <a:prstGeom prst="ellipse">
            <a:avLst/>
          </a:prstGeom>
          <a:solidFill>
            <a:srgbClr val="6C3CE9"/>
          </a:solidFill>
          <a:ln w="12700">
            <a:solidFill>
              <a:srgbClr val="FFFFFF"/>
            </a:solidFill>
            <a:prstDash val="solid"/>
          </a:ln>
        </p:spPr>
      </p:sp>
      <p:sp>
        <p:nvSpPr>
          <p:cNvPr id="32" name="Shape 30"/>
          <p:cNvSpPr/>
          <p:nvPr/>
        </p:nvSpPr>
        <p:spPr>
          <a:xfrm>
            <a:off x="9866376" y="3374136"/>
            <a:ext cx="201168" cy="201168"/>
          </a:xfrm>
          <a:prstGeom prst="ellipse">
            <a:avLst/>
          </a:prstGeom>
          <a:solidFill>
            <a:srgbClr val="6C3CE9"/>
          </a:solidFill>
          <a:ln w="12700">
            <a:solidFill>
              <a:srgbClr val="FFFFFF"/>
            </a:solidFill>
            <a:prstDash val="solid"/>
          </a:ln>
        </p:spPr>
      </p:sp>
      <p:sp>
        <p:nvSpPr>
          <p:cNvPr id="33" name="Shape 31"/>
          <p:cNvSpPr/>
          <p:nvPr/>
        </p:nvSpPr>
        <p:spPr>
          <a:xfrm>
            <a:off x="9866376" y="4837176"/>
            <a:ext cx="201168" cy="201168"/>
          </a:xfrm>
          <a:prstGeom prst="ellipse">
            <a:avLst/>
          </a:prstGeom>
          <a:solidFill>
            <a:srgbClr val="2F5CFF"/>
          </a:solidFill>
          <a:ln w="12700">
            <a:solidFill>
              <a:srgbClr val="FFFFFF"/>
            </a:solidFill>
            <a:prstDash val="solid"/>
          </a:ln>
        </p:spPr>
      </p:sp>
      <p:sp>
        <p:nvSpPr>
          <p:cNvPr id="34" name="Shape 32"/>
          <p:cNvSpPr/>
          <p:nvPr/>
        </p:nvSpPr>
        <p:spPr>
          <a:xfrm>
            <a:off x="11237976" y="1362456"/>
            <a:ext cx="201168" cy="201168"/>
          </a:xfrm>
          <a:prstGeom prst="ellipse">
            <a:avLst/>
          </a:prstGeom>
          <a:solidFill>
            <a:srgbClr val="6C3CE9"/>
          </a:solidFill>
          <a:ln w="12700">
            <a:solidFill>
              <a:srgbClr val="FFFFFF"/>
            </a:solidFill>
            <a:prstDash val="solid"/>
          </a:ln>
        </p:spPr>
      </p:sp>
      <p:sp>
        <p:nvSpPr>
          <p:cNvPr id="35" name="Shape 33"/>
          <p:cNvSpPr/>
          <p:nvPr/>
        </p:nvSpPr>
        <p:spPr>
          <a:xfrm>
            <a:off x="11237976" y="3008376"/>
            <a:ext cx="201168" cy="201168"/>
          </a:xfrm>
          <a:prstGeom prst="ellipse">
            <a:avLst/>
          </a:prstGeom>
          <a:solidFill>
            <a:srgbClr val="6C3CE9"/>
          </a:solidFill>
          <a:ln w="12700">
            <a:solidFill>
              <a:srgbClr val="FFFFFF"/>
            </a:solidFill>
            <a:prstDash val="solid"/>
          </a:ln>
        </p:spPr>
      </p:sp>
      <p:sp>
        <p:nvSpPr>
          <p:cNvPr id="36" name="Shape 34"/>
          <p:cNvSpPr/>
          <p:nvPr/>
        </p:nvSpPr>
        <p:spPr>
          <a:xfrm>
            <a:off x="11237976" y="4562856"/>
            <a:ext cx="201168" cy="201168"/>
          </a:xfrm>
          <a:prstGeom prst="ellipse">
            <a:avLst/>
          </a:prstGeom>
          <a:solidFill>
            <a:srgbClr val="2F5CFF"/>
          </a:solidFill>
          <a:ln w="12700">
            <a:solidFill>
              <a:srgbClr val="FFFFFF"/>
            </a:solidFill>
            <a:prstDash val="solid"/>
          </a:ln>
        </p:spPr>
      </p:sp>
      <p:sp>
        <p:nvSpPr>
          <p:cNvPr id="37" name="Text 35"/>
          <p:cNvSpPr/>
          <p:nvPr/>
        </p:nvSpPr>
        <p:spPr>
          <a:xfrm>
            <a:off x="640080" y="1554480"/>
            <a:ext cx="7315200" cy="365760"/>
          </a:xfrm>
          <a:prstGeom prst="rect">
            <a:avLst/>
          </a:prstGeom>
          <a:noFill/>
          <a:ln/>
        </p:spPr>
        <p:txBody>
          <a:bodyPr wrap="square" rtlCol="0" anchor="ctr"/>
          <a:lstStyle/>
          <a:p>
            <a:pPr marL="0" indent="0">
              <a:buNone/>
            </a:pPr>
            <a:r>
              <a:rPr lang="en-US" sz="1400" b="1" kern="0" spc="300" dirty="0">
                <a:solidFill>
                  <a:srgbClr val="2F5CFF"/>
                </a:solidFill>
                <a:latin typeface="Calibri" pitchFamily="34" charset="0"/>
                <a:ea typeface="Calibri" pitchFamily="34" charset="-122"/>
                <a:cs typeface="Calibri" pitchFamily="34" charset="-120"/>
              </a:rPr>
              <a:t>MACHINE LEARNING INTERNSHIP PROJECT</a:t>
            </a:r>
            <a:endParaRPr lang="en-US" sz="1400" dirty="0"/>
          </a:p>
        </p:txBody>
      </p:sp>
      <p:sp>
        <p:nvSpPr>
          <p:cNvPr id="38" name="Text 36"/>
          <p:cNvSpPr/>
          <p:nvPr/>
        </p:nvSpPr>
        <p:spPr>
          <a:xfrm>
            <a:off x="640080" y="1965960"/>
            <a:ext cx="6949440" cy="1828800"/>
          </a:xfrm>
          <a:prstGeom prst="rect">
            <a:avLst/>
          </a:prstGeom>
          <a:noFill/>
          <a:ln/>
        </p:spPr>
        <p:txBody>
          <a:bodyPr wrap="square" rtlCol="0" anchor="ctr"/>
          <a:lstStyle/>
          <a:p>
            <a:pPr marL="0" indent="0">
              <a:lnSpc>
                <a:spcPct val="105000"/>
              </a:lnSpc>
              <a:buNone/>
            </a:pPr>
            <a:r>
              <a:rPr lang="en-US" sz="4000" b="1" dirty="0">
                <a:solidFill>
                  <a:srgbClr val="FFFFFF"/>
                </a:solidFill>
                <a:latin typeface="Cambria" pitchFamily="34" charset="0"/>
                <a:ea typeface="Cambria" pitchFamily="34" charset="-122"/>
                <a:cs typeface="Cambria" pitchFamily="34" charset="-120"/>
              </a:rPr>
              <a:t>AI-Driven Student</a:t>
            </a:r>
            <a:endParaRPr lang="en-US" sz="4000" dirty="0"/>
          </a:p>
          <a:p>
            <a:pPr marL="0" indent="0">
              <a:lnSpc>
                <a:spcPct val="105000"/>
              </a:lnSpc>
              <a:buNone/>
            </a:pPr>
            <a:r>
              <a:rPr lang="en-US" sz="4000" b="1" dirty="0">
                <a:solidFill>
                  <a:srgbClr val="FFFFFF"/>
                </a:solidFill>
                <a:latin typeface="Cambria" pitchFamily="34" charset="0"/>
                <a:ea typeface="Cambria" pitchFamily="34" charset="-122"/>
                <a:cs typeface="Cambria" pitchFamily="34" charset="-120"/>
              </a:rPr>
              <a:t>Performance Prediction System</a:t>
            </a:r>
            <a:endParaRPr lang="en-US" sz="4000" dirty="0"/>
          </a:p>
        </p:txBody>
      </p:sp>
      <p:sp>
        <p:nvSpPr>
          <p:cNvPr id="39" name="Text 37"/>
          <p:cNvSpPr/>
          <p:nvPr/>
        </p:nvSpPr>
        <p:spPr>
          <a:xfrm>
            <a:off x="640080" y="3703320"/>
            <a:ext cx="6675120" cy="548640"/>
          </a:xfrm>
          <a:prstGeom prst="rect">
            <a:avLst/>
          </a:prstGeom>
          <a:noFill/>
          <a:ln/>
        </p:spPr>
        <p:txBody>
          <a:bodyPr wrap="square" rtlCol="0" anchor="ctr"/>
          <a:lstStyle/>
          <a:p>
            <a:pPr marL="0" indent="0">
              <a:buNone/>
            </a:pPr>
            <a:r>
              <a:rPr lang="en-US" sz="1400" i="1" dirty="0">
                <a:solidFill>
                  <a:srgbClr val="C7CCEF"/>
                </a:solidFill>
                <a:latin typeface="Calibri" pitchFamily="34" charset="0"/>
                <a:ea typeface="Calibri" pitchFamily="34" charset="-122"/>
                <a:cs typeface="Calibri" pitchFamily="34" charset="-120"/>
              </a:rPr>
              <a:t>Predicting academic outcomes and identifying at-risk students with machine learning</a:t>
            </a:r>
            <a:endParaRPr lang="en-US" sz="1400" dirty="0"/>
          </a:p>
        </p:txBody>
      </p:sp>
      <p:sp>
        <p:nvSpPr>
          <p:cNvPr id="40" name="Text 38"/>
          <p:cNvSpPr/>
          <p:nvPr/>
        </p:nvSpPr>
        <p:spPr>
          <a:xfrm>
            <a:off x="640080" y="4480560"/>
            <a:ext cx="3200400" cy="228600"/>
          </a:xfrm>
          <a:prstGeom prst="rect">
            <a:avLst/>
          </a:prstGeom>
          <a:noFill/>
          <a:ln/>
        </p:spPr>
        <p:txBody>
          <a:bodyPr wrap="square" rtlCol="0" anchor="ctr"/>
          <a:lstStyle/>
          <a:p>
            <a:pPr marL="0" indent="0">
              <a:buNone/>
            </a:pPr>
            <a:r>
              <a:rPr lang="en-US" sz="900" b="1" kern="0" spc="100" dirty="0">
                <a:solidFill>
                  <a:srgbClr val="2F5CFF"/>
                </a:solidFill>
                <a:latin typeface="Calibri" pitchFamily="34" charset="0"/>
                <a:ea typeface="Calibri" pitchFamily="34" charset="-122"/>
                <a:cs typeface="Calibri" pitchFamily="34" charset="-120"/>
              </a:rPr>
              <a:t>STUDENT NAME</a:t>
            </a:r>
            <a:endParaRPr lang="en-US" sz="900" dirty="0"/>
          </a:p>
        </p:txBody>
      </p:sp>
      <p:sp>
        <p:nvSpPr>
          <p:cNvPr id="41" name="Text 39"/>
          <p:cNvSpPr/>
          <p:nvPr/>
        </p:nvSpPr>
        <p:spPr>
          <a:xfrm>
            <a:off x="640080" y="4681728"/>
            <a:ext cx="3200400" cy="274320"/>
          </a:xfrm>
          <a:prstGeom prst="rect">
            <a:avLst/>
          </a:prstGeom>
          <a:noFill/>
          <a:ln/>
        </p:spPr>
        <p:txBody>
          <a:bodyPr wrap="square" rtlCol="0" anchor="ctr"/>
          <a:lstStyle/>
          <a:p>
            <a:pPr marL="0" indent="0">
              <a:buNone/>
            </a:pPr>
            <a:r>
              <a:rPr lang="en-US" sz="1300" dirty="0">
                <a:solidFill>
                  <a:schemeClr val="bg1">
                    <a:lumMod val="95000"/>
                  </a:schemeClr>
                </a:solidFill>
              </a:rPr>
              <a:t>Dhawal Goel</a:t>
            </a:r>
          </a:p>
        </p:txBody>
      </p:sp>
      <p:sp>
        <p:nvSpPr>
          <p:cNvPr id="42" name="Text 40"/>
          <p:cNvSpPr/>
          <p:nvPr/>
        </p:nvSpPr>
        <p:spPr>
          <a:xfrm>
            <a:off x="4023360" y="4480560"/>
            <a:ext cx="3200400" cy="228600"/>
          </a:xfrm>
          <a:prstGeom prst="rect">
            <a:avLst/>
          </a:prstGeom>
          <a:noFill/>
          <a:ln/>
        </p:spPr>
        <p:txBody>
          <a:bodyPr wrap="square" rtlCol="0" anchor="ctr"/>
          <a:lstStyle/>
          <a:p>
            <a:pPr marL="0" indent="0">
              <a:buNone/>
            </a:pPr>
            <a:r>
              <a:rPr lang="en-US" sz="900" b="1" kern="0" spc="100" dirty="0">
                <a:solidFill>
                  <a:srgbClr val="2F5CFF"/>
                </a:solidFill>
                <a:latin typeface="Calibri" pitchFamily="34" charset="0"/>
                <a:ea typeface="Calibri" pitchFamily="34" charset="-122"/>
                <a:cs typeface="Calibri" pitchFamily="34" charset="-120"/>
              </a:rPr>
              <a:t>COLLEGE</a:t>
            </a:r>
            <a:endParaRPr lang="en-US" sz="900" dirty="0"/>
          </a:p>
        </p:txBody>
      </p:sp>
      <p:sp>
        <p:nvSpPr>
          <p:cNvPr id="43" name="Text 41"/>
          <p:cNvSpPr/>
          <p:nvPr/>
        </p:nvSpPr>
        <p:spPr>
          <a:xfrm>
            <a:off x="4023360" y="4681728"/>
            <a:ext cx="3200400" cy="274320"/>
          </a:xfrm>
          <a:prstGeom prst="rect">
            <a:avLst/>
          </a:prstGeom>
          <a:noFill/>
          <a:ln/>
        </p:spPr>
        <p:txBody>
          <a:bodyPr wrap="square" rtlCol="0" anchor="ctr"/>
          <a:lstStyle/>
          <a:p>
            <a:pPr marL="0" indent="0">
              <a:buNone/>
            </a:pPr>
            <a:r>
              <a:rPr lang="en-US" sz="1300" dirty="0">
                <a:solidFill>
                  <a:schemeClr val="bg1">
                    <a:lumMod val="95000"/>
                  </a:schemeClr>
                </a:solidFill>
              </a:rPr>
              <a:t>ABES Engineering College</a:t>
            </a:r>
          </a:p>
        </p:txBody>
      </p:sp>
      <p:sp>
        <p:nvSpPr>
          <p:cNvPr id="44" name="Text 42"/>
          <p:cNvSpPr/>
          <p:nvPr/>
        </p:nvSpPr>
        <p:spPr>
          <a:xfrm>
            <a:off x="640080" y="5047488"/>
            <a:ext cx="3200400" cy="228600"/>
          </a:xfrm>
          <a:prstGeom prst="rect">
            <a:avLst/>
          </a:prstGeom>
          <a:noFill/>
          <a:ln/>
        </p:spPr>
        <p:txBody>
          <a:bodyPr wrap="square" rtlCol="0" anchor="ctr"/>
          <a:lstStyle/>
          <a:p>
            <a:pPr marL="0" indent="0">
              <a:buNone/>
            </a:pPr>
            <a:r>
              <a:rPr lang="en-US" sz="900" b="1" kern="0" spc="100" dirty="0">
                <a:solidFill>
                  <a:srgbClr val="2F5CFF"/>
                </a:solidFill>
                <a:latin typeface="Calibri" pitchFamily="34" charset="0"/>
                <a:ea typeface="Calibri" pitchFamily="34" charset="-122"/>
                <a:cs typeface="Calibri" pitchFamily="34" charset="-120"/>
              </a:rPr>
              <a:t>DEPARTMENT</a:t>
            </a:r>
          </a:p>
        </p:txBody>
      </p:sp>
      <p:sp>
        <p:nvSpPr>
          <p:cNvPr id="45" name="Text 43"/>
          <p:cNvSpPr/>
          <p:nvPr/>
        </p:nvSpPr>
        <p:spPr>
          <a:xfrm>
            <a:off x="640080" y="5248656"/>
            <a:ext cx="3200400" cy="274320"/>
          </a:xfrm>
          <a:prstGeom prst="rect">
            <a:avLst/>
          </a:prstGeom>
          <a:noFill/>
          <a:ln/>
        </p:spPr>
        <p:txBody>
          <a:bodyPr wrap="square" rtlCol="0" anchor="ctr"/>
          <a:lstStyle/>
          <a:p>
            <a:pPr marL="0" indent="0">
              <a:buNone/>
            </a:pPr>
            <a:r>
              <a:rPr lang="en-US" sz="1300" dirty="0">
                <a:solidFill>
                  <a:schemeClr val="bg1">
                    <a:lumMod val="95000"/>
                  </a:schemeClr>
                </a:solidFill>
              </a:rPr>
              <a:t>AI Batch 2</a:t>
            </a:r>
          </a:p>
        </p:txBody>
      </p:sp>
      <p:sp>
        <p:nvSpPr>
          <p:cNvPr id="46" name="Text 44"/>
          <p:cNvSpPr/>
          <p:nvPr/>
        </p:nvSpPr>
        <p:spPr>
          <a:xfrm>
            <a:off x="4023360" y="5047488"/>
            <a:ext cx="3200400" cy="228600"/>
          </a:xfrm>
          <a:prstGeom prst="rect">
            <a:avLst/>
          </a:prstGeom>
          <a:noFill/>
          <a:ln/>
        </p:spPr>
        <p:txBody>
          <a:bodyPr wrap="square" rtlCol="0" anchor="ctr"/>
          <a:lstStyle/>
          <a:p>
            <a:pPr marL="0" indent="0">
              <a:buNone/>
            </a:pPr>
            <a:r>
              <a:rPr lang="en-US" sz="900" b="1" kern="0" spc="100" dirty="0">
                <a:solidFill>
                  <a:srgbClr val="2F5CFF"/>
                </a:solidFill>
                <a:latin typeface="Calibri" pitchFamily="34" charset="0"/>
                <a:ea typeface="Calibri" pitchFamily="34" charset="-122"/>
                <a:cs typeface="Calibri" pitchFamily="34" charset="-120"/>
              </a:rPr>
              <a:t>INTERNSHIP</a:t>
            </a:r>
            <a:endParaRPr lang="en-US" sz="900" dirty="0"/>
          </a:p>
        </p:txBody>
      </p:sp>
      <p:sp>
        <p:nvSpPr>
          <p:cNvPr id="47" name="Text 45"/>
          <p:cNvSpPr/>
          <p:nvPr/>
        </p:nvSpPr>
        <p:spPr>
          <a:xfrm>
            <a:off x="4023360" y="5248656"/>
            <a:ext cx="3200400" cy="274320"/>
          </a:xfrm>
          <a:prstGeom prst="rect">
            <a:avLst/>
          </a:prstGeom>
          <a:noFill/>
          <a:ln/>
        </p:spPr>
        <p:txBody>
          <a:bodyPr wrap="square" rtlCol="0" anchor="ctr"/>
          <a:lstStyle/>
          <a:p>
            <a:pPr marL="0" indent="0">
              <a:buNone/>
            </a:pPr>
            <a:r>
              <a:rPr lang="en-US" sz="1300" dirty="0">
                <a:solidFill>
                  <a:schemeClr val="bg1">
                    <a:lumMod val="95000"/>
                  </a:schemeClr>
                </a:solidFill>
              </a:rPr>
              <a:t>IBM PBEL</a:t>
            </a:r>
          </a:p>
        </p:txBody>
      </p:sp>
      <p:sp>
        <p:nvSpPr>
          <p:cNvPr id="48" name="Text 46"/>
          <p:cNvSpPr/>
          <p:nvPr/>
        </p:nvSpPr>
        <p:spPr>
          <a:xfrm>
            <a:off x="640080" y="5614416"/>
            <a:ext cx="3200400" cy="228600"/>
          </a:xfrm>
          <a:prstGeom prst="rect">
            <a:avLst/>
          </a:prstGeom>
          <a:noFill/>
          <a:ln/>
        </p:spPr>
        <p:txBody>
          <a:bodyPr wrap="square" rtlCol="0" anchor="ctr"/>
          <a:lstStyle/>
          <a:p>
            <a:pPr marL="0" indent="0">
              <a:buNone/>
            </a:pPr>
            <a:r>
              <a:rPr lang="en-US" sz="900" b="1" kern="0" spc="100" dirty="0">
                <a:solidFill>
                  <a:srgbClr val="2F5CFF"/>
                </a:solidFill>
                <a:latin typeface="Calibri" pitchFamily="34" charset="0"/>
                <a:ea typeface="Calibri" pitchFamily="34" charset="-122"/>
                <a:cs typeface="Calibri" pitchFamily="34" charset="-120"/>
              </a:rPr>
              <a:t>GUIDE</a:t>
            </a:r>
            <a:endParaRPr lang="en-US" sz="900" dirty="0"/>
          </a:p>
        </p:txBody>
      </p:sp>
      <p:sp>
        <p:nvSpPr>
          <p:cNvPr id="49" name="Text 47"/>
          <p:cNvSpPr/>
          <p:nvPr/>
        </p:nvSpPr>
        <p:spPr>
          <a:xfrm>
            <a:off x="640080" y="5815584"/>
            <a:ext cx="3200400" cy="274320"/>
          </a:xfrm>
          <a:prstGeom prst="rect">
            <a:avLst/>
          </a:prstGeom>
          <a:noFill/>
          <a:ln/>
        </p:spPr>
        <p:txBody>
          <a:bodyPr wrap="square" rtlCol="0" anchor="ctr"/>
          <a:lstStyle/>
          <a:p>
            <a:pPr marL="0" indent="0">
              <a:buNone/>
            </a:pPr>
            <a:r>
              <a:rPr lang="en-US" sz="1300" dirty="0">
                <a:solidFill>
                  <a:schemeClr val="bg1">
                    <a:lumMod val="95000"/>
                  </a:schemeClr>
                </a:solidFill>
              </a:rPr>
              <a:t>Ujjawal Tomar</a:t>
            </a:r>
          </a:p>
        </p:txBody>
      </p:sp>
      <p:sp>
        <p:nvSpPr>
          <p:cNvPr id="50" name="Text 48"/>
          <p:cNvSpPr/>
          <p:nvPr/>
        </p:nvSpPr>
        <p:spPr>
          <a:xfrm>
            <a:off x="4023360" y="5614416"/>
            <a:ext cx="3200400" cy="228600"/>
          </a:xfrm>
          <a:prstGeom prst="rect">
            <a:avLst/>
          </a:prstGeom>
          <a:noFill/>
          <a:ln/>
        </p:spPr>
        <p:txBody>
          <a:bodyPr wrap="square" rtlCol="0" anchor="ctr"/>
          <a:lstStyle/>
          <a:p>
            <a:pPr marL="0" indent="0">
              <a:buNone/>
            </a:pPr>
            <a:r>
              <a:rPr lang="en-US" sz="900" b="1" kern="0" spc="100" dirty="0">
                <a:solidFill>
                  <a:srgbClr val="2F5CFF"/>
                </a:solidFill>
                <a:latin typeface="Calibri" pitchFamily="34" charset="0"/>
                <a:ea typeface="Calibri" pitchFamily="34" charset="-122"/>
                <a:cs typeface="Calibri" pitchFamily="34" charset="-120"/>
              </a:rPr>
              <a:t>DATE</a:t>
            </a:r>
            <a:endParaRPr lang="en-US" sz="900" dirty="0"/>
          </a:p>
        </p:txBody>
      </p:sp>
      <p:sp>
        <p:nvSpPr>
          <p:cNvPr id="51" name="Text 49"/>
          <p:cNvSpPr/>
          <p:nvPr/>
        </p:nvSpPr>
        <p:spPr>
          <a:xfrm>
            <a:off x="4023360" y="5815584"/>
            <a:ext cx="3200400" cy="274320"/>
          </a:xfrm>
          <a:prstGeom prst="rect">
            <a:avLst/>
          </a:prstGeom>
          <a:noFill/>
          <a:ln/>
        </p:spPr>
        <p:txBody>
          <a:bodyPr wrap="square" rtlCol="0" anchor="ctr"/>
          <a:lstStyle/>
          <a:p>
            <a:pPr marL="0" indent="0">
              <a:buNone/>
            </a:pPr>
            <a:r>
              <a:rPr lang="en-US" sz="1300" dirty="0">
                <a:solidFill>
                  <a:schemeClr val="bg1">
                    <a:lumMod val="95000"/>
                  </a:schemeClr>
                </a:solidFill>
              </a:rPr>
              <a:t>18-07-2026</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6F7FD"/>
        </a:solidFill>
        <a:effectLst/>
      </p:bgPr>
    </p:bg>
    <p:spTree>
      <p:nvGrpSpPr>
        <p:cNvPr id="1" name=""/>
        <p:cNvGrpSpPr/>
        <p:nvPr/>
      </p:nvGrpSpPr>
      <p:grpSpPr>
        <a:xfrm>
          <a:off x="0" y="0"/>
          <a:ext cx="0" cy="0"/>
          <a:chOff x="0" y="0"/>
          <a:chExt cx="0" cy="0"/>
        </a:xfrm>
      </p:grpSpPr>
      <p:sp>
        <p:nvSpPr>
          <p:cNvPr id="2" name="Text 0"/>
          <p:cNvSpPr/>
          <p:nvPr/>
        </p:nvSpPr>
        <p:spPr>
          <a:xfrm>
            <a:off x="548640" y="320040"/>
            <a:ext cx="7315200" cy="320040"/>
          </a:xfrm>
          <a:prstGeom prst="rect">
            <a:avLst/>
          </a:prstGeom>
          <a:noFill/>
          <a:ln/>
        </p:spPr>
        <p:txBody>
          <a:bodyPr wrap="square" rtlCol="0" anchor="ctr"/>
          <a:lstStyle/>
          <a:p>
            <a:pPr marL="0" indent="0">
              <a:buNone/>
            </a:pPr>
            <a:r>
              <a:rPr lang="en-US" sz="1300" b="1" kern="0" spc="200" dirty="0">
                <a:solidFill>
                  <a:srgbClr val="6C3CE9"/>
                </a:solidFill>
                <a:latin typeface="Calibri" pitchFamily="34" charset="0"/>
                <a:ea typeface="Calibri" pitchFamily="34" charset="-122"/>
                <a:cs typeface="Calibri" pitchFamily="34" charset="-120"/>
              </a:rPr>
              <a:t>INTRODUCTION</a:t>
            </a:r>
            <a:endParaRPr lang="en-US" sz="1300" dirty="0"/>
          </a:p>
        </p:txBody>
      </p:sp>
      <p:sp>
        <p:nvSpPr>
          <p:cNvPr id="3" name="Text 1"/>
          <p:cNvSpPr/>
          <p:nvPr/>
        </p:nvSpPr>
        <p:spPr>
          <a:xfrm>
            <a:off x="548640" y="621792"/>
            <a:ext cx="10515600" cy="685800"/>
          </a:xfrm>
          <a:prstGeom prst="rect">
            <a:avLst/>
          </a:prstGeom>
          <a:noFill/>
          <a:ln/>
        </p:spPr>
        <p:txBody>
          <a:bodyPr wrap="square" rtlCol="0" anchor="ctr"/>
          <a:lstStyle/>
          <a:p>
            <a:pPr marL="0" indent="0">
              <a:buNone/>
            </a:pPr>
            <a:r>
              <a:rPr lang="en-US" sz="3200" b="1" dirty="0">
                <a:solidFill>
                  <a:srgbClr val="1B1F3B"/>
                </a:solidFill>
                <a:latin typeface="Cambria" pitchFamily="34" charset="0"/>
                <a:ea typeface="Cambria" pitchFamily="34" charset="-122"/>
                <a:cs typeface="Cambria" pitchFamily="34" charset="-120"/>
              </a:rPr>
              <a:t>The Problem We Set Out to Solve</a:t>
            </a:r>
            <a:endParaRPr lang="en-US" sz="3200" dirty="0"/>
          </a:p>
        </p:txBody>
      </p:sp>
      <p:sp>
        <p:nvSpPr>
          <p:cNvPr id="4" name="Text 2"/>
          <p:cNvSpPr/>
          <p:nvPr/>
        </p:nvSpPr>
        <p:spPr>
          <a:xfrm>
            <a:off x="548640" y="1417320"/>
            <a:ext cx="6309360" cy="914400"/>
          </a:xfrm>
          <a:prstGeom prst="rect">
            <a:avLst/>
          </a:prstGeom>
          <a:noFill/>
          <a:ln/>
        </p:spPr>
        <p:txBody>
          <a:bodyPr wrap="square" rtlCol="0" anchor="ctr"/>
          <a:lstStyle/>
          <a:p>
            <a:pPr marL="0" indent="0">
              <a:lnSpc>
                <a:spcPct val="120000"/>
              </a:lnSpc>
              <a:buNone/>
            </a:pPr>
            <a:r>
              <a:rPr lang="en-US" sz="1450" dirty="0">
                <a:solidFill>
                  <a:srgbClr val="1B1F3B"/>
                </a:solidFill>
                <a:latin typeface="Calibri" pitchFamily="34" charset="0"/>
                <a:ea typeface="Calibri" pitchFamily="34" charset="-122"/>
                <a:cs typeface="Calibri" pitchFamily="34" charset="-120"/>
              </a:rPr>
              <a:t>Traditional academic evaluation relies on periodic exams and manual observation, so struggling students are often identified only after they have already fallen behind.</a:t>
            </a:r>
            <a:endParaRPr lang="en-US" sz="1450" dirty="0"/>
          </a:p>
        </p:txBody>
      </p:sp>
      <p:sp>
        <p:nvSpPr>
          <p:cNvPr id="5" name="Shape 3"/>
          <p:cNvSpPr/>
          <p:nvPr/>
        </p:nvSpPr>
        <p:spPr>
          <a:xfrm>
            <a:off x="7086600" y="1463040"/>
            <a:ext cx="502920" cy="502920"/>
          </a:xfrm>
          <a:prstGeom prst="ellipse">
            <a:avLst/>
          </a:prstGeom>
          <a:solidFill>
            <a:srgbClr val="6C3CE9"/>
          </a:solidFill>
          <a:ln/>
        </p:spPr>
      </p:sp>
      <p:pic>
        <p:nvPicPr>
          <p:cNvPr id="6" name="Image 0" descr="preencoded.png"/>
          <p:cNvPicPr>
            <a:picLocks noChangeAspect="1"/>
          </p:cNvPicPr>
          <p:nvPr/>
        </p:nvPicPr>
        <p:blipFill>
          <a:blip r:embed="rId3"/>
          <a:stretch>
            <a:fillRect/>
          </a:stretch>
        </p:blipFill>
        <p:spPr>
          <a:xfrm>
            <a:off x="7217359" y="1593799"/>
            <a:ext cx="241402" cy="241402"/>
          </a:xfrm>
          <a:prstGeom prst="rect">
            <a:avLst/>
          </a:prstGeom>
        </p:spPr>
      </p:pic>
      <p:sp>
        <p:nvSpPr>
          <p:cNvPr id="7" name="Text 4"/>
          <p:cNvSpPr/>
          <p:nvPr/>
        </p:nvSpPr>
        <p:spPr>
          <a:xfrm>
            <a:off x="7726680" y="1417320"/>
            <a:ext cx="3840480" cy="292608"/>
          </a:xfrm>
          <a:prstGeom prst="rect">
            <a:avLst/>
          </a:prstGeom>
          <a:noFill/>
          <a:ln/>
        </p:spPr>
        <p:txBody>
          <a:bodyPr wrap="square" rtlCol="0" anchor="ctr"/>
          <a:lstStyle/>
          <a:p>
            <a:pPr marL="0" indent="0">
              <a:buNone/>
            </a:pPr>
            <a:r>
              <a:rPr lang="en-US" sz="1450" b="1" dirty="0">
                <a:solidFill>
                  <a:srgbClr val="1B1F3B"/>
                </a:solidFill>
                <a:latin typeface="Cambria" pitchFamily="34" charset="0"/>
                <a:ea typeface="Cambria" pitchFamily="34" charset="-122"/>
                <a:cs typeface="Cambria" pitchFamily="34" charset="-120"/>
              </a:rPr>
              <a:t>A Reactive System</a:t>
            </a:r>
            <a:endParaRPr lang="en-US" sz="1450" dirty="0"/>
          </a:p>
        </p:txBody>
      </p:sp>
      <p:sp>
        <p:nvSpPr>
          <p:cNvPr id="8" name="Text 5"/>
          <p:cNvSpPr/>
          <p:nvPr/>
        </p:nvSpPr>
        <p:spPr>
          <a:xfrm>
            <a:off x="7726680" y="1728216"/>
            <a:ext cx="3886200" cy="777240"/>
          </a:xfrm>
          <a:prstGeom prst="rect">
            <a:avLst/>
          </a:prstGeom>
          <a:noFill/>
          <a:ln/>
        </p:spPr>
        <p:txBody>
          <a:bodyPr wrap="square" rtlCol="0" anchor="t"/>
          <a:lstStyle/>
          <a:p>
            <a:pPr marL="0" indent="0">
              <a:lnSpc>
                <a:spcPct val="112000"/>
              </a:lnSpc>
              <a:buNone/>
            </a:pPr>
            <a:r>
              <a:rPr lang="en-US" sz="1100" dirty="0">
                <a:solidFill>
                  <a:srgbClr val="6E7488"/>
                </a:solidFill>
                <a:latin typeface="Calibri" pitchFamily="34" charset="0"/>
                <a:ea typeface="Calibri" pitchFamily="34" charset="-122"/>
                <a:cs typeface="Calibri" pitchFamily="34" charset="-120"/>
              </a:rPr>
              <a:t>Teachers usually intervene only after report cards show poor results — too late for effective correction.</a:t>
            </a:r>
            <a:endParaRPr lang="en-US" sz="1100" dirty="0"/>
          </a:p>
        </p:txBody>
      </p:sp>
      <p:sp>
        <p:nvSpPr>
          <p:cNvPr id="9" name="Shape 6"/>
          <p:cNvSpPr/>
          <p:nvPr/>
        </p:nvSpPr>
        <p:spPr>
          <a:xfrm>
            <a:off x="7086600" y="2633472"/>
            <a:ext cx="502920" cy="502920"/>
          </a:xfrm>
          <a:prstGeom prst="ellipse">
            <a:avLst/>
          </a:prstGeom>
          <a:solidFill>
            <a:srgbClr val="6C3CE9"/>
          </a:solidFill>
          <a:ln/>
        </p:spPr>
      </p:sp>
      <p:pic>
        <p:nvPicPr>
          <p:cNvPr id="10" name="Image 1" descr="preencoded.png"/>
          <p:cNvPicPr>
            <a:picLocks noChangeAspect="1"/>
          </p:cNvPicPr>
          <p:nvPr/>
        </p:nvPicPr>
        <p:blipFill>
          <a:blip r:embed="rId4"/>
          <a:stretch>
            <a:fillRect/>
          </a:stretch>
        </p:blipFill>
        <p:spPr>
          <a:xfrm>
            <a:off x="7217359" y="2764231"/>
            <a:ext cx="241402" cy="241402"/>
          </a:xfrm>
          <a:prstGeom prst="rect">
            <a:avLst/>
          </a:prstGeom>
        </p:spPr>
      </p:pic>
      <p:sp>
        <p:nvSpPr>
          <p:cNvPr id="11" name="Text 7"/>
          <p:cNvSpPr/>
          <p:nvPr/>
        </p:nvSpPr>
        <p:spPr>
          <a:xfrm>
            <a:off x="7726680" y="2587752"/>
            <a:ext cx="3840480" cy="292608"/>
          </a:xfrm>
          <a:prstGeom prst="rect">
            <a:avLst/>
          </a:prstGeom>
          <a:noFill/>
          <a:ln/>
        </p:spPr>
        <p:txBody>
          <a:bodyPr wrap="square" rtlCol="0" anchor="ctr"/>
          <a:lstStyle/>
          <a:p>
            <a:pPr marL="0" indent="0">
              <a:buNone/>
            </a:pPr>
            <a:r>
              <a:rPr lang="en-US" sz="1450" b="1" dirty="0">
                <a:solidFill>
                  <a:srgbClr val="1B1F3B"/>
                </a:solidFill>
                <a:latin typeface="Cambria" pitchFamily="34" charset="0"/>
                <a:ea typeface="Cambria" pitchFamily="34" charset="-122"/>
                <a:cs typeface="Cambria" pitchFamily="34" charset="-120"/>
              </a:rPr>
              <a:t>Every Student Learns Differently</a:t>
            </a:r>
            <a:endParaRPr lang="en-US" sz="1450" dirty="0"/>
          </a:p>
        </p:txBody>
      </p:sp>
      <p:sp>
        <p:nvSpPr>
          <p:cNvPr id="12" name="Text 8"/>
          <p:cNvSpPr/>
          <p:nvPr/>
        </p:nvSpPr>
        <p:spPr>
          <a:xfrm>
            <a:off x="7726680" y="2898648"/>
            <a:ext cx="3886200" cy="777240"/>
          </a:xfrm>
          <a:prstGeom prst="rect">
            <a:avLst/>
          </a:prstGeom>
          <a:noFill/>
          <a:ln/>
        </p:spPr>
        <p:txBody>
          <a:bodyPr wrap="square" rtlCol="0" anchor="t"/>
          <a:lstStyle/>
          <a:p>
            <a:pPr marL="0" indent="0">
              <a:lnSpc>
                <a:spcPct val="112000"/>
              </a:lnSpc>
              <a:buNone/>
            </a:pPr>
            <a:r>
              <a:rPr lang="en-US" sz="1100" dirty="0">
                <a:solidFill>
                  <a:srgbClr val="6E7488"/>
                </a:solidFill>
                <a:latin typeface="Calibri" pitchFamily="34" charset="0"/>
                <a:ea typeface="Calibri" pitchFamily="34" charset="-122"/>
                <a:cs typeface="Calibri" pitchFamily="34" charset="-120"/>
              </a:rPr>
              <a:t>Attendance, study habits, sleep, stress and family background all shape outcomes, but are rarely analyzed together.</a:t>
            </a:r>
            <a:endParaRPr lang="en-US" sz="1100" dirty="0"/>
          </a:p>
        </p:txBody>
      </p:sp>
      <p:sp>
        <p:nvSpPr>
          <p:cNvPr id="13" name="Shape 9"/>
          <p:cNvSpPr/>
          <p:nvPr/>
        </p:nvSpPr>
        <p:spPr>
          <a:xfrm>
            <a:off x="7086600" y="3803904"/>
            <a:ext cx="502920" cy="502920"/>
          </a:xfrm>
          <a:prstGeom prst="ellipse">
            <a:avLst/>
          </a:prstGeom>
          <a:solidFill>
            <a:srgbClr val="6C3CE9"/>
          </a:solidFill>
          <a:ln/>
        </p:spPr>
      </p:sp>
      <p:pic>
        <p:nvPicPr>
          <p:cNvPr id="14" name="Image 2" descr="preencoded.png"/>
          <p:cNvPicPr>
            <a:picLocks noChangeAspect="1"/>
          </p:cNvPicPr>
          <p:nvPr/>
        </p:nvPicPr>
        <p:blipFill>
          <a:blip r:embed="rId5"/>
          <a:stretch>
            <a:fillRect/>
          </a:stretch>
        </p:blipFill>
        <p:spPr>
          <a:xfrm>
            <a:off x="7217359" y="3934663"/>
            <a:ext cx="241402" cy="241402"/>
          </a:xfrm>
          <a:prstGeom prst="rect">
            <a:avLst/>
          </a:prstGeom>
        </p:spPr>
      </p:pic>
      <p:sp>
        <p:nvSpPr>
          <p:cNvPr id="15" name="Text 10"/>
          <p:cNvSpPr/>
          <p:nvPr/>
        </p:nvSpPr>
        <p:spPr>
          <a:xfrm>
            <a:off x="7726680" y="3758184"/>
            <a:ext cx="3840480" cy="292608"/>
          </a:xfrm>
          <a:prstGeom prst="rect">
            <a:avLst/>
          </a:prstGeom>
          <a:noFill/>
          <a:ln/>
        </p:spPr>
        <p:txBody>
          <a:bodyPr wrap="square" rtlCol="0" anchor="ctr"/>
          <a:lstStyle/>
          <a:p>
            <a:pPr marL="0" indent="0">
              <a:buNone/>
            </a:pPr>
            <a:r>
              <a:rPr lang="en-US" sz="1450" b="1" dirty="0">
                <a:solidFill>
                  <a:srgbClr val="1B1F3B"/>
                </a:solidFill>
                <a:latin typeface="Cambria" pitchFamily="34" charset="0"/>
                <a:ea typeface="Cambria" pitchFamily="34" charset="-122"/>
                <a:cs typeface="Cambria" pitchFamily="34" charset="-120"/>
              </a:rPr>
              <a:t>Data-Rich, Insight-Poor</a:t>
            </a:r>
            <a:endParaRPr lang="en-US" sz="1450" dirty="0"/>
          </a:p>
        </p:txBody>
      </p:sp>
      <p:sp>
        <p:nvSpPr>
          <p:cNvPr id="16" name="Text 11"/>
          <p:cNvSpPr/>
          <p:nvPr/>
        </p:nvSpPr>
        <p:spPr>
          <a:xfrm>
            <a:off x="7726680" y="4069080"/>
            <a:ext cx="3886200" cy="777240"/>
          </a:xfrm>
          <a:prstGeom prst="rect">
            <a:avLst/>
          </a:prstGeom>
          <a:noFill/>
          <a:ln/>
        </p:spPr>
        <p:txBody>
          <a:bodyPr wrap="square" rtlCol="0" anchor="t"/>
          <a:lstStyle/>
          <a:p>
            <a:pPr marL="0" indent="0">
              <a:lnSpc>
                <a:spcPct val="112000"/>
              </a:lnSpc>
              <a:buNone/>
            </a:pPr>
            <a:r>
              <a:rPr lang="en-US" sz="1100" dirty="0">
                <a:solidFill>
                  <a:srgbClr val="6E7488"/>
                </a:solidFill>
                <a:latin typeface="Calibri" pitchFamily="34" charset="0"/>
                <a:ea typeface="Calibri" pitchFamily="34" charset="-122"/>
                <a:cs typeface="Calibri" pitchFamily="34" charset="-120"/>
              </a:rPr>
              <a:t>Schools collect plenty of academic data, yet rarely turn it into predictive, actionable insight.</a:t>
            </a:r>
            <a:endParaRPr lang="en-US" sz="1100" dirty="0"/>
          </a:p>
        </p:txBody>
      </p:sp>
      <p:sp>
        <p:nvSpPr>
          <p:cNvPr id="17" name="Shape 12"/>
          <p:cNvSpPr/>
          <p:nvPr/>
        </p:nvSpPr>
        <p:spPr>
          <a:xfrm>
            <a:off x="7086600" y="4974336"/>
            <a:ext cx="502920" cy="502920"/>
          </a:xfrm>
          <a:prstGeom prst="ellipse">
            <a:avLst/>
          </a:prstGeom>
          <a:solidFill>
            <a:srgbClr val="6C3CE9"/>
          </a:solidFill>
          <a:ln/>
        </p:spPr>
      </p:sp>
      <p:pic>
        <p:nvPicPr>
          <p:cNvPr id="18" name="Image 3" descr="preencoded.png"/>
          <p:cNvPicPr>
            <a:picLocks noChangeAspect="1"/>
          </p:cNvPicPr>
          <p:nvPr/>
        </p:nvPicPr>
        <p:blipFill>
          <a:blip r:embed="rId6"/>
          <a:stretch>
            <a:fillRect/>
          </a:stretch>
        </p:blipFill>
        <p:spPr>
          <a:xfrm>
            <a:off x="7217359" y="5105095"/>
            <a:ext cx="241402" cy="241402"/>
          </a:xfrm>
          <a:prstGeom prst="rect">
            <a:avLst/>
          </a:prstGeom>
        </p:spPr>
      </p:pic>
      <p:sp>
        <p:nvSpPr>
          <p:cNvPr id="19" name="Text 13"/>
          <p:cNvSpPr/>
          <p:nvPr/>
        </p:nvSpPr>
        <p:spPr>
          <a:xfrm>
            <a:off x="7726680" y="4928616"/>
            <a:ext cx="3840480" cy="292608"/>
          </a:xfrm>
          <a:prstGeom prst="rect">
            <a:avLst/>
          </a:prstGeom>
          <a:noFill/>
          <a:ln/>
        </p:spPr>
        <p:txBody>
          <a:bodyPr wrap="square" rtlCol="0" anchor="ctr"/>
          <a:lstStyle/>
          <a:p>
            <a:pPr marL="0" indent="0">
              <a:buNone/>
            </a:pPr>
            <a:r>
              <a:rPr lang="en-US" sz="1450" b="1" dirty="0">
                <a:solidFill>
                  <a:srgbClr val="1B1F3B"/>
                </a:solidFill>
                <a:latin typeface="Cambria" pitchFamily="34" charset="0"/>
                <a:ea typeface="Cambria" pitchFamily="34" charset="-122"/>
                <a:cs typeface="Cambria" pitchFamily="34" charset="-120"/>
              </a:rPr>
              <a:t>The AI Opportunity</a:t>
            </a:r>
            <a:endParaRPr lang="en-US" sz="1450" dirty="0"/>
          </a:p>
        </p:txBody>
      </p:sp>
      <p:sp>
        <p:nvSpPr>
          <p:cNvPr id="20" name="Text 14"/>
          <p:cNvSpPr/>
          <p:nvPr/>
        </p:nvSpPr>
        <p:spPr>
          <a:xfrm>
            <a:off x="7726680" y="5239512"/>
            <a:ext cx="3886200" cy="777240"/>
          </a:xfrm>
          <a:prstGeom prst="rect">
            <a:avLst/>
          </a:prstGeom>
          <a:noFill/>
          <a:ln/>
        </p:spPr>
        <p:txBody>
          <a:bodyPr wrap="square" rtlCol="0" anchor="t"/>
          <a:lstStyle/>
          <a:p>
            <a:pPr marL="0" indent="0">
              <a:lnSpc>
                <a:spcPct val="112000"/>
              </a:lnSpc>
              <a:buNone/>
            </a:pPr>
            <a:r>
              <a:rPr lang="en-US" sz="1100" dirty="0">
                <a:solidFill>
                  <a:srgbClr val="6E7488"/>
                </a:solidFill>
                <a:latin typeface="Calibri" pitchFamily="34" charset="0"/>
                <a:ea typeface="Calibri" pitchFamily="34" charset="-122"/>
                <a:cs typeface="Calibri" pitchFamily="34" charset="-120"/>
              </a:rPr>
              <a:t>Machine learning can combine these factors to flag risk early and recommend targeted support.</a:t>
            </a:r>
            <a:endParaRPr lang="en-US" sz="1100" dirty="0"/>
          </a:p>
        </p:txBody>
      </p:sp>
      <p:sp>
        <p:nvSpPr>
          <p:cNvPr id="21" name="Shape 15"/>
          <p:cNvSpPr/>
          <p:nvPr/>
        </p:nvSpPr>
        <p:spPr>
          <a:xfrm>
            <a:off x="548640" y="2514600"/>
            <a:ext cx="6309360" cy="3566160"/>
          </a:xfrm>
          <a:prstGeom prst="roundRect">
            <a:avLst>
              <a:gd name="adj" fmla="val 3077"/>
            </a:avLst>
          </a:prstGeom>
          <a:solidFill>
            <a:srgbClr val="EEF0FB"/>
          </a:solidFill>
          <a:ln/>
        </p:spPr>
      </p:sp>
      <p:sp>
        <p:nvSpPr>
          <p:cNvPr id="22" name="Text 16"/>
          <p:cNvSpPr/>
          <p:nvPr/>
        </p:nvSpPr>
        <p:spPr>
          <a:xfrm>
            <a:off x="868680" y="2724912"/>
            <a:ext cx="5669280" cy="365760"/>
          </a:xfrm>
          <a:prstGeom prst="rect">
            <a:avLst/>
          </a:prstGeom>
          <a:noFill/>
          <a:ln/>
        </p:spPr>
        <p:txBody>
          <a:bodyPr wrap="square" rtlCol="0" anchor="ctr"/>
          <a:lstStyle/>
          <a:p>
            <a:pPr marL="0" indent="0">
              <a:buNone/>
            </a:pPr>
            <a:r>
              <a:rPr lang="en-US" sz="1600" b="1" dirty="0">
                <a:solidFill>
                  <a:srgbClr val="1B1F3B"/>
                </a:solidFill>
                <a:latin typeface="Cambria" pitchFamily="34" charset="0"/>
                <a:ea typeface="Cambria" pitchFamily="34" charset="-122"/>
                <a:cs typeface="Cambria" pitchFamily="34" charset="-120"/>
              </a:rPr>
              <a:t>Real-World Educational Applications</a:t>
            </a:r>
            <a:endParaRPr lang="en-US" sz="1600" dirty="0"/>
          </a:p>
        </p:txBody>
      </p:sp>
      <p:sp>
        <p:nvSpPr>
          <p:cNvPr id="23" name="Text 17"/>
          <p:cNvSpPr/>
          <p:nvPr/>
        </p:nvSpPr>
        <p:spPr>
          <a:xfrm>
            <a:off x="868680" y="3200400"/>
            <a:ext cx="5669280" cy="2743200"/>
          </a:xfrm>
          <a:prstGeom prst="rect">
            <a:avLst/>
          </a:prstGeom>
          <a:noFill/>
          <a:ln/>
        </p:spPr>
        <p:txBody>
          <a:bodyPr wrap="square" rtlCol="0" anchor="t"/>
          <a:lstStyle/>
          <a:p>
            <a:pPr marL="342900" indent="-342900">
              <a:spcAft>
                <a:spcPts val="1200"/>
              </a:spcAft>
              <a:buSzPct val="100000"/>
              <a:buChar char="▪"/>
            </a:pPr>
            <a:r>
              <a:rPr lang="en-US" sz="1300" dirty="0">
                <a:solidFill>
                  <a:srgbClr val="1B1F3B"/>
                </a:solidFill>
                <a:latin typeface="Calibri" pitchFamily="34" charset="0"/>
                <a:ea typeface="Calibri" pitchFamily="34" charset="-122"/>
                <a:cs typeface="Calibri" pitchFamily="34" charset="-120"/>
              </a:rPr>
              <a:t>Early-warning system for academic counsellors and mentors</a:t>
            </a:r>
            <a:endParaRPr lang="en-US" sz="1300" dirty="0"/>
          </a:p>
          <a:p>
            <a:pPr marL="342900" indent="-342900">
              <a:spcAft>
                <a:spcPts val="1200"/>
              </a:spcAft>
              <a:buSzPct val="100000"/>
              <a:buChar char="▪"/>
            </a:pPr>
            <a:r>
              <a:rPr lang="en-US" sz="1300" dirty="0">
                <a:solidFill>
                  <a:srgbClr val="1B1F3B"/>
                </a:solidFill>
                <a:latin typeface="Calibri" pitchFamily="34" charset="0"/>
                <a:ea typeface="Calibri" pitchFamily="34" charset="-122"/>
                <a:cs typeface="Calibri" pitchFamily="34" charset="-120"/>
              </a:rPr>
              <a:t>Personalized study and improvement recommendations per student</a:t>
            </a:r>
            <a:endParaRPr lang="en-US" sz="1300" dirty="0"/>
          </a:p>
          <a:p>
            <a:pPr marL="342900" indent="-342900">
              <a:spcAft>
                <a:spcPts val="1200"/>
              </a:spcAft>
              <a:buSzPct val="100000"/>
              <a:buChar char="▪"/>
            </a:pPr>
            <a:r>
              <a:rPr lang="en-US" sz="1300" dirty="0">
                <a:solidFill>
                  <a:srgbClr val="1B1F3B"/>
                </a:solidFill>
                <a:latin typeface="Calibri" pitchFamily="34" charset="0"/>
                <a:ea typeface="Calibri" pitchFamily="34" charset="-122"/>
                <a:cs typeface="Calibri" pitchFamily="34" charset="-120"/>
              </a:rPr>
              <a:t>Institution-wide analytics dashboard for department heads</a:t>
            </a:r>
            <a:endParaRPr lang="en-US" sz="1300" dirty="0"/>
          </a:p>
          <a:p>
            <a:pPr marL="342900" indent="-342900">
              <a:spcAft>
                <a:spcPts val="1200"/>
              </a:spcAft>
              <a:buSzPct val="100000"/>
              <a:buChar char="▪"/>
            </a:pPr>
            <a:r>
              <a:rPr lang="en-US" sz="1300" dirty="0">
                <a:solidFill>
                  <a:srgbClr val="1B1F3B"/>
                </a:solidFill>
                <a:latin typeface="Calibri" pitchFamily="34" charset="0"/>
                <a:ea typeface="Calibri" pitchFamily="34" charset="-122"/>
                <a:cs typeface="Calibri" pitchFamily="34" charset="-120"/>
              </a:rPr>
              <a:t>Data-driven admissions and scholarship risk screening</a:t>
            </a:r>
            <a:endParaRPr lang="en-US" sz="1300" dirty="0"/>
          </a:p>
          <a:p>
            <a:pPr marL="342900" indent="-342900">
              <a:spcAft>
                <a:spcPts val="1200"/>
              </a:spcAft>
              <a:buSzPct val="100000"/>
              <a:buChar char="▪"/>
            </a:pPr>
            <a:r>
              <a:rPr lang="en-US" sz="1300" dirty="0">
                <a:solidFill>
                  <a:srgbClr val="1B1F3B"/>
                </a:solidFill>
                <a:latin typeface="Calibri" pitchFamily="34" charset="0"/>
                <a:ea typeface="Calibri" pitchFamily="34" charset="-122"/>
                <a:cs typeface="Calibri" pitchFamily="34" charset="-120"/>
              </a:rPr>
              <a:t>Parent–teacher communication backed by objective evidence</a:t>
            </a:r>
            <a:endParaRPr lang="en-US" sz="1300" dirty="0"/>
          </a:p>
        </p:txBody>
      </p:sp>
      <p:sp>
        <p:nvSpPr>
          <p:cNvPr id="24" name="Text 18"/>
          <p:cNvSpPr/>
          <p:nvPr/>
        </p:nvSpPr>
        <p:spPr>
          <a:xfrm>
            <a:off x="11475720" y="6510528"/>
            <a:ext cx="548640" cy="274320"/>
          </a:xfrm>
          <a:prstGeom prst="rect">
            <a:avLst/>
          </a:prstGeom>
          <a:noFill/>
          <a:ln/>
        </p:spPr>
        <p:txBody>
          <a:bodyPr wrap="square" rtlCol="0" anchor="ctr"/>
          <a:lstStyle/>
          <a:p>
            <a:pPr marL="0" indent="0" algn="r">
              <a:buNone/>
            </a:pPr>
            <a:r>
              <a:rPr lang="en-US" sz="1000" dirty="0">
                <a:solidFill>
                  <a:srgbClr val="6E7488"/>
                </a:solidFill>
                <a:latin typeface="Calibri" pitchFamily="34" charset="0"/>
                <a:ea typeface="Calibri" pitchFamily="34" charset="-122"/>
                <a:cs typeface="Calibri" pitchFamily="34" charset="-120"/>
              </a:rPr>
              <a:t>02</a:t>
            </a:r>
            <a:endParaRPr lang="en-US" sz="10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6F7FD"/>
        </a:solidFill>
        <a:effectLst/>
      </p:bgPr>
    </p:bg>
    <p:spTree>
      <p:nvGrpSpPr>
        <p:cNvPr id="1" name=""/>
        <p:cNvGrpSpPr/>
        <p:nvPr/>
      </p:nvGrpSpPr>
      <p:grpSpPr>
        <a:xfrm>
          <a:off x="0" y="0"/>
          <a:ext cx="0" cy="0"/>
          <a:chOff x="0" y="0"/>
          <a:chExt cx="0" cy="0"/>
        </a:xfrm>
      </p:grpSpPr>
      <p:sp>
        <p:nvSpPr>
          <p:cNvPr id="2" name="Text 0"/>
          <p:cNvSpPr/>
          <p:nvPr/>
        </p:nvSpPr>
        <p:spPr>
          <a:xfrm>
            <a:off x="548640" y="320040"/>
            <a:ext cx="7315200" cy="320040"/>
          </a:xfrm>
          <a:prstGeom prst="rect">
            <a:avLst/>
          </a:prstGeom>
          <a:noFill/>
          <a:ln/>
        </p:spPr>
        <p:txBody>
          <a:bodyPr wrap="square" rtlCol="0" anchor="ctr"/>
          <a:lstStyle/>
          <a:p>
            <a:pPr marL="0" indent="0">
              <a:buNone/>
            </a:pPr>
            <a:r>
              <a:rPr lang="en-US" sz="1300" b="1" kern="0" spc="200" dirty="0">
                <a:solidFill>
                  <a:srgbClr val="6C3CE9"/>
                </a:solidFill>
                <a:latin typeface="Calibri" pitchFamily="34" charset="0"/>
                <a:ea typeface="Calibri" pitchFamily="34" charset="-122"/>
                <a:cs typeface="Calibri" pitchFamily="34" charset="-120"/>
              </a:rPr>
              <a:t>OBJECTIVES</a:t>
            </a:r>
            <a:endParaRPr lang="en-US" sz="1300" dirty="0"/>
          </a:p>
        </p:txBody>
      </p:sp>
      <p:sp>
        <p:nvSpPr>
          <p:cNvPr id="3" name="Text 1"/>
          <p:cNvSpPr/>
          <p:nvPr/>
        </p:nvSpPr>
        <p:spPr>
          <a:xfrm>
            <a:off x="548640" y="621792"/>
            <a:ext cx="10515600" cy="685800"/>
          </a:xfrm>
          <a:prstGeom prst="rect">
            <a:avLst/>
          </a:prstGeom>
          <a:noFill/>
          <a:ln/>
        </p:spPr>
        <p:txBody>
          <a:bodyPr wrap="square" rtlCol="0" anchor="ctr"/>
          <a:lstStyle/>
          <a:p>
            <a:pPr marL="0" indent="0">
              <a:buNone/>
            </a:pPr>
            <a:r>
              <a:rPr lang="en-US" sz="3200" b="1" dirty="0">
                <a:solidFill>
                  <a:srgbClr val="1B1F3B"/>
                </a:solidFill>
                <a:latin typeface="Cambria" pitchFamily="34" charset="0"/>
                <a:ea typeface="Cambria" pitchFamily="34" charset="-122"/>
                <a:cs typeface="Cambria" pitchFamily="34" charset="-120"/>
              </a:rPr>
              <a:t>What This Project Set Out to Achieve</a:t>
            </a:r>
            <a:endParaRPr lang="en-US" sz="3200" dirty="0"/>
          </a:p>
        </p:txBody>
      </p:sp>
      <p:sp>
        <p:nvSpPr>
          <p:cNvPr id="4" name="Shape 2"/>
          <p:cNvSpPr/>
          <p:nvPr/>
        </p:nvSpPr>
        <p:spPr>
          <a:xfrm>
            <a:off x="548640" y="1508760"/>
            <a:ext cx="3584448" cy="1965960"/>
          </a:xfrm>
          <a:prstGeom prst="roundRect">
            <a:avLst>
              <a:gd name="adj" fmla="val 5581"/>
            </a:avLst>
          </a:prstGeom>
          <a:solidFill>
            <a:srgbClr val="FFFFFF"/>
          </a:solidFill>
          <a:ln/>
          <a:effectLst>
            <a:outerShdw blurRad="76200" dist="25400" dir="5400000" algn="bl" rotWithShape="0">
              <a:srgbClr val="1B1F3B">
                <a:alpha val="12000"/>
              </a:srgbClr>
            </a:outerShdw>
          </a:effectLst>
        </p:spPr>
      </p:sp>
      <p:sp>
        <p:nvSpPr>
          <p:cNvPr id="5" name="Shape 3"/>
          <p:cNvSpPr/>
          <p:nvPr/>
        </p:nvSpPr>
        <p:spPr>
          <a:xfrm>
            <a:off x="749808" y="1709928"/>
            <a:ext cx="512064" cy="512064"/>
          </a:xfrm>
          <a:prstGeom prst="ellipse">
            <a:avLst/>
          </a:prstGeom>
          <a:solidFill>
            <a:srgbClr val="6C3CE9"/>
          </a:solidFill>
          <a:ln/>
        </p:spPr>
      </p:sp>
      <p:pic>
        <p:nvPicPr>
          <p:cNvPr id="6" name="Image 0" descr="preencoded.png"/>
          <p:cNvPicPr>
            <a:picLocks noChangeAspect="1"/>
          </p:cNvPicPr>
          <p:nvPr/>
        </p:nvPicPr>
        <p:blipFill>
          <a:blip r:embed="rId3"/>
          <a:stretch>
            <a:fillRect/>
          </a:stretch>
        </p:blipFill>
        <p:spPr>
          <a:xfrm>
            <a:off x="882945" y="1843065"/>
            <a:ext cx="245791" cy="245791"/>
          </a:xfrm>
          <a:prstGeom prst="rect">
            <a:avLst/>
          </a:prstGeom>
        </p:spPr>
      </p:pic>
      <p:sp>
        <p:nvSpPr>
          <p:cNvPr id="7" name="Text 4"/>
          <p:cNvSpPr/>
          <p:nvPr/>
        </p:nvSpPr>
        <p:spPr>
          <a:xfrm>
            <a:off x="1417320" y="1673352"/>
            <a:ext cx="2532888" cy="320040"/>
          </a:xfrm>
          <a:prstGeom prst="rect">
            <a:avLst/>
          </a:prstGeom>
          <a:noFill/>
          <a:ln/>
        </p:spPr>
        <p:txBody>
          <a:bodyPr wrap="square" rtlCol="0" anchor="ctr"/>
          <a:lstStyle/>
          <a:p>
            <a:pPr marL="0" indent="0">
              <a:buNone/>
            </a:pPr>
            <a:r>
              <a:rPr lang="en-US" sz="1500" b="1" dirty="0">
                <a:solidFill>
                  <a:srgbClr val="1B1F3B"/>
                </a:solidFill>
                <a:latin typeface="Cambria" pitchFamily="34" charset="0"/>
                <a:ea typeface="Cambria" pitchFamily="34" charset="-122"/>
                <a:cs typeface="Cambria" pitchFamily="34" charset="-120"/>
              </a:rPr>
              <a:t>Predict Performance</a:t>
            </a:r>
            <a:endParaRPr lang="en-US" sz="1500" dirty="0"/>
          </a:p>
        </p:txBody>
      </p:sp>
      <p:sp>
        <p:nvSpPr>
          <p:cNvPr id="8" name="Text 5"/>
          <p:cNvSpPr/>
          <p:nvPr/>
        </p:nvSpPr>
        <p:spPr>
          <a:xfrm>
            <a:off x="1417320" y="2011680"/>
            <a:ext cx="2532888" cy="1325880"/>
          </a:xfrm>
          <a:prstGeom prst="rect">
            <a:avLst/>
          </a:prstGeom>
          <a:noFill/>
          <a:ln/>
        </p:spPr>
        <p:txBody>
          <a:bodyPr wrap="square" rtlCol="0" anchor="t"/>
          <a:lstStyle/>
          <a:p>
            <a:pPr marL="0" indent="0">
              <a:lnSpc>
                <a:spcPct val="108000"/>
              </a:lnSpc>
              <a:buNone/>
            </a:pPr>
            <a:r>
              <a:rPr lang="en-US" sz="1150" dirty="0">
                <a:solidFill>
                  <a:srgbClr val="6E7488"/>
                </a:solidFill>
                <a:latin typeface="Calibri" pitchFamily="34" charset="0"/>
                <a:ea typeface="Calibri" pitchFamily="34" charset="-122"/>
                <a:cs typeface="Calibri" pitchFamily="34" charset="-120"/>
              </a:rPr>
              <a:t>Estimate each student’s likely academic outcome category using ML.</a:t>
            </a:r>
            <a:endParaRPr lang="en-US" sz="1150" dirty="0"/>
          </a:p>
        </p:txBody>
      </p:sp>
      <p:sp>
        <p:nvSpPr>
          <p:cNvPr id="9" name="Shape 6"/>
          <p:cNvSpPr/>
          <p:nvPr/>
        </p:nvSpPr>
        <p:spPr>
          <a:xfrm>
            <a:off x="4297680" y="1508760"/>
            <a:ext cx="3584448" cy="1965960"/>
          </a:xfrm>
          <a:prstGeom prst="roundRect">
            <a:avLst>
              <a:gd name="adj" fmla="val 5581"/>
            </a:avLst>
          </a:prstGeom>
          <a:solidFill>
            <a:srgbClr val="FFFFFF"/>
          </a:solidFill>
          <a:ln/>
          <a:effectLst>
            <a:outerShdw blurRad="76200" dist="25400" dir="5400000" algn="bl" rotWithShape="0">
              <a:srgbClr val="1B1F3B">
                <a:alpha val="12000"/>
              </a:srgbClr>
            </a:outerShdw>
          </a:effectLst>
        </p:spPr>
      </p:sp>
      <p:sp>
        <p:nvSpPr>
          <p:cNvPr id="10" name="Shape 7"/>
          <p:cNvSpPr/>
          <p:nvPr/>
        </p:nvSpPr>
        <p:spPr>
          <a:xfrm>
            <a:off x="4498848" y="1709928"/>
            <a:ext cx="512064" cy="512064"/>
          </a:xfrm>
          <a:prstGeom prst="ellipse">
            <a:avLst/>
          </a:prstGeom>
          <a:solidFill>
            <a:srgbClr val="6C3CE9"/>
          </a:solidFill>
          <a:ln/>
        </p:spPr>
      </p:sp>
      <p:pic>
        <p:nvPicPr>
          <p:cNvPr id="11" name="Image 1" descr="preencoded.png"/>
          <p:cNvPicPr>
            <a:picLocks noChangeAspect="1"/>
          </p:cNvPicPr>
          <p:nvPr/>
        </p:nvPicPr>
        <p:blipFill>
          <a:blip r:embed="rId4"/>
          <a:stretch>
            <a:fillRect/>
          </a:stretch>
        </p:blipFill>
        <p:spPr>
          <a:xfrm>
            <a:off x="4631985" y="1843065"/>
            <a:ext cx="245791" cy="245791"/>
          </a:xfrm>
          <a:prstGeom prst="rect">
            <a:avLst/>
          </a:prstGeom>
        </p:spPr>
      </p:pic>
      <p:sp>
        <p:nvSpPr>
          <p:cNvPr id="12" name="Text 8"/>
          <p:cNvSpPr/>
          <p:nvPr/>
        </p:nvSpPr>
        <p:spPr>
          <a:xfrm>
            <a:off x="5166360" y="1673352"/>
            <a:ext cx="2532888" cy="320040"/>
          </a:xfrm>
          <a:prstGeom prst="rect">
            <a:avLst/>
          </a:prstGeom>
          <a:noFill/>
          <a:ln/>
        </p:spPr>
        <p:txBody>
          <a:bodyPr wrap="square" rtlCol="0" anchor="ctr"/>
          <a:lstStyle/>
          <a:p>
            <a:pPr marL="0" indent="0">
              <a:buNone/>
            </a:pPr>
            <a:r>
              <a:rPr lang="en-US" sz="1500" b="1" dirty="0">
                <a:solidFill>
                  <a:srgbClr val="1B1F3B"/>
                </a:solidFill>
                <a:latin typeface="Cambria" pitchFamily="34" charset="0"/>
                <a:ea typeface="Cambria" pitchFamily="34" charset="-122"/>
                <a:cs typeface="Cambria" pitchFamily="34" charset="-120"/>
              </a:rPr>
              <a:t>Identify At-Risk Students</a:t>
            </a:r>
            <a:endParaRPr lang="en-US" sz="1500" dirty="0"/>
          </a:p>
        </p:txBody>
      </p:sp>
      <p:sp>
        <p:nvSpPr>
          <p:cNvPr id="13" name="Text 9"/>
          <p:cNvSpPr/>
          <p:nvPr/>
        </p:nvSpPr>
        <p:spPr>
          <a:xfrm>
            <a:off x="5166360" y="2011680"/>
            <a:ext cx="2532888" cy="1325880"/>
          </a:xfrm>
          <a:prstGeom prst="rect">
            <a:avLst/>
          </a:prstGeom>
          <a:noFill/>
          <a:ln/>
        </p:spPr>
        <p:txBody>
          <a:bodyPr wrap="square" rtlCol="0" anchor="t"/>
          <a:lstStyle/>
          <a:p>
            <a:pPr marL="0" indent="0">
              <a:lnSpc>
                <a:spcPct val="108000"/>
              </a:lnSpc>
              <a:buNone/>
            </a:pPr>
            <a:r>
              <a:rPr lang="en-US" sz="1150" dirty="0">
                <a:solidFill>
                  <a:srgbClr val="6E7488"/>
                </a:solidFill>
                <a:latin typeface="Calibri" pitchFamily="34" charset="0"/>
                <a:ea typeface="Calibri" pitchFamily="34" charset="-122"/>
                <a:cs typeface="Calibri" pitchFamily="34" charset="-120"/>
              </a:rPr>
              <a:t>Flag students who need early intervention before results decline.</a:t>
            </a:r>
            <a:endParaRPr lang="en-US" sz="1150" dirty="0"/>
          </a:p>
        </p:txBody>
      </p:sp>
      <p:sp>
        <p:nvSpPr>
          <p:cNvPr id="14" name="Shape 10"/>
          <p:cNvSpPr/>
          <p:nvPr/>
        </p:nvSpPr>
        <p:spPr>
          <a:xfrm>
            <a:off x="8046720" y="1508760"/>
            <a:ext cx="3584448" cy="1965960"/>
          </a:xfrm>
          <a:prstGeom prst="roundRect">
            <a:avLst>
              <a:gd name="adj" fmla="val 5581"/>
            </a:avLst>
          </a:prstGeom>
          <a:solidFill>
            <a:srgbClr val="FFFFFF"/>
          </a:solidFill>
          <a:ln/>
          <a:effectLst>
            <a:outerShdw blurRad="76200" dist="25400" dir="5400000" algn="bl" rotWithShape="0">
              <a:srgbClr val="1B1F3B">
                <a:alpha val="12000"/>
              </a:srgbClr>
            </a:outerShdw>
          </a:effectLst>
        </p:spPr>
      </p:sp>
      <p:sp>
        <p:nvSpPr>
          <p:cNvPr id="15" name="Shape 11"/>
          <p:cNvSpPr/>
          <p:nvPr/>
        </p:nvSpPr>
        <p:spPr>
          <a:xfrm>
            <a:off x="8247888" y="1709928"/>
            <a:ext cx="512064" cy="512064"/>
          </a:xfrm>
          <a:prstGeom prst="ellipse">
            <a:avLst/>
          </a:prstGeom>
          <a:solidFill>
            <a:srgbClr val="6C3CE9"/>
          </a:solidFill>
          <a:ln/>
        </p:spPr>
      </p:sp>
      <p:pic>
        <p:nvPicPr>
          <p:cNvPr id="16" name="Image 2" descr="preencoded.png"/>
          <p:cNvPicPr>
            <a:picLocks noChangeAspect="1"/>
          </p:cNvPicPr>
          <p:nvPr/>
        </p:nvPicPr>
        <p:blipFill>
          <a:blip r:embed="rId5"/>
          <a:stretch>
            <a:fillRect/>
          </a:stretch>
        </p:blipFill>
        <p:spPr>
          <a:xfrm>
            <a:off x="8381025" y="1843065"/>
            <a:ext cx="245791" cy="245791"/>
          </a:xfrm>
          <a:prstGeom prst="rect">
            <a:avLst/>
          </a:prstGeom>
        </p:spPr>
      </p:pic>
      <p:sp>
        <p:nvSpPr>
          <p:cNvPr id="17" name="Text 12"/>
          <p:cNvSpPr/>
          <p:nvPr/>
        </p:nvSpPr>
        <p:spPr>
          <a:xfrm>
            <a:off x="8915400" y="1673352"/>
            <a:ext cx="2532888" cy="320040"/>
          </a:xfrm>
          <a:prstGeom prst="rect">
            <a:avLst/>
          </a:prstGeom>
          <a:noFill/>
          <a:ln/>
        </p:spPr>
        <p:txBody>
          <a:bodyPr wrap="square" rtlCol="0" anchor="ctr"/>
          <a:lstStyle/>
          <a:p>
            <a:pPr marL="0" indent="0">
              <a:buNone/>
            </a:pPr>
            <a:r>
              <a:rPr lang="en-US" sz="1500" b="1" dirty="0">
                <a:solidFill>
                  <a:srgbClr val="1B1F3B"/>
                </a:solidFill>
                <a:latin typeface="Cambria" pitchFamily="34" charset="0"/>
                <a:ea typeface="Cambria" pitchFamily="34" charset="-122"/>
                <a:cs typeface="Cambria" pitchFamily="34" charset="-120"/>
              </a:rPr>
              <a:t>Personalized Recommendations</a:t>
            </a:r>
            <a:endParaRPr lang="en-US" sz="1500" dirty="0"/>
          </a:p>
        </p:txBody>
      </p:sp>
      <p:sp>
        <p:nvSpPr>
          <p:cNvPr id="18" name="Text 13"/>
          <p:cNvSpPr/>
          <p:nvPr/>
        </p:nvSpPr>
        <p:spPr>
          <a:xfrm>
            <a:off x="8915400" y="2011680"/>
            <a:ext cx="2532888" cy="1325880"/>
          </a:xfrm>
          <a:prstGeom prst="rect">
            <a:avLst/>
          </a:prstGeom>
          <a:noFill/>
          <a:ln/>
        </p:spPr>
        <p:txBody>
          <a:bodyPr wrap="square" rtlCol="0" anchor="t"/>
          <a:lstStyle/>
          <a:p>
            <a:pPr marL="0" indent="0">
              <a:lnSpc>
                <a:spcPct val="108000"/>
              </a:lnSpc>
              <a:buNone/>
            </a:pPr>
            <a:r>
              <a:rPr lang="en-US" sz="1150" dirty="0">
                <a:solidFill>
                  <a:srgbClr val="6E7488"/>
                </a:solidFill>
                <a:latin typeface="Calibri" pitchFamily="34" charset="0"/>
                <a:ea typeface="Calibri" pitchFamily="34" charset="-122"/>
                <a:cs typeface="Calibri" pitchFamily="34" charset="-120"/>
              </a:rPr>
              <a:t>Suggest targeted, actionable steps for improvement.</a:t>
            </a:r>
            <a:endParaRPr lang="en-US" sz="1150" dirty="0"/>
          </a:p>
        </p:txBody>
      </p:sp>
      <p:sp>
        <p:nvSpPr>
          <p:cNvPr id="19" name="Shape 14"/>
          <p:cNvSpPr/>
          <p:nvPr/>
        </p:nvSpPr>
        <p:spPr>
          <a:xfrm>
            <a:off x="548640" y="3639312"/>
            <a:ext cx="3584448" cy="1965960"/>
          </a:xfrm>
          <a:prstGeom prst="roundRect">
            <a:avLst>
              <a:gd name="adj" fmla="val 5581"/>
            </a:avLst>
          </a:prstGeom>
          <a:solidFill>
            <a:srgbClr val="FFFFFF"/>
          </a:solidFill>
          <a:ln/>
          <a:effectLst>
            <a:outerShdw blurRad="76200" dist="25400" dir="5400000" algn="bl" rotWithShape="0">
              <a:srgbClr val="1B1F3B">
                <a:alpha val="12000"/>
              </a:srgbClr>
            </a:outerShdw>
          </a:effectLst>
        </p:spPr>
      </p:sp>
      <p:sp>
        <p:nvSpPr>
          <p:cNvPr id="20" name="Shape 15"/>
          <p:cNvSpPr/>
          <p:nvPr/>
        </p:nvSpPr>
        <p:spPr>
          <a:xfrm>
            <a:off x="749808" y="3840480"/>
            <a:ext cx="512064" cy="512064"/>
          </a:xfrm>
          <a:prstGeom prst="ellipse">
            <a:avLst/>
          </a:prstGeom>
          <a:solidFill>
            <a:srgbClr val="2F5CFF"/>
          </a:solidFill>
          <a:ln/>
        </p:spPr>
      </p:sp>
      <p:pic>
        <p:nvPicPr>
          <p:cNvPr id="21" name="Image 3" descr="preencoded.png"/>
          <p:cNvPicPr>
            <a:picLocks noChangeAspect="1"/>
          </p:cNvPicPr>
          <p:nvPr/>
        </p:nvPicPr>
        <p:blipFill>
          <a:blip r:embed="rId6"/>
          <a:stretch>
            <a:fillRect/>
          </a:stretch>
        </p:blipFill>
        <p:spPr>
          <a:xfrm>
            <a:off x="882945" y="3973617"/>
            <a:ext cx="245791" cy="245791"/>
          </a:xfrm>
          <a:prstGeom prst="rect">
            <a:avLst/>
          </a:prstGeom>
        </p:spPr>
      </p:pic>
      <p:sp>
        <p:nvSpPr>
          <p:cNvPr id="22" name="Text 16"/>
          <p:cNvSpPr/>
          <p:nvPr/>
        </p:nvSpPr>
        <p:spPr>
          <a:xfrm>
            <a:off x="1417320" y="3803904"/>
            <a:ext cx="2532888" cy="320040"/>
          </a:xfrm>
          <a:prstGeom prst="rect">
            <a:avLst/>
          </a:prstGeom>
          <a:noFill/>
          <a:ln/>
        </p:spPr>
        <p:txBody>
          <a:bodyPr wrap="square" rtlCol="0" anchor="ctr"/>
          <a:lstStyle/>
          <a:p>
            <a:pPr marL="0" indent="0">
              <a:buNone/>
            </a:pPr>
            <a:r>
              <a:rPr lang="en-US" sz="1500" b="1" dirty="0">
                <a:solidFill>
                  <a:srgbClr val="1B1F3B"/>
                </a:solidFill>
                <a:latin typeface="Cambria" pitchFamily="34" charset="0"/>
                <a:ea typeface="Cambria" pitchFamily="34" charset="-122"/>
                <a:cs typeface="Cambria" pitchFamily="34" charset="-120"/>
              </a:rPr>
              <a:t>Support Teacher Decisions</a:t>
            </a:r>
            <a:endParaRPr lang="en-US" sz="1500" dirty="0"/>
          </a:p>
        </p:txBody>
      </p:sp>
      <p:sp>
        <p:nvSpPr>
          <p:cNvPr id="23" name="Text 17"/>
          <p:cNvSpPr/>
          <p:nvPr/>
        </p:nvSpPr>
        <p:spPr>
          <a:xfrm>
            <a:off x="1417320" y="4142232"/>
            <a:ext cx="2532888" cy="1325880"/>
          </a:xfrm>
          <a:prstGeom prst="rect">
            <a:avLst/>
          </a:prstGeom>
          <a:noFill/>
          <a:ln/>
        </p:spPr>
        <p:txBody>
          <a:bodyPr wrap="square" rtlCol="0" anchor="t"/>
          <a:lstStyle/>
          <a:p>
            <a:pPr marL="0" indent="0">
              <a:lnSpc>
                <a:spcPct val="108000"/>
              </a:lnSpc>
              <a:buNone/>
            </a:pPr>
            <a:r>
              <a:rPr lang="en-US" sz="1150" dirty="0">
                <a:solidFill>
                  <a:srgbClr val="6E7488"/>
                </a:solidFill>
                <a:latin typeface="Calibri" pitchFamily="34" charset="0"/>
                <a:ea typeface="Calibri" pitchFamily="34" charset="-122"/>
                <a:cs typeface="Calibri" pitchFamily="34" charset="-120"/>
              </a:rPr>
              <a:t>Give educators objective, data-backed evidence for action.</a:t>
            </a:r>
            <a:endParaRPr lang="en-US" sz="1150" dirty="0"/>
          </a:p>
        </p:txBody>
      </p:sp>
      <p:sp>
        <p:nvSpPr>
          <p:cNvPr id="24" name="Shape 18"/>
          <p:cNvSpPr/>
          <p:nvPr/>
        </p:nvSpPr>
        <p:spPr>
          <a:xfrm>
            <a:off x="4297680" y="3639312"/>
            <a:ext cx="3584448" cy="1965960"/>
          </a:xfrm>
          <a:prstGeom prst="roundRect">
            <a:avLst>
              <a:gd name="adj" fmla="val 5581"/>
            </a:avLst>
          </a:prstGeom>
          <a:solidFill>
            <a:srgbClr val="FFFFFF"/>
          </a:solidFill>
          <a:ln/>
          <a:effectLst>
            <a:outerShdw blurRad="76200" dist="25400" dir="5400000" algn="bl" rotWithShape="0">
              <a:srgbClr val="1B1F3B">
                <a:alpha val="12000"/>
              </a:srgbClr>
            </a:outerShdw>
          </a:effectLst>
        </p:spPr>
      </p:sp>
      <p:sp>
        <p:nvSpPr>
          <p:cNvPr id="25" name="Shape 19"/>
          <p:cNvSpPr/>
          <p:nvPr/>
        </p:nvSpPr>
        <p:spPr>
          <a:xfrm>
            <a:off x="4498848" y="3840480"/>
            <a:ext cx="512064" cy="512064"/>
          </a:xfrm>
          <a:prstGeom prst="ellipse">
            <a:avLst/>
          </a:prstGeom>
          <a:solidFill>
            <a:srgbClr val="2F5CFF"/>
          </a:solidFill>
          <a:ln/>
        </p:spPr>
      </p:sp>
      <p:pic>
        <p:nvPicPr>
          <p:cNvPr id="26" name="Image 4" descr="preencoded.png"/>
          <p:cNvPicPr>
            <a:picLocks noChangeAspect="1"/>
          </p:cNvPicPr>
          <p:nvPr/>
        </p:nvPicPr>
        <p:blipFill>
          <a:blip r:embed="rId7"/>
          <a:stretch>
            <a:fillRect/>
          </a:stretch>
        </p:blipFill>
        <p:spPr>
          <a:xfrm>
            <a:off x="4631985" y="3973617"/>
            <a:ext cx="245791" cy="245791"/>
          </a:xfrm>
          <a:prstGeom prst="rect">
            <a:avLst/>
          </a:prstGeom>
        </p:spPr>
      </p:pic>
      <p:sp>
        <p:nvSpPr>
          <p:cNvPr id="27" name="Text 20"/>
          <p:cNvSpPr/>
          <p:nvPr/>
        </p:nvSpPr>
        <p:spPr>
          <a:xfrm>
            <a:off x="5166360" y="3803904"/>
            <a:ext cx="2532888" cy="320040"/>
          </a:xfrm>
          <a:prstGeom prst="rect">
            <a:avLst/>
          </a:prstGeom>
          <a:noFill/>
          <a:ln/>
        </p:spPr>
        <p:txBody>
          <a:bodyPr wrap="square" rtlCol="0" anchor="ctr"/>
          <a:lstStyle/>
          <a:p>
            <a:pPr marL="0" indent="0">
              <a:buNone/>
            </a:pPr>
            <a:r>
              <a:rPr lang="en-US" sz="1500" b="1" dirty="0">
                <a:solidFill>
                  <a:srgbClr val="1B1F3B"/>
                </a:solidFill>
                <a:latin typeface="Cambria" pitchFamily="34" charset="0"/>
                <a:ea typeface="Cambria" pitchFamily="34" charset="-122"/>
                <a:cs typeface="Cambria" pitchFamily="34" charset="-120"/>
              </a:rPr>
              <a:t>Improve Success Rates</a:t>
            </a:r>
            <a:endParaRPr lang="en-US" sz="1500" dirty="0"/>
          </a:p>
        </p:txBody>
      </p:sp>
      <p:sp>
        <p:nvSpPr>
          <p:cNvPr id="28" name="Text 21"/>
          <p:cNvSpPr/>
          <p:nvPr/>
        </p:nvSpPr>
        <p:spPr>
          <a:xfrm>
            <a:off x="5166360" y="4142232"/>
            <a:ext cx="2532888" cy="1325880"/>
          </a:xfrm>
          <a:prstGeom prst="rect">
            <a:avLst/>
          </a:prstGeom>
          <a:noFill/>
          <a:ln/>
        </p:spPr>
        <p:txBody>
          <a:bodyPr wrap="square" rtlCol="0" anchor="t"/>
          <a:lstStyle/>
          <a:p>
            <a:pPr marL="0" indent="0">
              <a:lnSpc>
                <a:spcPct val="108000"/>
              </a:lnSpc>
              <a:buNone/>
            </a:pPr>
            <a:r>
              <a:rPr lang="en-US" sz="1150" dirty="0">
                <a:solidFill>
                  <a:srgbClr val="6E7488"/>
                </a:solidFill>
                <a:latin typeface="Calibri" pitchFamily="34" charset="0"/>
                <a:ea typeface="Calibri" pitchFamily="34" charset="-122"/>
                <a:cs typeface="Calibri" pitchFamily="34" charset="-120"/>
              </a:rPr>
              <a:t>Enable earlier interventions that raise overall outcomes.</a:t>
            </a:r>
            <a:endParaRPr lang="en-US" sz="1150" dirty="0"/>
          </a:p>
        </p:txBody>
      </p:sp>
      <p:sp>
        <p:nvSpPr>
          <p:cNvPr id="29" name="Shape 22"/>
          <p:cNvSpPr/>
          <p:nvPr/>
        </p:nvSpPr>
        <p:spPr>
          <a:xfrm>
            <a:off x="8046720" y="3639312"/>
            <a:ext cx="3584448" cy="1965960"/>
          </a:xfrm>
          <a:prstGeom prst="roundRect">
            <a:avLst>
              <a:gd name="adj" fmla="val 5581"/>
            </a:avLst>
          </a:prstGeom>
          <a:solidFill>
            <a:srgbClr val="FFFFFF"/>
          </a:solidFill>
          <a:ln/>
          <a:effectLst>
            <a:outerShdw blurRad="76200" dist="25400" dir="5400000" algn="bl" rotWithShape="0">
              <a:srgbClr val="1B1F3B">
                <a:alpha val="12000"/>
              </a:srgbClr>
            </a:outerShdw>
          </a:effectLst>
        </p:spPr>
      </p:sp>
      <p:sp>
        <p:nvSpPr>
          <p:cNvPr id="30" name="Shape 23"/>
          <p:cNvSpPr/>
          <p:nvPr/>
        </p:nvSpPr>
        <p:spPr>
          <a:xfrm>
            <a:off x="8247888" y="3840480"/>
            <a:ext cx="512064" cy="512064"/>
          </a:xfrm>
          <a:prstGeom prst="ellipse">
            <a:avLst/>
          </a:prstGeom>
          <a:solidFill>
            <a:srgbClr val="2F5CFF"/>
          </a:solidFill>
          <a:ln/>
        </p:spPr>
      </p:sp>
      <p:pic>
        <p:nvPicPr>
          <p:cNvPr id="31" name="Image 5" descr="preencoded.png"/>
          <p:cNvPicPr>
            <a:picLocks noChangeAspect="1"/>
          </p:cNvPicPr>
          <p:nvPr/>
        </p:nvPicPr>
        <p:blipFill>
          <a:blip r:embed="rId8"/>
          <a:stretch>
            <a:fillRect/>
          </a:stretch>
        </p:blipFill>
        <p:spPr>
          <a:xfrm>
            <a:off x="8381025" y="3973617"/>
            <a:ext cx="245791" cy="245791"/>
          </a:xfrm>
          <a:prstGeom prst="rect">
            <a:avLst/>
          </a:prstGeom>
        </p:spPr>
      </p:pic>
      <p:sp>
        <p:nvSpPr>
          <p:cNvPr id="32" name="Text 24"/>
          <p:cNvSpPr/>
          <p:nvPr/>
        </p:nvSpPr>
        <p:spPr>
          <a:xfrm>
            <a:off x="8915400" y="3803904"/>
            <a:ext cx="2532888" cy="320040"/>
          </a:xfrm>
          <a:prstGeom prst="rect">
            <a:avLst/>
          </a:prstGeom>
          <a:noFill/>
          <a:ln/>
        </p:spPr>
        <p:txBody>
          <a:bodyPr wrap="square" rtlCol="0" anchor="ctr"/>
          <a:lstStyle/>
          <a:p>
            <a:pPr marL="0" indent="0">
              <a:buNone/>
            </a:pPr>
            <a:r>
              <a:rPr lang="en-US" sz="1500" b="1" dirty="0">
                <a:solidFill>
                  <a:srgbClr val="1B1F3B"/>
                </a:solidFill>
                <a:latin typeface="Cambria" pitchFamily="34" charset="0"/>
                <a:ea typeface="Cambria" pitchFamily="34" charset="-122"/>
                <a:cs typeface="Cambria" pitchFamily="34" charset="-120"/>
              </a:rPr>
              <a:t>Build a Scalable Web App</a:t>
            </a:r>
            <a:endParaRPr lang="en-US" sz="1500" dirty="0"/>
          </a:p>
        </p:txBody>
      </p:sp>
      <p:sp>
        <p:nvSpPr>
          <p:cNvPr id="33" name="Text 25"/>
          <p:cNvSpPr/>
          <p:nvPr/>
        </p:nvSpPr>
        <p:spPr>
          <a:xfrm>
            <a:off x="8915400" y="4142232"/>
            <a:ext cx="2532888" cy="1325880"/>
          </a:xfrm>
          <a:prstGeom prst="rect">
            <a:avLst/>
          </a:prstGeom>
          <a:noFill/>
          <a:ln/>
        </p:spPr>
        <p:txBody>
          <a:bodyPr wrap="square" rtlCol="0" anchor="t"/>
          <a:lstStyle/>
          <a:p>
            <a:pPr marL="0" indent="0">
              <a:lnSpc>
                <a:spcPct val="108000"/>
              </a:lnSpc>
              <a:buNone/>
            </a:pPr>
            <a:r>
              <a:rPr lang="en-US" sz="1150" dirty="0">
                <a:solidFill>
                  <a:srgbClr val="6E7488"/>
                </a:solidFill>
                <a:latin typeface="Calibri" pitchFamily="34" charset="0"/>
                <a:ea typeface="Calibri" pitchFamily="34" charset="-122"/>
                <a:cs typeface="Calibri" pitchFamily="34" charset="-120"/>
              </a:rPr>
              <a:t>Deliver the model through a production-ready Flask application.</a:t>
            </a:r>
            <a:endParaRPr lang="en-US" sz="1150" dirty="0"/>
          </a:p>
        </p:txBody>
      </p:sp>
      <p:sp>
        <p:nvSpPr>
          <p:cNvPr id="34" name="Text 26"/>
          <p:cNvSpPr/>
          <p:nvPr/>
        </p:nvSpPr>
        <p:spPr>
          <a:xfrm>
            <a:off x="11475720" y="6510528"/>
            <a:ext cx="548640" cy="274320"/>
          </a:xfrm>
          <a:prstGeom prst="rect">
            <a:avLst/>
          </a:prstGeom>
          <a:noFill/>
          <a:ln/>
        </p:spPr>
        <p:txBody>
          <a:bodyPr wrap="square" rtlCol="0" anchor="ctr"/>
          <a:lstStyle/>
          <a:p>
            <a:pPr marL="0" indent="0" algn="r">
              <a:buNone/>
            </a:pPr>
            <a:r>
              <a:rPr lang="en-US" sz="1000" dirty="0">
                <a:solidFill>
                  <a:srgbClr val="6E7488"/>
                </a:solidFill>
                <a:latin typeface="Calibri" pitchFamily="34" charset="0"/>
                <a:ea typeface="Calibri" pitchFamily="34" charset="-122"/>
                <a:cs typeface="Calibri" pitchFamily="34" charset="-120"/>
              </a:rPr>
              <a:t>03</a:t>
            </a:r>
            <a:endParaRPr lang="en-US" sz="10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6F7FD"/>
        </a:solidFill>
        <a:effectLst/>
      </p:bgPr>
    </p:bg>
    <p:spTree>
      <p:nvGrpSpPr>
        <p:cNvPr id="1" name=""/>
        <p:cNvGrpSpPr/>
        <p:nvPr/>
      </p:nvGrpSpPr>
      <p:grpSpPr>
        <a:xfrm>
          <a:off x="0" y="0"/>
          <a:ext cx="0" cy="0"/>
          <a:chOff x="0" y="0"/>
          <a:chExt cx="0" cy="0"/>
        </a:xfrm>
      </p:grpSpPr>
      <p:sp>
        <p:nvSpPr>
          <p:cNvPr id="2" name="Text 0"/>
          <p:cNvSpPr/>
          <p:nvPr/>
        </p:nvSpPr>
        <p:spPr>
          <a:xfrm>
            <a:off x="548640" y="320040"/>
            <a:ext cx="7315200" cy="320040"/>
          </a:xfrm>
          <a:prstGeom prst="rect">
            <a:avLst/>
          </a:prstGeom>
          <a:noFill/>
          <a:ln/>
        </p:spPr>
        <p:txBody>
          <a:bodyPr wrap="square" rtlCol="0" anchor="ctr"/>
          <a:lstStyle/>
          <a:p>
            <a:pPr marL="0" indent="0">
              <a:buNone/>
            </a:pPr>
            <a:r>
              <a:rPr lang="en-US" sz="1300" b="1" kern="0" spc="200" dirty="0">
                <a:solidFill>
                  <a:srgbClr val="6C3CE9"/>
                </a:solidFill>
                <a:latin typeface="Calibri" pitchFamily="34" charset="0"/>
                <a:ea typeface="Calibri" pitchFamily="34" charset="-122"/>
                <a:cs typeface="Calibri" pitchFamily="34" charset="-120"/>
              </a:rPr>
              <a:t>SYSTEM DESIGN</a:t>
            </a:r>
            <a:endParaRPr lang="en-US" sz="1300" dirty="0"/>
          </a:p>
        </p:txBody>
      </p:sp>
      <p:sp>
        <p:nvSpPr>
          <p:cNvPr id="3" name="Text 1"/>
          <p:cNvSpPr/>
          <p:nvPr/>
        </p:nvSpPr>
        <p:spPr>
          <a:xfrm>
            <a:off x="548640" y="621792"/>
            <a:ext cx="10515600" cy="685800"/>
          </a:xfrm>
          <a:prstGeom prst="rect">
            <a:avLst/>
          </a:prstGeom>
          <a:noFill/>
          <a:ln/>
        </p:spPr>
        <p:txBody>
          <a:bodyPr wrap="square" rtlCol="0" anchor="ctr"/>
          <a:lstStyle/>
          <a:p>
            <a:pPr marL="0" indent="0">
              <a:buNone/>
            </a:pPr>
            <a:r>
              <a:rPr lang="en-US" sz="3200" b="1" dirty="0">
                <a:solidFill>
                  <a:srgbClr val="1B1F3B"/>
                </a:solidFill>
                <a:latin typeface="Cambria" pitchFamily="34" charset="0"/>
                <a:ea typeface="Cambria" pitchFamily="34" charset="-122"/>
                <a:cs typeface="Cambria" pitchFamily="34" charset="-120"/>
              </a:rPr>
              <a:t>System Architecture</a:t>
            </a:r>
            <a:endParaRPr lang="en-US" sz="3200" dirty="0"/>
          </a:p>
        </p:txBody>
      </p:sp>
      <p:sp>
        <p:nvSpPr>
          <p:cNvPr id="4" name="Shape 2"/>
          <p:cNvSpPr/>
          <p:nvPr/>
        </p:nvSpPr>
        <p:spPr>
          <a:xfrm>
            <a:off x="3246120" y="1417320"/>
            <a:ext cx="5669280" cy="603504"/>
          </a:xfrm>
          <a:prstGeom prst="roundRect">
            <a:avLst>
              <a:gd name="adj" fmla="val 13636"/>
            </a:avLst>
          </a:prstGeom>
          <a:solidFill>
            <a:srgbClr val="6C3CE9"/>
          </a:solidFill>
          <a:ln/>
        </p:spPr>
      </p:sp>
      <p:pic>
        <p:nvPicPr>
          <p:cNvPr id="5" name="Image 0" descr="preencoded.png"/>
          <p:cNvPicPr>
            <a:picLocks noChangeAspect="1"/>
          </p:cNvPicPr>
          <p:nvPr/>
        </p:nvPicPr>
        <p:blipFill>
          <a:blip r:embed="rId3"/>
          <a:stretch>
            <a:fillRect/>
          </a:stretch>
        </p:blipFill>
        <p:spPr>
          <a:xfrm>
            <a:off x="3419856" y="1591056"/>
            <a:ext cx="256032" cy="256032"/>
          </a:xfrm>
          <a:prstGeom prst="rect">
            <a:avLst/>
          </a:prstGeom>
        </p:spPr>
      </p:pic>
      <p:sp>
        <p:nvSpPr>
          <p:cNvPr id="6" name="Text 3"/>
          <p:cNvSpPr/>
          <p:nvPr/>
        </p:nvSpPr>
        <p:spPr>
          <a:xfrm>
            <a:off x="3840480" y="1463040"/>
            <a:ext cx="1920240" cy="512064"/>
          </a:xfrm>
          <a:prstGeom prst="rect">
            <a:avLst/>
          </a:prstGeom>
          <a:noFill/>
          <a:ln/>
        </p:spPr>
        <p:txBody>
          <a:bodyPr wrap="square" rtlCol="0" anchor="ctr"/>
          <a:lstStyle/>
          <a:p>
            <a:pPr marL="0" indent="0">
              <a:buNone/>
            </a:pPr>
            <a:r>
              <a:rPr lang="en-US" sz="1400" b="1" dirty="0">
                <a:solidFill>
                  <a:srgbClr val="FFFFFF"/>
                </a:solidFill>
                <a:latin typeface="Cambria" pitchFamily="34" charset="0"/>
                <a:ea typeface="Cambria" pitchFamily="34" charset="-122"/>
                <a:cs typeface="Cambria" pitchFamily="34" charset="-120"/>
              </a:rPr>
              <a:t>User</a:t>
            </a:r>
            <a:endParaRPr lang="en-US" sz="1400" dirty="0"/>
          </a:p>
        </p:txBody>
      </p:sp>
      <p:sp>
        <p:nvSpPr>
          <p:cNvPr id="7" name="Text 4"/>
          <p:cNvSpPr/>
          <p:nvPr/>
        </p:nvSpPr>
        <p:spPr>
          <a:xfrm>
            <a:off x="5760720" y="1463040"/>
            <a:ext cx="3063240" cy="512064"/>
          </a:xfrm>
          <a:prstGeom prst="rect">
            <a:avLst/>
          </a:prstGeom>
          <a:noFill/>
          <a:ln/>
        </p:spPr>
        <p:txBody>
          <a:bodyPr wrap="square" rtlCol="0" anchor="ctr"/>
          <a:lstStyle/>
          <a:p>
            <a:pPr marL="0" indent="0">
              <a:buNone/>
            </a:pPr>
            <a:r>
              <a:rPr lang="en-US" sz="1050" dirty="0">
                <a:solidFill>
                  <a:srgbClr val="E7E9FA"/>
                </a:solidFill>
                <a:latin typeface="Calibri" pitchFamily="34" charset="0"/>
                <a:ea typeface="Calibri" pitchFamily="34" charset="-122"/>
                <a:cs typeface="Calibri" pitchFamily="34" charset="-120"/>
              </a:rPr>
              <a:t>Student / Teacher / Admin interacts with the system</a:t>
            </a:r>
            <a:endParaRPr lang="en-US" sz="1050" dirty="0"/>
          </a:p>
        </p:txBody>
      </p:sp>
      <p:sp>
        <p:nvSpPr>
          <p:cNvPr id="8" name="Shape 5"/>
          <p:cNvSpPr/>
          <p:nvPr/>
        </p:nvSpPr>
        <p:spPr>
          <a:xfrm>
            <a:off x="6080760" y="2020824"/>
            <a:ext cx="914" cy="132588"/>
          </a:xfrm>
          <a:prstGeom prst="line">
            <a:avLst/>
          </a:prstGeom>
          <a:noFill/>
          <a:ln w="19050">
            <a:solidFill>
              <a:srgbClr val="6E7488"/>
            </a:solidFill>
            <a:prstDash val="solid"/>
            <a:tailEnd type="triangle"/>
          </a:ln>
        </p:spPr>
      </p:sp>
      <p:sp>
        <p:nvSpPr>
          <p:cNvPr id="9" name="Shape 6"/>
          <p:cNvSpPr/>
          <p:nvPr/>
        </p:nvSpPr>
        <p:spPr>
          <a:xfrm>
            <a:off x="3246120" y="2153412"/>
            <a:ext cx="5669280" cy="603504"/>
          </a:xfrm>
          <a:prstGeom prst="roundRect">
            <a:avLst>
              <a:gd name="adj" fmla="val 13636"/>
            </a:avLst>
          </a:prstGeom>
          <a:solidFill>
            <a:srgbClr val="2F5CFF"/>
          </a:solidFill>
          <a:ln/>
        </p:spPr>
      </p:sp>
      <p:pic>
        <p:nvPicPr>
          <p:cNvPr id="10" name="Image 1" descr="preencoded.png"/>
          <p:cNvPicPr>
            <a:picLocks noChangeAspect="1"/>
          </p:cNvPicPr>
          <p:nvPr/>
        </p:nvPicPr>
        <p:blipFill>
          <a:blip r:embed="rId4"/>
          <a:stretch>
            <a:fillRect/>
          </a:stretch>
        </p:blipFill>
        <p:spPr>
          <a:xfrm>
            <a:off x="3419856" y="2327148"/>
            <a:ext cx="256032" cy="256032"/>
          </a:xfrm>
          <a:prstGeom prst="rect">
            <a:avLst/>
          </a:prstGeom>
        </p:spPr>
      </p:pic>
      <p:sp>
        <p:nvSpPr>
          <p:cNvPr id="11" name="Text 7"/>
          <p:cNvSpPr/>
          <p:nvPr/>
        </p:nvSpPr>
        <p:spPr>
          <a:xfrm>
            <a:off x="3840480" y="2199132"/>
            <a:ext cx="1920240" cy="512064"/>
          </a:xfrm>
          <a:prstGeom prst="rect">
            <a:avLst/>
          </a:prstGeom>
          <a:noFill/>
          <a:ln/>
        </p:spPr>
        <p:txBody>
          <a:bodyPr wrap="square" rtlCol="0" anchor="ctr"/>
          <a:lstStyle/>
          <a:p>
            <a:pPr marL="0" indent="0">
              <a:buNone/>
            </a:pPr>
            <a:r>
              <a:rPr lang="en-US" sz="1400" b="1" dirty="0">
                <a:solidFill>
                  <a:srgbClr val="FFFFFF"/>
                </a:solidFill>
                <a:latin typeface="Cambria" pitchFamily="34" charset="0"/>
                <a:ea typeface="Cambria" pitchFamily="34" charset="-122"/>
                <a:cs typeface="Cambria" pitchFamily="34" charset="-120"/>
              </a:rPr>
              <a:t>Frontend</a:t>
            </a:r>
            <a:endParaRPr lang="en-US" sz="1400" dirty="0"/>
          </a:p>
        </p:txBody>
      </p:sp>
      <p:sp>
        <p:nvSpPr>
          <p:cNvPr id="12" name="Text 8"/>
          <p:cNvSpPr/>
          <p:nvPr/>
        </p:nvSpPr>
        <p:spPr>
          <a:xfrm>
            <a:off x="5760720" y="2199132"/>
            <a:ext cx="3063240" cy="512064"/>
          </a:xfrm>
          <a:prstGeom prst="rect">
            <a:avLst/>
          </a:prstGeom>
          <a:noFill/>
          <a:ln/>
        </p:spPr>
        <p:txBody>
          <a:bodyPr wrap="square" rtlCol="0" anchor="ctr"/>
          <a:lstStyle/>
          <a:p>
            <a:pPr marL="0" indent="0">
              <a:buNone/>
            </a:pPr>
            <a:r>
              <a:rPr lang="en-US" sz="1050" dirty="0">
                <a:solidFill>
                  <a:srgbClr val="E7E9FA"/>
                </a:solidFill>
                <a:latin typeface="Calibri" pitchFamily="34" charset="0"/>
                <a:ea typeface="Calibri" pitchFamily="34" charset="-122"/>
                <a:cs typeface="Calibri" pitchFamily="34" charset="-120"/>
              </a:rPr>
              <a:t>HTML, CSS, Bootstrap &amp; JavaScript</a:t>
            </a:r>
            <a:endParaRPr lang="en-US" sz="1050" dirty="0"/>
          </a:p>
        </p:txBody>
      </p:sp>
      <p:sp>
        <p:nvSpPr>
          <p:cNvPr id="13" name="Shape 9"/>
          <p:cNvSpPr/>
          <p:nvPr/>
        </p:nvSpPr>
        <p:spPr>
          <a:xfrm>
            <a:off x="6080760" y="2756916"/>
            <a:ext cx="914" cy="132588"/>
          </a:xfrm>
          <a:prstGeom prst="line">
            <a:avLst/>
          </a:prstGeom>
          <a:noFill/>
          <a:ln w="19050">
            <a:solidFill>
              <a:srgbClr val="6E7488"/>
            </a:solidFill>
            <a:prstDash val="solid"/>
            <a:tailEnd type="triangle"/>
          </a:ln>
        </p:spPr>
      </p:sp>
      <p:sp>
        <p:nvSpPr>
          <p:cNvPr id="14" name="Shape 10"/>
          <p:cNvSpPr/>
          <p:nvPr/>
        </p:nvSpPr>
        <p:spPr>
          <a:xfrm>
            <a:off x="3246120" y="2889504"/>
            <a:ext cx="5669280" cy="603504"/>
          </a:xfrm>
          <a:prstGeom prst="roundRect">
            <a:avLst>
              <a:gd name="adj" fmla="val 13636"/>
            </a:avLst>
          </a:prstGeom>
          <a:solidFill>
            <a:srgbClr val="141A45"/>
          </a:solidFill>
          <a:ln/>
        </p:spPr>
      </p:sp>
      <p:pic>
        <p:nvPicPr>
          <p:cNvPr id="15" name="Image 2" descr="preencoded.png"/>
          <p:cNvPicPr>
            <a:picLocks noChangeAspect="1"/>
          </p:cNvPicPr>
          <p:nvPr/>
        </p:nvPicPr>
        <p:blipFill>
          <a:blip r:embed="rId5"/>
          <a:stretch>
            <a:fillRect/>
          </a:stretch>
        </p:blipFill>
        <p:spPr>
          <a:xfrm>
            <a:off x="3419856" y="3063240"/>
            <a:ext cx="256032" cy="256032"/>
          </a:xfrm>
          <a:prstGeom prst="rect">
            <a:avLst/>
          </a:prstGeom>
        </p:spPr>
      </p:pic>
      <p:sp>
        <p:nvSpPr>
          <p:cNvPr id="16" name="Text 11"/>
          <p:cNvSpPr/>
          <p:nvPr/>
        </p:nvSpPr>
        <p:spPr>
          <a:xfrm>
            <a:off x="3840480" y="2935224"/>
            <a:ext cx="1920240" cy="512064"/>
          </a:xfrm>
          <a:prstGeom prst="rect">
            <a:avLst/>
          </a:prstGeom>
          <a:noFill/>
          <a:ln/>
        </p:spPr>
        <p:txBody>
          <a:bodyPr wrap="square" rtlCol="0" anchor="ctr"/>
          <a:lstStyle/>
          <a:p>
            <a:pPr marL="0" indent="0">
              <a:buNone/>
            </a:pPr>
            <a:r>
              <a:rPr lang="en-US" sz="1400" b="1" dirty="0">
                <a:solidFill>
                  <a:srgbClr val="FFFFFF"/>
                </a:solidFill>
                <a:latin typeface="Cambria" pitchFamily="34" charset="0"/>
                <a:ea typeface="Cambria" pitchFamily="34" charset="-122"/>
                <a:cs typeface="Cambria" pitchFamily="34" charset="-120"/>
              </a:rPr>
              <a:t>Flask Backend</a:t>
            </a:r>
            <a:endParaRPr lang="en-US" sz="1400" dirty="0"/>
          </a:p>
        </p:txBody>
      </p:sp>
      <p:sp>
        <p:nvSpPr>
          <p:cNvPr id="17" name="Text 12"/>
          <p:cNvSpPr/>
          <p:nvPr/>
        </p:nvSpPr>
        <p:spPr>
          <a:xfrm>
            <a:off x="5760720" y="2935224"/>
            <a:ext cx="3063240" cy="512064"/>
          </a:xfrm>
          <a:prstGeom prst="rect">
            <a:avLst/>
          </a:prstGeom>
          <a:noFill/>
          <a:ln/>
        </p:spPr>
        <p:txBody>
          <a:bodyPr wrap="square" rtlCol="0" anchor="ctr"/>
          <a:lstStyle/>
          <a:p>
            <a:pPr marL="0" indent="0">
              <a:buNone/>
            </a:pPr>
            <a:r>
              <a:rPr lang="en-US" sz="1050" dirty="0">
                <a:solidFill>
                  <a:srgbClr val="E7E9FA"/>
                </a:solidFill>
                <a:latin typeface="Calibri" pitchFamily="34" charset="0"/>
                <a:ea typeface="Calibri" pitchFamily="34" charset="-122"/>
                <a:cs typeface="Calibri" pitchFamily="34" charset="-120"/>
              </a:rPr>
              <a:t>Routes, authentication &amp; business logic</a:t>
            </a:r>
            <a:endParaRPr lang="en-US" sz="1050" dirty="0"/>
          </a:p>
        </p:txBody>
      </p:sp>
      <p:sp>
        <p:nvSpPr>
          <p:cNvPr id="18" name="Shape 13"/>
          <p:cNvSpPr/>
          <p:nvPr/>
        </p:nvSpPr>
        <p:spPr>
          <a:xfrm>
            <a:off x="6080760" y="3493008"/>
            <a:ext cx="914" cy="132588"/>
          </a:xfrm>
          <a:prstGeom prst="line">
            <a:avLst/>
          </a:prstGeom>
          <a:noFill/>
          <a:ln w="19050">
            <a:solidFill>
              <a:srgbClr val="6E7488"/>
            </a:solidFill>
            <a:prstDash val="solid"/>
            <a:tailEnd type="triangle"/>
          </a:ln>
        </p:spPr>
      </p:sp>
      <p:sp>
        <p:nvSpPr>
          <p:cNvPr id="19" name="Shape 14"/>
          <p:cNvSpPr/>
          <p:nvPr/>
        </p:nvSpPr>
        <p:spPr>
          <a:xfrm>
            <a:off x="3246120" y="3625596"/>
            <a:ext cx="5669280" cy="603504"/>
          </a:xfrm>
          <a:prstGeom prst="roundRect">
            <a:avLst>
              <a:gd name="adj" fmla="val 13636"/>
            </a:avLst>
          </a:prstGeom>
          <a:solidFill>
            <a:srgbClr val="2F5CFF"/>
          </a:solidFill>
          <a:ln/>
        </p:spPr>
      </p:sp>
      <p:pic>
        <p:nvPicPr>
          <p:cNvPr id="20" name="Image 3" descr="preencoded.png"/>
          <p:cNvPicPr>
            <a:picLocks noChangeAspect="1"/>
          </p:cNvPicPr>
          <p:nvPr/>
        </p:nvPicPr>
        <p:blipFill>
          <a:blip r:embed="rId6"/>
          <a:stretch>
            <a:fillRect/>
          </a:stretch>
        </p:blipFill>
        <p:spPr>
          <a:xfrm>
            <a:off x="3419856" y="3799332"/>
            <a:ext cx="256032" cy="256032"/>
          </a:xfrm>
          <a:prstGeom prst="rect">
            <a:avLst/>
          </a:prstGeom>
        </p:spPr>
      </p:pic>
      <p:sp>
        <p:nvSpPr>
          <p:cNvPr id="21" name="Text 15"/>
          <p:cNvSpPr/>
          <p:nvPr/>
        </p:nvSpPr>
        <p:spPr>
          <a:xfrm>
            <a:off x="3840480" y="3671316"/>
            <a:ext cx="1920240" cy="512064"/>
          </a:xfrm>
          <a:prstGeom prst="rect">
            <a:avLst/>
          </a:prstGeom>
          <a:noFill/>
          <a:ln/>
        </p:spPr>
        <p:txBody>
          <a:bodyPr wrap="square" rtlCol="0" anchor="ctr"/>
          <a:lstStyle/>
          <a:p>
            <a:pPr marL="0" indent="0">
              <a:buNone/>
            </a:pPr>
            <a:r>
              <a:rPr lang="en-US" sz="1400" b="1" dirty="0">
                <a:solidFill>
                  <a:srgbClr val="FFFFFF"/>
                </a:solidFill>
                <a:latin typeface="Cambria" pitchFamily="34" charset="0"/>
                <a:ea typeface="Cambria" pitchFamily="34" charset="-122"/>
                <a:cs typeface="Cambria" pitchFamily="34" charset="-120"/>
              </a:rPr>
              <a:t>ML Model</a:t>
            </a:r>
            <a:endParaRPr lang="en-US" sz="1400" dirty="0"/>
          </a:p>
        </p:txBody>
      </p:sp>
      <p:sp>
        <p:nvSpPr>
          <p:cNvPr id="22" name="Text 16"/>
          <p:cNvSpPr/>
          <p:nvPr/>
        </p:nvSpPr>
        <p:spPr>
          <a:xfrm>
            <a:off x="5760720" y="3671316"/>
            <a:ext cx="3063240" cy="512064"/>
          </a:xfrm>
          <a:prstGeom prst="rect">
            <a:avLst/>
          </a:prstGeom>
          <a:noFill/>
          <a:ln/>
        </p:spPr>
        <p:txBody>
          <a:bodyPr wrap="square" rtlCol="0" anchor="ctr"/>
          <a:lstStyle/>
          <a:p>
            <a:pPr marL="0" indent="0">
              <a:buNone/>
            </a:pPr>
            <a:r>
              <a:rPr lang="en-US" sz="1050" dirty="0">
                <a:solidFill>
                  <a:srgbClr val="E7E9FA"/>
                </a:solidFill>
                <a:latin typeface="Calibri" pitchFamily="34" charset="0"/>
                <a:ea typeface="Calibri" pitchFamily="34" charset="-122"/>
                <a:cs typeface="Calibri" pitchFamily="34" charset="-120"/>
              </a:rPr>
              <a:t>Trained classifier scores the request</a:t>
            </a:r>
            <a:endParaRPr lang="en-US" sz="1050" dirty="0"/>
          </a:p>
        </p:txBody>
      </p:sp>
      <p:sp>
        <p:nvSpPr>
          <p:cNvPr id="23" name="Shape 17"/>
          <p:cNvSpPr/>
          <p:nvPr/>
        </p:nvSpPr>
        <p:spPr>
          <a:xfrm>
            <a:off x="6080760" y="4229100"/>
            <a:ext cx="914" cy="132588"/>
          </a:xfrm>
          <a:prstGeom prst="line">
            <a:avLst/>
          </a:prstGeom>
          <a:noFill/>
          <a:ln w="19050">
            <a:solidFill>
              <a:srgbClr val="6E7488"/>
            </a:solidFill>
            <a:prstDash val="solid"/>
            <a:tailEnd type="triangle"/>
          </a:ln>
        </p:spPr>
      </p:sp>
      <p:sp>
        <p:nvSpPr>
          <p:cNvPr id="24" name="Shape 18"/>
          <p:cNvSpPr/>
          <p:nvPr/>
        </p:nvSpPr>
        <p:spPr>
          <a:xfrm>
            <a:off x="3246120" y="4361688"/>
            <a:ext cx="5669280" cy="603504"/>
          </a:xfrm>
          <a:prstGeom prst="roundRect">
            <a:avLst>
              <a:gd name="adj" fmla="val 13636"/>
            </a:avLst>
          </a:prstGeom>
          <a:solidFill>
            <a:srgbClr val="141A45"/>
          </a:solidFill>
          <a:ln/>
        </p:spPr>
      </p:sp>
      <p:pic>
        <p:nvPicPr>
          <p:cNvPr id="25" name="Image 4" descr="preencoded.png"/>
          <p:cNvPicPr>
            <a:picLocks noChangeAspect="1"/>
          </p:cNvPicPr>
          <p:nvPr/>
        </p:nvPicPr>
        <p:blipFill>
          <a:blip r:embed="rId7"/>
          <a:stretch>
            <a:fillRect/>
          </a:stretch>
        </p:blipFill>
        <p:spPr>
          <a:xfrm>
            <a:off x="3419856" y="4535424"/>
            <a:ext cx="256032" cy="256032"/>
          </a:xfrm>
          <a:prstGeom prst="rect">
            <a:avLst/>
          </a:prstGeom>
        </p:spPr>
      </p:pic>
      <p:sp>
        <p:nvSpPr>
          <p:cNvPr id="26" name="Text 19"/>
          <p:cNvSpPr/>
          <p:nvPr/>
        </p:nvSpPr>
        <p:spPr>
          <a:xfrm>
            <a:off x="3840480" y="4407408"/>
            <a:ext cx="1920240" cy="512064"/>
          </a:xfrm>
          <a:prstGeom prst="rect">
            <a:avLst/>
          </a:prstGeom>
          <a:noFill/>
          <a:ln/>
        </p:spPr>
        <p:txBody>
          <a:bodyPr wrap="square" rtlCol="0" anchor="ctr"/>
          <a:lstStyle/>
          <a:p>
            <a:pPr marL="0" indent="0">
              <a:buNone/>
            </a:pPr>
            <a:r>
              <a:rPr lang="en-US" sz="1400" b="1" dirty="0">
                <a:solidFill>
                  <a:srgbClr val="FFFFFF"/>
                </a:solidFill>
                <a:latin typeface="Cambria" pitchFamily="34" charset="0"/>
                <a:ea typeface="Cambria" pitchFamily="34" charset="-122"/>
                <a:cs typeface="Cambria" pitchFamily="34" charset="-120"/>
              </a:rPr>
              <a:t>SQLite Database</a:t>
            </a:r>
            <a:endParaRPr lang="en-US" sz="1400" dirty="0"/>
          </a:p>
        </p:txBody>
      </p:sp>
      <p:sp>
        <p:nvSpPr>
          <p:cNvPr id="27" name="Text 20"/>
          <p:cNvSpPr/>
          <p:nvPr/>
        </p:nvSpPr>
        <p:spPr>
          <a:xfrm>
            <a:off x="5760720" y="4407408"/>
            <a:ext cx="3063240" cy="512064"/>
          </a:xfrm>
          <a:prstGeom prst="rect">
            <a:avLst/>
          </a:prstGeom>
          <a:noFill/>
          <a:ln/>
        </p:spPr>
        <p:txBody>
          <a:bodyPr wrap="square" rtlCol="0" anchor="ctr"/>
          <a:lstStyle/>
          <a:p>
            <a:pPr marL="0" indent="0">
              <a:buNone/>
            </a:pPr>
            <a:r>
              <a:rPr lang="en-US" sz="1050" dirty="0">
                <a:solidFill>
                  <a:srgbClr val="E7E9FA"/>
                </a:solidFill>
                <a:latin typeface="Calibri" pitchFamily="34" charset="0"/>
                <a:ea typeface="Calibri" pitchFamily="34" charset="-122"/>
                <a:cs typeface="Calibri" pitchFamily="34" charset="-120"/>
              </a:rPr>
              <a:t>Stores users, predictions &amp; feedback</a:t>
            </a:r>
            <a:endParaRPr lang="en-US" sz="1050" dirty="0"/>
          </a:p>
        </p:txBody>
      </p:sp>
      <p:sp>
        <p:nvSpPr>
          <p:cNvPr id="28" name="Shape 21"/>
          <p:cNvSpPr/>
          <p:nvPr/>
        </p:nvSpPr>
        <p:spPr>
          <a:xfrm>
            <a:off x="6080760" y="4965192"/>
            <a:ext cx="914" cy="132588"/>
          </a:xfrm>
          <a:prstGeom prst="line">
            <a:avLst/>
          </a:prstGeom>
          <a:noFill/>
          <a:ln w="19050">
            <a:solidFill>
              <a:srgbClr val="6E7488"/>
            </a:solidFill>
            <a:prstDash val="solid"/>
            <a:tailEnd type="triangle"/>
          </a:ln>
        </p:spPr>
      </p:sp>
      <p:sp>
        <p:nvSpPr>
          <p:cNvPr id="29" name="Shape 22"/>
          <p:cNvSpPr/>
          <p:nvPr/>
        </p:nvSpPr>
        <p:spPr>
          <a:xfrm>
            <a:off x="3246120" y="5097780"/>
            <a:ext cx="5669280" cy="603504"/>
          </a:xfrm>
          <a:prstGeom prst="roundRect">
            <a:avLst>
              <a:gd name="adj" fmla="val 13636"/>
            </a:avLst>
          </a:prstGeom>
          <a:solidFill>
            <a:srgbClr val="2F5CFF"/>
          </a:solidFill>
          <a:ln/>
        </p:spPr>
      </p:sp>
      <p:pic>
        <p:nvPicPr>
          <p:cNvPr id="30" name="Image 5" descr="preencoded.png"/>
          <p:cNvPicPr>
            <a:picLocks noChangeAspect="1"/>
          </p:cNvPicPr>
          <p:nvPr/>
        </p:nvPicPr>
        <p:blipFill>
          <a:blip r:embed="rId8"/>
          <a:stretch>
            <a:fillRect/>
          </a:stretch>
        </p:blipFill>
        <p:spPr>
          <a:xfrm>
            <a:off x="3419856" y="5271516"/>
            <a:ext cx="256032" cy="256032"/>
          </a:xfrm>
          <a:prstGeom prst="rect">
            <a:avLst/>
          </a:prstGeom>
        </p:spPr>
      </p:pic>
      <p:sp>
        <p:nvSpPr>
          <p:cNvPr id="31" name="Text 23"/>
          <p:cNvSpPr/>
          <p:nvPr/>
        </p:nvSpPr>
        <p:spPr>
          <a:xfrm>
            <a:off x="3840480" y="5143500"/>
            <a:ext cx="1920240" cy="512064"/>
          </a:xfrm>
          <a:prstGeom prst="rect">
            <a:avLst/>
          </a:prstGeom>
          <a:noFill/>
          <a:ln/>
        </p:spPr>
        <p:txBody>
          <a:bodyPr wrap="square" rtlCol="0" anchor="ctr"/>
          <a:lstStyle/>
          <a:p>
            <a:pPr marL="0" indent="0">
              <a:buNone/>
            </a:pPr>
            <a:r>
              <a:rPr lang="en-US" sz="1400" b="1" dirty="0">
                <a:solidFill>
                  <a:srgbClr val="FFFFFF"/>
                </a:solidFill>
                <a:latin typeface="Cambria" pitchFamily="34" charset="0"/>
                <a:ea typeface="Cambria" pitchFamily="34" charset="-122"/>
                <a:cs typeface="Cambria" pitchFamily="34" charset="-120"/>
              </a:rPr>
              <a:t>Prediction Engine</a:t>
            </a:r>
            <a:endParaRPr lang="en-US" sz="1400" dirty="0"/>
          </a:p>
        </p:txBody>
      </p:sp>
      <p:sp>
        <p:nvSpPr>
          <p:cNvPr id="32" name="Text 24"/>
          <p:cNvSpPr/>
          <p:nvPr/>
        </p:nvSpPr>
        <p:spPr>
          <a:xfrm>
            <a:off x="5760720" y="5143500"/>
            <a:ext cx="3063240" cy="512064"/>
          </a:xfrm>
          <a:prstGeom prst="rect">
            <a:avLst/>
          </a:prstGeom>
          <a:noFill/>
          <a:ln/>
        </p:spPr>
        <p:txBody>
          <a:bodyPr wrap="square" rtlCol="0" anchor="ctr"/>
          <a:lstStyle/>
          <a:p>
            <a:pPr marL="0" indent="0">
              <a:buNone/>
            </a:pPr>
            <a:r>
              <a:rPr lang="en-US" sz="1050" dirty="0">
                <a:solidFill>
                  <a:srgbClr val="E7E9FA"/>
                </a:solidFill>
                <a:latin typeface="Calibri" pitchFamily="34" charset="0"/>
                <a:ea typeface="Calibri" pitchFamily="34" charset="-122"/>
                <a:cs typeface="Calibri" pitchFamily="34" charset="-120"/>
              </a:rPr>
              <a:t>Formats result &amp; builds recommendations</a:t>
            </a:r>
            <a:endParaRPr lang="en-US" sz="1050" dirty="0"/>
          </a:p>
        </p:txBody>
      </p:sp>
      <p:sp>
        <p:nvSpPr>
          <p:cNvPr id="33" name="Shape 25"/>
          <p:cNvSpPr/>
          <p:nvPr/>
        </p:nvSpPr>
        <p:spPr>
          <a:xfrm>
            <a:off x="6080760" y="5701284"/>
            <a:ext cx="914" cy="132588"/>
          </a:xfrm>
          <a:prstGeom prst="line">
            <a:avLst/>
          </a:prstGeom>
          <a:noFill/>
          <a:ln w="19050">
            <a:solidFill>
              <a:srgbClr val="6E7488"/>
            </a:solidFill>
            <a:prstDash val="solid"/>
            <a:tailEnd type="triangle"/>
          </a:ln>
        </p:spPr>
      </p:sp>
      <p:sp>
        <p:nvSpPr>
          <p:cNvPr id="34" name="Shape 26"/>
          <p:cNvSpPr/>
          <p:nvPr/>
        </p:nvSpPr>
        <p:spPr>
          <a:xfrm>
            <a:off x="3246120" y="5833872"/>
            <a:ext cx="5669280" cy="603504"/>
          </a:xfrm>
          <a:prstGeom prst="roundRect">
            <a:avLst>
              <a:gd name="adj" fmla="val 13636"/>
            </a:avLst>
          </a:prstGeom>
          <a:solidFill>
            <a:srgbClr val="141A45"/>
          </a:solidFill>
          <a:ln/>
        </p:spPr>
      </p:sp>
      <p:pic>
        <p:nvPicPr>
          <p:cNvPr id="35" name="Image 6" descr="preencoded.png"/>
          <p:cNvPicPr>
            <a:picLocks noChangeAspect="1"/>
          </p:cNvPicPr>
          <p:nvPr/>
        </p:nvPicPr>
        <p:blipFill>
          <a:blip r:embed="rId9"/>
          <a:stretch>
            <a:fillRect/>
          </a:stretch>
        </p:blipFill>
        <p:spPr>
          <a:xfrm>
            <a:off x="3419856" y="6007608"/>
            <a:ext cx="256032" cy="256032"/>
          </a:xfrm>
          <a:prstGeom prst="rect">
            <a:avLst/>
          </a:prstGeom>
        </p:spPr>
      </p:pic>
      <p:sp>
        <p:nvSpPr>
          <p:cNvPr id="36" name="Text 27"/>
          <p:cNvSpPr/>
          <p:nvPr/>
        </p:nvSpPr>
        <p:spPr>
          <a:xfrm>
            <a:off x="3840480" y="5879592"/>
            <a:ext cx="1920240" cy="512064"/>
          </a:xfrm>
          <a:prstGeom prst="rect">
            <a:avLst/>
          </a:prstGeom>
          <a:noFill/>
          <a:ln/>
        </p:spPr>
        <p:txBody>
          <a:bodyPr wrap="square" rtlCol="0" anchor="ctr"/>
          <a:lstStyle/>
          <a:p>
            <a:pPr marL="0" indent="0">
              <a:buNone/>
            </a:pPr>
            <a:r>
              <a:rPr lang="en-US" sz="1400" b="1" dirty="0">
                <a:solidFill>
                  <a:srgbClr val="FFFFFF"/>
                </a:solidFill>
                <a:latin typeface="Cambria" pitchFamily="34" charset="0"/>
                <a:ea typeface="Cambria" pitchFamily="34" charset="-122"/>
                <a:cs typeface="Cambria" pitchFamily="34" charset="-120"/>
              </a:rPr>
              <a:t>Dashboard &amp; Reports</a:t>
            </a:r>
            <a:endParaRPr lang="en-US" sz="1400" dirty="0"/>
          </a:p>
        </p:txBody>
      </p:sp>
      <p:sp>
        <p:nvSpPr>
          <p:cNvPr id="37" name="Text 28"/>
          <p:cNvSpPr/>
          <p:nvPr/>
        </p:nvSpPr>
        <p:spPr>
          <a:xfrm>
            <a:off x="5760720" y="5879592"/>
            <a:ext cx="3063240" cy="512064"/>
          </a:xfrm>
          <a:prstGeom prst="rect">
            <a:avLst/>
          </a:prstGeom>
          <a:noFill/>
          <a:ln/>
        </p:spPr>
        <p:txBody>
          <a:bodyPr wrap="square" rtlCol="0" anchor="ctr"/>
          <a:lstStyle/>
          <a:p>
            <a:pPr marL="0" indent="0">
              <a:buNone/>
            </a:pPr>
            <a:r>
              <a:rPr lang="en-US" sz="1050" dirty="0">
                <a:solidFill>
                  <a:srgbClr val="E7E9FA"/>
                </a:solidFill>
                <a:latin typeface="Calibri" pitchFamily="34" charset="0"/>
                <a:ea typeface="Calibri" pitchFamily="34" charset="-122"/>
                <a:cs typeface="Calibri" pitchFamily="34" charset="-120"/>
              </a:rPr>
              <a:t>Analytics, history &amp; CSV export</a:t>
            </a:r>
            <a:endParaRPr lang="en-US" sz="1050" dirty="0"/>
          </a:p>
        </p:txBody>
      </p:sp>
      <p:sp>
        <p:nvSpPr>
          <p:cNvPr id="38" name="Text 29"/>
          <p:cNvSpPr/>
          <p:nvPr/>
        </p:nvSpPr>
        <p:spPr>
          <a:xfrm>
            <a:off x="11475720" y="6510528"/>
            <a:ext cx="548640" cy="274320"/>
          </a:xfrm>
          <a:prstGeom prst="rect">
            <a:avLst/>
          </a:prstGeom>
          <a:noFill/>
          <a:ln/>
        </p:spPr>
        <p:txBody>
          <a:bodyPr wrap="square" rtlCol="0" anchor="ctr"/>
          <a:lstStyle/>
          <a:p>
            <a:pPr marL="0" indent="0" algn="r">
              <a:buNone/>
            </a:pPr>
            <a:r>
              <a:rPr lang="en-US" sz="1000" dirty="0">
                <a:solidFill>
                  <a:srgbClr val="6E7488"/>
                </a:solidFill>
                <a:latin typeface="Calibri" pitchFamily="34" charset="0"/>
                <a:ea typeface="Calibri" pitchFamily="34" charset="-122"/>
                <a:cs typeface="Calibri" pitchFamily="34" charset="-120"/>
              </a:rPr>
              <a:t>04</a:t>
            </a:r>
            <a:endParaRPr lang="en-US" sz="10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6F7FD"/>
        </a:solidFill>
        <a:effectLst/>
      </p:bgPr>
    </p:bg>
    <p:spTree>
      <p:nvGrpSpPr>
        <p:cNvPr id="1" name=""/>
        <p:cNvGrpSpPr/>
        <p:nvPr/>
      </p:nvGrpSpPr>
      <p:grpSpPr>
        <a:xfrm>
          <a:off x="0" y="0"/>
          <a:ext cx="0" cy="0"/>
          <a:chOff x="0" y="0"/>
          <a:chExt cx="0" cy="0"/>
        </a:xfrm>
      </p:grpSpPr>
      <p:sp>
        <p:nvSpPr>
          <p:cNvPr id="2" name="Text 0"/>
          <p:cNvSpPr/>
          <p:nvPr/>
        </p:nvSpPr>
        <p:spPr>
          <a:xfrm>
            <a:off x="548640" y="320040"/>
            <a:ext cx="7315200" cy="320040"/>
          </a:xfrm>
          <a:prstGeom prst="rect">
            <a:avLst/>
          </a:prstGeom>
          <a:noFill/>
          <a:ln/>
        </p:spPr>
        <p:txBody>
          <a:bodyPr wrap="square" rtlCol="0" anchor="ctr"/>
          <a:lstStyle/>
          <a:p>
            <a:pPr marL="0" indent="0">
              <a:buNone/>
            </a:pPr>
            <a:r>
              <a:rPr lang="en-US" sz="1300" b="1" kern="0" spc="200" dirty="0">
                <a:solidFill>
                  <a:srgbClr val="6C3CE9"/>
                </a:solidFill>
                <a:latin typeface="Calibri" pitchFamily="34" charset="0"/>
                <a:ea typeface="Calibri" pitchFamily="34" charset="-122"/>
                <a:cs typeface="Calibri" pitchFamily="34" charset="-120"/>
              </a:rPr>
              <a:t>TECH STACK</a:t>
            </a:r>
            <a:endParaRPr lang="en-US" sz="1300" dirty="0"/>
          </a:p>
        </p:txBody>
      </p:sp>
      <p:sp>
        <p:nvSpPr>
          <p:cNvPr id="3" name="Text 1"/>
          <p:cNvSpPr/>
          <p:nvPr/>
        </p:nvSpPr>
        <p:spPr>
          <a:xfrm>
            <a:off x="548640" y="621792"/>
            <a:ext cx="10515600" cy="685800"/>
          </a:xfrm>
          <a:prstGeom prst="rect">
            <a:avLst/>
          </a:prstGeom>
          <a:noFill/>
          <a:ln/>
        </p:spPr>
        <p:txBody>
          <a:bodyPr wrap="square" rtlCol="0" anchor="ctr"/>
          <a:lstStyle/>
          <a:p>
            <a:pPr marL="0" indent="0">
              <a:buNone/>
            </a:pPr>
            <a:r>
              <a:rPr lang="en-US" sz="3200" b="1" dirty="0">
                <a:solidFill>
                  <a:srgbClr val="1B1F3B"/>
                </a:solidFill>
                <a:latin typeface="Cambria" pitchFamily="34" charset="0"/>
                <a:ea typeface="Cambria" pitchFamily="34" charset="-122"/>
                <a:cs typeface="Cambria" pitchFamily="34" charset="-120"/>
              </a:rPr>
              <a:t>Technology Stack</a:t>
            </a:r>
            <a:endParaRPr lang="en-US" sz="3200" dirty="0"/>
          </a:p>
        </p:txBody>
      </p:sp>
      <p:sp>
        <p:nvSpPr>
          <p:cNvPr id="4" name="Shape 2"/>
          <p:cNvSpPr/>
          <p:nvPr/>
        </p:nvSpPr>
        <p:spPr>
          <a:xfrm>
            <a:off x="548640" y="1508760"/>
            <a:ext cx="5440680" cy="1417320"/>
          </a:xfrm>
          <a:prstGeom prst="roundRect">
            <a:avLst>
              <a:gd name="adj" fmla="val 6452"/>
            </a:avLst>
          </a:prstGeom>
          <a:solidFill>
            <a:srgbClr val="FFFFFF"/>
          </a:solidFill>
          <a:ln/>
          <a:effectLst>
            <a:outerShdw blurRad="63500" dist="25400" dir="5400000" algn="bl" rotWithShape="0">
              <a:srgbClr val="1B1F3B">
                <a:alpha val="10000"/>
              </a:srgbClr>
            </a:outerShdw>
          </a:effectLst>
        </p:spPr>
      </p:sp>
      <p:sp>
        <p:nvSpPr>
          <p:cNvPr id="5" name="Shape 3"/>
          <p:cNvSpPr/>
          <p:nvPr/>
        </p:nvSpPr>
        <p:spPr>
          <a:xfrm>
            <a:off x="777240" y="1943100"/>
            <a:ext cx="548640" cy="548640"/>
          </a:xfrm>
          <a:prstGeom prst="ellipse">
            <a:avLst/>
          </a:prstGeom>
          <a:solidFill>
            <a:srgbClr val="6C3CE9"/>
          </a:solidFill>
          <a:ln/>
        </p:spPr>
      </p:sp>
      <p:pic>
        <p:nvPicPr>
          <p:cNvPr id="6" name="Image 0" descr="preencoded.png"/>
          <p:cNvPicPr>
            <a:picLocks noChangeAspect="1"/>
          </p:cNvPicPr>
          <p:nvPr/>
        </p:nvPicPr>
        <p:blipFill>
          <a:blip r:embed="rId3"/>
          <a:stretch>
            <a:fillRect/>
          </a:stretch>
        </p:blipFill>
        <p:spPr>
          <a:xfrm>
            <a:off x="919886" y="2085746"/>
            <a:ext cx="263347" cy="263347"/>
          </a:xfrm>
          <a:prstGeom prst="rect">
            <a:avLst/>
          </a:prstGeom>
        </p:spPr>
      </p:pic>
      <p:sp>
        <p:nvSpPr>
          <p:cNvPr id="7" name="Text 4"/>
          <p:cNvSpPr/>
          <p:nvPr/>
        </p:nvSpPr>
        <p:spPr>
          <a:xfrm>
            <a:off x="1508760" y="1709928"/>
            <a:ext cx="4251960" cy="320040"/>
          </a:xfrm>
          <a:prstGeom prst="rect">
            <a:avLst/>
          </a:prstGeom>
          <a:noFill/>
          <a:ln/>
        </p:spPr>
        <p:txBody>
          <a:bodyPr wrap="square" rtlCol="0" anchor="ctr"/>
          <a:lstStyle/>
          <a:p>
            <a:pPr marL="0" indent="0">
              <a:buNone/>
            </a:pPr>
            <a:r>
              <a:rPr lang="en-US" sz="1500" b="1" dirty="0">
                <a:solidFill>
                  <a:srgbClr val="1B1F3B"/>
                </a:solidFill>
                <a:latin typeface="Cambria" pitchFamily="34" charset="0"/>
                <a:ea typeface="Cambria" pitchFamily="34" charset="-122"/>
                <a:cs typeface="Cambria" pitchFamily="34" charset="-120"/>
              </a:rPr>
              <a:t>Backend</a:t>
            </a:r>
            <a:endParaRPr lang="en-US" sz="1500" dirty="0"/>
          </a:p>
        </p:txBody>
      </p:sp>
      <p:sp>
        <p:nvSpPr>
          <p:cNvPr id="8" name="Text 5"/>
          <p:cNvSpPr/>
          <p:nvPr/>
        </p:nvSpPr>
        <p:spPr>
          <a:xfrm>
            <a:off x="1508760" y="2075688"/>
            <a:ext cx="4251960" cy="731520"/>
          </a:xfrm>
          <a:prstGeom prst="rect">
            <a:avLst/>
          </a:prstGeom>
          <a:noFill/>
          <a:ln/>
        </p:spPr>
        <p:txBody>
          <a:bodyPr wrap="square" rtlCol="0" anchor="t"/>
          <a:lstStyle/>
          <a:p>
            <a:pPr marL="0" indent="0">
              <a:buNone/>
            </a:pPr>
            <a:r>
              <a:rPr lang="en-US" sz="1150" dirty="0">
                <a:solidFill>
                  <a:srgbClr val="6E7488"/>
                </a:solidFill>
                <a:latin typeface="Calibri" pitchFamily="34" charset="0"/>
                <a:ea typeface="Calibri" pitchFamily="34" charset="-122"/>
                <a:cs typeface="Calibri" pitchFamily="34" charset="-120"/>
              </a:rPr>
              <a:t>Python • Flask</a:t>
            </a:r>
            <a:endParaRPr lang="en-US" sz="1150" dirty="0"/>
          </a:p>
        </p:txBody>
      </p:sp>
      <p:sp>
        <p:nvSpPr>
          <p:cNvPr id="9" name="Shape 6"/>
          <p:cNvSpPr/>
          <p:nvPr/>
        </p:nvSpPr>
        <p:spPr>
          <a:xfrm>
            <a:off x="6263640" y="1508760"/>
            <a:ext cx="5440680" cy="1417320"/>
          </a:xfrm>
          <a:prstGeom prst="roundRect">
            <a:avLst>
              <a:gd name="adj" fmla="val 6452"/>
            </a:avLst>
          </a:prstGeom>
          <a:solidFill>
            <a:srgbClr val="FFFFFF"/>
          </a:solidFill>
          <a:ln/>
          <a:effectLst>
            <a:outerShdw blurRad="63500" dist="25400" dir="5400000" algn="bl" rotWithShape="0">
              <a:srgbClr val="1B1F3B">
                <a:alpha val="10000"/>
              </a:srgbClr>
            </a:outerShdw>
          </a:effectLst>
        </p:spPr>
      </p:sp>
      <p:sp>
        <p:nvSpPr>
          <p:cNvPr id="10" name="Shape 7"/>
          <p:cNvSpPr/>
          <p:nvPr/>
        </p:nvSpPr>
        <p:spPr>
          <a:xfrm>
            <a:off x="6492240" y="1943100"/>
            <a:ext cx="548640" cy="548640"/>
          </a:xfrm>
          <a:prstGeom prst="ellipse">
            <a:avLst/>
          </a:prstGeom>
          <a:solidFill>
            <a:srgbClr val="2F5CFF"/>
          </a:solidFill>
          <a:ln/>
        </p:spPr>
      </p:sp>
      <p:pic>
        <p:nvPicPr>
          <p:cNvPr id="11" name="Image 1" descr="preencoded.png"/>
          <p:cNvPicPr>
            <a:picLocks noChangeAspect="1"/>
          </p:cNvPicPr>
          <p:nvPr/>
        </p:nvPicPr>
        <p:blipFill>
          <a:blip r:embed="rId4"/>
          <a:stretch>
            <a:fillRect/>
          </a:stretch>
        </p:blipFill>
        <p:spPr>
          <a:xfrm>
            <a:off x="6634886" y="2085746"/>
            <a:ext cx="263347" cy="263347"/>
          </a:xfrm>
          <a:prstGeom prst="rect">
            <a:avLst/>
          </a:prstGeom>
        </p:spPr>
      </p:pic>
      <p:sp>
        <p:nvSpPr>
          <p:cNvPr id="12" name="Text 8"/>
          <p:cNvSpPr/>
          <p:nvPr/>
        </p:nvSpPr>
        <p:spPr>
          <a:xfrm>
            <a:off x="7223760" y="1709928"/>
            <a:ext cx="4251960" cy="320040"/>
          </a:xfrm>
          <a:prstGeom prst="rect">
            <a:avLst/>
          </a:prstGeom>
          <a:noFill/>
          <a:ln/>
        </p:spPr>
        <p:txBody>
          <a:bodyPr wrap="square" rtlCol="0" anchor="ctr"/>
          <a:lstStyle/>
          <a:p>
            <a:pPr marL="0" indent="0">
              <a:buNone/>
            </a:pPr>
            <a:r>
              <a:rPr lang="en-US" sz="1500" b="1" dirty="0">
                <a:solidFill>
                  <a:srgbClr val="1B1F3B"/>
                </a:solidFill>
                <a:latin typeface="Cambria" pitchFamily="34" charset="0"/>
                <a:ea typeface="Cambria" pitchFamily="34" charset="-122"/>
                <a:cs typeface="Cambria" pitchFamily="34" charset="-120"/>
              </a:rPr>
              <a:t>Frontend</a:t>
            </a:r>
            <a:endParaRPr lang="en-US" sz="1500" dirty="0"/>
          </a:p>
        </p:txBody>
      </p:sp>
      <p:sp>
        <p:nvSpPr>
          <p:cNvPr id="13" name="Text 9"/>
          <p:cNvSpPr/>
          <p:nvPr/>
        </p:nvSpPr>
        <p:spPr>
          <a:xfrm>
            <a:off x="7223760" y="2075688"/>
            <a:ext cx="4251960" cy="731520"/>
          </a:xfrm>
          <a:prstGeom prst="rect">
            <a:avLst/>
          </a:prstGeom>
          <a:noFill/>
          <a:ln/>
        </p:spPr>
        <p:txBody>
          <a:bodyPr wrap="square" rtlCol="0" anchor="t"/>
          <a:lstStyle/>
          <a:p>
            <a:pPr marL="0" indent="0">
              <a:buNone/>
            </a:pPr>
            <a:r>
              <a:rPr lang="en-US" sz="1150" dirty="0">
                <a:solidFill>
                  <a:srgbClr val="6E7488"/>
                </a:solidFill>
                <a:latin typeface="Calibri" pitchFamily="34" charset="0"/>
                <a:ea typeface="Calibri" pitchFamily="34" charset="-122"/>
                <a:cs typeface="Calibri" pitchFamily="34" charset="-120"/>
              </a:rPr>
              <a:t>HTML • CSS • Bootstrap • JavaScript</a:t>
            </a:r>
            <a:endParaRPr lang="en-US" sz="1150" dirty="0"/>
          </a:p>
        </p:txBody>
      </p:sp>
      <p:sp>
        <p:nvSpPr>
          <p:cNvPr id="14" name="Shape 10"/>
          <p:cNvSpPr/>
          <p:nvPr/>
        </p:nvSpPr>
        <p:spPr>
          <a:xfrm>
            <a:off x="548640" y="3108960"/>
            <a:ext cx="5440680" cy="1417320"/>
          </a:xfrm>
          <a:prstGeom prst="roundRect">
            <a:avLst>
              <a:gd name="adj" fmla="val 6452"/>
            </a:avLst>
          </a:prstGeom>
          <a:solidFill>
            <a:srgbClr val="FFFFFF"/>
          </a:solidFill>
          <a:ln/>
          <a:effectLst>
            <a:outerShdw blurRad="63500" dist="25400" dir="5400000" algn="bl" rotWithShape="0">
              <a:srgbClr val="1B1F3B">
                <a:alpha val="10000"/>
              </a:srgbClr>
            </a:outerShdw>
          </a:effectLst>
        </p:spPr>
      </p:sp>
      <p:sp>
        <p:nvSpPr>
          <p:cNvPr id="15" name="Shape 11"/>
          <p:cNvSpPr/>
          <p:nvPr/>
        </p:nvSpPr>
        <p:spPr>
          <a:xfrm>
            <a:off x="777240" y="3543300"/>
            <a:ext cx="548640" cy="548640"/>
          </a:xfrm>
          <a:prstGeom prst="ellipse">
            <a:avLst/>
          </a:prstGeom>
          <a:solidFill>
            <a:srgbClr val="6C3CE9"/>
          </a:solidFill>
          <a:ln/>
        </p:spPr>
      </p:sp>
      <p:pic>
        <p:nvPicPr>
          <p:cNvPr id="16" name="Image 2" descr="preencoded.png"/>
          <p:cNvPicPr>
            <a:picLocks noChangeAspect="1"/>
          </p:cNvPicPr>
          <p:nvPr/>
        </p:nvPicPr>
        <p:blipFill>
          <a:blip r:embed="rId5"/>
          <a:stretch>
            <a:fillRect/>
          </a:stretch>
        </p:blipFill>
        <p:spPr>
          <a:xfrm>
            <a:off x="919886" y="3685946"/>
            <a:ext cx="263347" cy="263347"/>
          </a:xfrm>
          <a:prstGeom prst="rect">
            <a:avLst/>
          </a:prstGeom>
        </p:spPr>
      </p:pic>
      <p:sp>
        <p:nvSpPr>
          <p:cNvPr id="17" name="Text 12"/>
          <p:cNvSpPr/>
          <p:nvPr/>
        </p:nvSpPr>
        <p:spPr>
          <a:xfrm>
            <a:off x="1508760" y="3310128"/>
            <a:ext cx="4251960" cy="320040"/>
          </a:xfrm>
          <a:prstGeom prst="rect">
            <a:avLst/>
          </a:prstGeom>
          <a:noFill/>
          <a:ln/>
        </p:spPr>
        <p:txBody>
          <a:bodyPr wrap="square" rtlCol="0" anchor="ctr"/>
          <a:lstStyle/>
          <a:p>
            <a:pPr marL="0" indent="0">
              <a:buNone/>
            </a:pPr>
            <a:r>
              <a:rPr lang="en-US" sz="1500" b="1" dirty="0">
                <a:solidFill>
                  <a:srgbClr val="1B1F3B"/>
                </a:solidFill>
                <a:latin typeface="Cambria" pitchFamily="34" charset="0"/>
                <a:ea typeface="Cambria" pitchFamily="34" charset="-122"/>
                <a:cs typeface="Cambria" pitchFamily="34" charset="-120"/>
              </a:rPr>
              <a:t>Database</a:t>
            </a:r>
            <a:endParaRPr lang="en-US" sz="1500" dirty="0"/>
          </a:p>
        </p:txBody>
      </p:sp>
      <p:sp>
        <p:nvSpPr>
          <p:cNvPr id="18" name="Text 13"/>
          <p:cNvSpPr/>
          <p:nvPr/>
        </p:nvSpPr>
        <p:spPr>
          <a:xfrm>
            <a:off x="1508760" y="3675888"/>
            <a:ext cx="4251960" cy="731520"/>
          </a:xfrm>
          <a:prstGeom prst="rect">
            <a:avLst/>
          </a:prstGeom>
          <a:noFill/>
          <a:ln/>
        </p:spPr>
        <p:txBody>
          <a:bodyPr wrap="square" rtlCol="0" anchor="t"/>
          <a:lstStyle/>
          <a:p>
            <a:pPr marL="0" indent="0">
              <a:buNone/>
            </a:pPr>
            <a:r>
              <a:rPr lang="en-US" sz="1150" dirty="0">
                <a:solidFill>
                  <a:srgbClr val="6E7488"/>
                </a:solidFill>
                <a:latin typeface="Calibri" pitchFamily="34" charset="0"/>
                <a:ea typeface="Calibri" pitchFamily="34" charset="-122"/>
                <a:cs typeface="Calibri" pitchFamily="34" charset="-120"/>
              </a:rPr>
              <a:t>SQLite</a:t>
            </a:r>
            <a:endParaRPr lang="en-US" sz="1150" dirty="0"/>
          </a:p>
        </p:txBody>
      </p:sp>
      <p:sp>
        <p:nvSpPr>
          <p:cNvPr id="19" name="Shape 14"/>
          <p:cNvSpPr/>
          <p:nvPr/>
        </p:nvSpPr>
        <p:spPr>
          <a:xfrm>
            <a:off x="6263640" y="3108960"/>
            <a:ext cx="5440680" cy="1417320"/>
          </a:xfrm>
          <a:prstGeom prst="roundRect">
            <a:avLst>
              <a:gd name="adj" fmla="val 6452"/>
            </a:avLst>
          </a:prstGeom>
          <a:solidFill>
            <a:srgbClr val="FFFFFF"/>
          </a:solidFill>
          <a:ln/>
          <a:effectLst>
            <a:outerShdw blurRad="63500" dist="25400" dir="5400000" algn="bl" rotWithShape="0">
              <a:srgbClr val="1B1F3B">
                <a:alpha val="10000"/>
              </a:srgbClr>
            </a:outerShdw>
          </a:effectLst>
        </p:spPr>
      </p:sp>
      <p:sp>
        <p:nvSpPr>
          <p:cNvPr id="20" name="Shape 15"/>
          <p:cNvSpPr/>
          <p:nvPr/>
        </p:nvSpPr>
        <p:spPr>
          <a:xfrm>
            <a:off x="6492240" y="3543300"/>
            <a:ext cx="548640" cy="548640"/>
          </a:xfrm>
          <a:prstGeom prst="ellipse">
            <a:avLst/>
          </a:prstGeom>
          <a:solidFill>
            <a:srgbClr val="2F5CFF"/>
          </a:solidFill>
          <a:ln/>
        </p:spPr>
      </p:sp>
      <p:pic>
        <p:nvPicPr>
          <p:cNvPr id="21" name="Image 3" descr="preencoded.png"/>
          <p:cNvPicPr>
            <a:picLocks noChangeAspect="1"/>
          </p:cNvPicPr>
          <p:nvPr/>
        </p:nvPicPr>
        <p:blipFill>
          <a:blip r:embed="rId6"/>
          <a:stretch>
            <a:fillRect/>
          </a:stretch>
        </p:blipFill>
        <p:spPr>
          <a:xfrm>
            <a:off x="6634886" y="3685946"/>
            <a:ext cx="263347" cy="263347"/>
          </a:xfrm>
          <a:prstGeom prst="rect">
            <a:avLst/>
          </a:prstGeom>
        </p:spPr>
      </p:pic>
      <p:sp>
        <p:nvSpPr>
          <p:cNvPr id="22" name="Text 16"/>
          <p:cNvSpPr/>
          <p:nvPr/>
        </p:nvSpPr>
        <p:spPr>
          <a:xfrm>
            <a:off x="7223760" y="3310128"/>
            <a:ext cx="4251960" cy="320040"/>
          </a:xfrm>
          <a:prstGeom prst="rect">
            <a:avLst/>
          </a:prstGeom>
          <a:noFill/>
          <a:ln/>
        </p:spPr>
        <p:txBody>
          <a:bodyPr wrap="square" rtlCol="0" anchor="ctr"/>
          <a:lstStyle/>
          <a:p>
            <a:pPr marL="0" indent="0">
              <a:buNone/>
            </a:pPr>
            <a:r>
              <a:rPr lang="en-US" sz="1500" b="1" dirty="0">
                <a:solidFill>
                  <a:srgbClr val="1B1F3B"/>
                </a:solidFill>
                <a:latin typeface="Cambria" pitchFamily="34" charset="0"/>
                <a:ea typeface="Cambria" pitchFamily="34" charset="-122"/>
                <a:cs typeface="Cambria" pitchFamily="34" charset="-120"/>
              </a:rPr>
              <a:t>Machine Learning</a:t>
            </a:r>
            <a:endParaRPr lang="en-US" sz="1500" dirty="0"/>
          </a:p>
        </p:txBody>
      </p:sp>
      <p:sp>
        <p:nvSpPr>
          <p:cNvPr id="23" name="Text 17"/>
          <p:cNvSpPr/>
          <p:nvPr/>
        </p:nvSpPr>
        <p:spPr>
          <a:xfrm>
            <a:off x="7223760" y="3675888"/>
            <a:ext cx="4251960" cy="731520"/>
          </a:xfrm>
          <a:prstGeom prst="rect">
            <a:avLst/>
          </a:prstGeom>
          <a:noFill/>
          <a:ln/>
        </p:spPr>
        <p:txBody>
          <a:bodyPr wrap="square" rtlCol="0" anchor="t"/>
          <a:lstStyle/>
          <a:p>
            <a:pPr marL="0" indent="0">
              <a:buNone/>
            </a:pPr>
            <a:r>
              <a:rPr lang="en-US" sz="1150" dirty="0">
                <a:solidFill>
                  <a:srgbClr val="6E7488"/>
                </a:solidFill>
                <a:latin typeface="Calibri" pitchFamily="34" charset="0"/>
                <a:ea typeface="Calibri" pitchFamily="34" charset="-122"/>
                <a:cs typeface="Calibri" pitchFamily="34" charset="-120"/>
              </a:rPr>
              <a:t>Scikit-Learn</a:t>
            </a:r>
            <a:endParaRPr lang="en-US" sz="1150" dirty="0"/>
          </a:p>
        </p:txBody>
      </p:sp>
      <p:sp>
        <p:nvSpPr>
          <p:cNvPr id="24" name="Shape 18"/>
          <p:cNvSpPr/>
          <p:nvPr/>
        </p:nvSpPr>
        <p:spPr>
          <a:xfrm>
            <a:off x="548640" y="4709160"/>
            <a:ext cx="5440680" cy="1417320"/>
          </a:xfrm>
          <a:prstGeom prst="roundRect">
            <a:avLst>
              <a:gd name="adj" fmla="val 6452"/>
            </a:avLst>
          </a:prstGeom>
          <a:solidFill>
            <a:srgbClr val="FFFFFF"/>
          </a:solidFill>
          <a:ln/>
          <a:effectLst>
            <a:outerShdw blurRad="63500" dist="25400" dir="5400000" algn="bl" rotWithShape="0">
              <a:srgbClr val="1B1F3B">
                <a:alpha val="10000"/>
              </a:srgbClr>
            </a:outerShdw>
          </a:effectLst>
        </p:spPr>
      </p:sp>
      <p:sp>
        <p:nvSpPr>
          <p:cNvPr id="25" name="Shape 19"/>
          <p:cNvSpPr/>
          <p:nvPr/>
        </p:nvSpPr>
        <p:spPr>
          <a:xfrm>
            <a:off x="777240" y="5143500"/>
            <a:ext cx="548640" cy="548640"/>
          </a:xfrm>
          <a:prstGeom prst="ellipse">
            <a:avLst/>
          </a:prstGeom>
          <a:solidFill>
            <a:srgbClr val="6C3CE9"/>
          </a:solidFill>
          <a:ln/>
        </p:spPr>
      </p:sp>
      <p:pic>
        <p:nvPicPr>
          <p:cNvPr id="26" name="Image 4" descr="preencoded.png"/>
          <p:cNvPicPr>
            <a:picLocks noChangeAspect="1"/>
          </p:cNvPicPr>
          <p:nvPr/>
        </p:nvPicPr>
        <p:blipFill>
          <a:blip r:embed="rId7"/>
          <a:stretch>
            <a:fillRect/>
          </a:stretch>
        </p:blipFill>
        <p:spPr>
          <a:xfrm>
            <a:off x="919886" y="5286146"/>
            <a:ext cx="263347" cy="263347"/>
          </a:xfrm>
          <a:prstGeom prst="rect">
            <a:avLst/>
          </a:prstGeom>
        </p:spPr>
      </p:pic>
      <p:sp>
        <p:nvSpPr>
          <p:cNvPr id="27" name="Text 20"/>
          <p:cNvSpPr/>
          <p:nvPr/>
        </p:nvSpPr>
        <p:spPr>
          <a:xfrm>
            <a:off x="1508760" y="4910328"/>
            <a:ext cx="4251960" cy="320040"/>
          </a:xfrm>
          <a:prstGeom prst="rect">
            <a:avLst/>
          </a:prstGeom>
          <a:noFill/>
          <a:ln/>
        </p:spPr>
        <p:txBody>
          <a:bodyPr wrap="square" rtlCol="0" anchor="ctr"/>
          <a:lstStyle/>
          <a:p>
            <a:pPr marL="0" indent="0">
              <a:buNone/>
            </a:pPr>
            <a:r>
              <a:rPr lang="en-US" sz="1500" b="1" dirty="0">
                <a:solidFill>
                  <a:srgbClr val="1B1F3B"/>
                </a:solidFill>
                <a:latin typeface="Cambria" pitchFamily="34" charset="0"/>
                <a:ea typeface="Cambria" pitchFamily="34" charset="-122"/>
                <a:cs typeface="Cambria" pitchFamily="34" charset="-120"/>
              </a:rPr>
              <a:t>Libraries</a:t>
            </a:r>
            <a:endParaRPr lang="en-US" sz="1500" dirty="0"/>
          </a:p>
        </p:txBody>
      </p:sp>
      <p:sp>
        <p:nvSpPr>
          <p:cNvPr id="28" name="Text 21"/>
          <p:cNvSpPr/>
          <p:nvPr/>
        </p:nvSpPr>
        <p:spPr>
          <a:xfrm>
            <a:off x="1508760" y="5276088"/>
            <a:ext cx="4251960" cy="731520"/>
          </a:xfrm>
          <a:prstGeom prst="rect">
            <a:avLst/>
          </a:prstGeom>
          <a:noFill/>
          <a:ln/>
        </p:spPr>
        <p:txBody>
          <a:bodyPr wrap="square" rtlCol="0" anchor="t"/>
          <a:lstStyle/>
          <a:p>
            <a:pPr marL="0" indent="0">
              <a:buNone/>
            </a:pPr>
            <a:r>
              <a:rPr lang="en-US" sz="1150" dirty="0">
                <a:solidFill>
                  <a:srgbClr val="6E7488"/>
                </a:solidFill>
                <a:latin typeface="Calibri" pitchFamily="34" charset="0"/>
                <a:ea typeface="Calibri" pitchFamily="34" charset="-122"/>
                <a:cs typeface="Calibri" pitchFamily="34" charset="-120"/>
              </a:rPr>
              <a:t>Pandas • NumPy • Matplotlib • Joblib • Chart.js</a:t>
            </a:r>
            <a:endParaRPr lang="en-US" sz="1150" dirty="0"/>
          </a:p>
        </p:txBody>
      </p:sp>
      <p:sp>
        <p:nvSpPr>
          <p:cNvPr id="29" name="Shape 22"/>
          <p:cNvSpPr/>
          <p:nvPr/>
        </p:nvSpPr>
        <p:spPr>
          <a:xfrm>
            <a:off x="6263640" y="4709160"/>
            <a:ext cx="5440680" cy="1417320"/>
          </a:xfrm>
          <a:prstGeom prst="roundRect">
            <a:avLst>
              <a:gd name="adj" fmla="val 6452"/>
            </a:avLst>
          </a:prstGeom>
          <a:solidFill>
            <a:srgbClr val="FFFFFF"/>
          </a:solidFill>
          <a:ln/>
          <a:effectLst>
            <a:outerShdw blurRad="63500" dist="25400" dir="5400000" algn="bl" rotWithShape="0">
              <a:srgbClr val="1B1F3B">
                <a:alpha val="10000"/>
              </a:srgbClr>
            </a:outerShdw>
          </a:effectLst>
        </p:spPr>
      </p:sp>
      <p:sp>
        <p:nvSpPr>
          <p:cNvPr id="30" name="Shape 23"/>
          <p:cNvSpPr/>
          <p:nvPr/>
        </p:nvSpPr>
        <p:spPr>
          <a:xfrm>
            <a:off x="6492240" y="5143500"/>
            <a:ext cx="548640" cy="548640"/>
          </a:xfrm>
          <a:prstGeom prst="ellipse">
            <a:avLst/>
          </a:prstGeom>
          <a:solidFill>
            <a:srgbClr val="2F5CFF"/>
          </a:solidFill>
          <a:ln/>
        </p:spPr>
      </p:sp>
      <p:pic>
        <p:nvPicPr>
          <p:cNvPr id="31" name="Image 5" descr="preencoded.png"/>
          <p:cNvPicPr>
            <a:picLocks noChangeAspect="1"/>
          </p:cNvPicPr>
          <p:nvPr/>
        </p:nvPicPr>
        <p:blipFill>
          <a:blip r:embed="rId8"/>
          <a:stretch>
            <a:fillRect/>
          </a:stretch>
        </p:blipFill>
        <p:spPr>
          <a:xfrm>
            <a:off x="6634886" y="5286146"/>
            <a:ext cx="263347" cy="263347"/>
          </a:xfrm>
          <a:prstGeom prst="rect">
            <a:avLst/>
          </a:prstGeom>
        </p:spPr>
      </p:pic>
      <p:sp>
        <p:nvSpPr>
          <p:cNvPr id="32" name="Text 24"/>
          <p:cNvSpPr/>
          <p:nvPr/>
        </p:nvSpPr>
        <p:spPr>
          <a:xfrm>
            <a:off x="7223760" y="4910328"/>
            <a:ext cx="4251960" cy="320040"/>
          </a:xfrm>
          <a:prstGeom prst="rect">
            <a:avLst/>
          </a:prstGeom>
          <a:noFill/>
          <a:ln/>
        </p:spPr>
        <p:txBody>
          <a:bodyPr wrap="square" rtlCol="0" anchor="ctr"/>
          <a:lstStyle/>
          <a:p>
            <a:pPr marL="0" indent="0">
              <a:buNone/>
            </a:pPr>
            <a:r>
              <a:rPr lang="en-US" sz="1500" b="1" dirty="0">
                <a:solidFill>
                  <a:srgbClr val="1B1F3B"/>
                </a:solidFill>
                <a:latin typeface="Cambria" pitchFamily="34" charset="0"/>
                <a:ea typeface="Cambria" pitchFamily="34" charset="-122"/>
                <a:cs typeface="Cambria" pitchFamily="34" charset="-120"/>
              </a:rPr>
              <a:t>Dev Tools</a:t>
            </a:r>
            <a:endParaRPr lang="en-US" sz="1500" dirty="0"/>
          </a:p>
        </p:txBody>
      </p:sp>
      <p:sp>
        <p:nvSpPr>
          <p:cNvPr id="33" name="Text 25"/>
          <p:cNvSpPr/>
          <p:nvPr/>
        </p:nvSpPr>
        <p:spPr>
          <a:xfrm>
            <a:off x="7223760" y="5276088"/>
            <a:ext cx="4251960" cy="731520"/>
          </a:xfrm>
          <a:prstGeom prst="rect">
            <a:avLst/>
          </a:prstGeom>
          <a:noFill/>
          <a:ln/>
        </p:spPr>
        <p:txBody>
          <a:bodyPr wrap="square" rtlCol="0" anchor="t"/>
          <a:lstStyle/>
          <a:p>
            <a:pPr marL="0" indent="0">
              <a:buNone/>
            </a:pPr>
            <a:r>
              <a:rPr lang="en-US" sz="1150" dirty="0">
                <a:solidFill>
                  <a:srgbClr val="6E7488"/>
                </a:solidFill>
                <a:latin typeface="Calibri" pitchFamily="34" charset="0"/>
                <a:ea typeface="Calibri" pitchFamily="34" charset="-122"/>
                <a:cs typeface="Calibri" pitchFamily="34" charset="-120"/>
              </a:rPr>
              <a:t>VS Code / Cursor AI • Git • GitHub</a:t>
            </a:r>
            <a:endParaRPr lang="en-US" sz="1150" dirty="0"/>
          </a:p>
        </p:txBody>
      </p:sp>
      <p:sp>
        <p:nvSpPr>
          <p:cNvPr id="34" name="Text 26"/>
          <p:cNvSpPr/>
          <p:nvPr/>
        </p:nvSpPr>
        <p:spPr>
          <a:xfrm>
            <a:off x="11475720" y="6510528"/>
            <a:ext cx="548640" cy="274320"/>
          </a:xfrm>
          <a:prstGeom prst="rect">
            <a:avLst/>
          </a:prstGeom>
          <a:noFill/>
          <a:ln/>
        </p:spPr>
        <p:txBody>
          <a:bodyPr wrap="square" rtlCol="0" anchor="ctr"/>
          <a:lstStyle/>
          <a:p>
            <a:pPr marL="0" indent="0" algn="r">
              <a:buNone/>
            </a:pPr>
            <a:r>
              <a:rPr lang="en-US" sz="1000" dirty="0">
                <a:solidFill>
                  <a:srgbClr val="6E7488"/>
                </a:solidFill>
                <a:latin typeface="Calibri" pitchFamily="34" charset="0"/>
                <a:ea typeface="Calibri" pitchFamily="34" charset="-122"/>
                <a:cs typeface="Calibri" pitchFamily="34" charset="-120"/>
              </a:rPr>
              <a:t>05</a:t>
            </a:r>
            <a:endParaRPr lang="en-US" sz="10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6F7FD"/>
        </a:solidFill>
        <a:effectLst/>
      </p:bgPr>
    </p:bg>
    <p:spTree>
      <p:nvGrpSpPr>
        <p:cNvPr id="1" name=""/>
        <p:cNvGrpSpPr/>
        <p:nvPr/>
      </p:nvGrpSpPr>
      <p:grpSpPr>
        <a:xfrm>
          <a:off x="0" y="0"/>
          <a:ext cx="0" cy="0"/>
          <a:chOff x="0" y="0"/>
          <a:chExt cx="0" cy="0"/>
        </a:xfrm>
      </p:grpSpPr>
      <p:sp>
        <p:nvSpPr>
          <p:cNvPr id="2" name="Text 0"/>
          <p:cNvSpPr/>
          <p:nvPr/>
        </p:nvSpPr>
        <p:spPr>
          <a:xfrm>
            <a:off x="548640" y="320040"/>
            <a:ext cx="7315200" cy="320040"/>
          </a:xfrm>
          <a:prstGeom prst="rect">
            <a:avLst/>
          </a:prstGeom>
          <a:noFill/>
          <a:ln/>
        </p:spPr>
        <p:txBody>
          <a:bodyPr wrap="square" rtlCol="0" anchor="ctr"/>
          <a:lstStyle/>
          <a:p>
            <a:pPr marL="0" indent="0">
              <a:buNone/>
            </a:pPr>
            <a:r>
              <a:rPr lang="en-US" sz="1300" b="1" kern="0" spc="200" dirty="0">
                <a:solidFill>
                  <a:srgbClr val="6C3CE9"/>
                </a:solidFill>
                <a:latin typeface="Calibri" pitchFamily="34" charset="0"/>
                <a:ea typeface="Calibri" pitchFamily="34" charset="-122"/>
                <a:cs typeface="Calibri" pitchFamily="34" charset="-120"/>
              </a:rPr>
              <a:t>DATA</a:t>
            </a:r>
            <a:endParaRPr lang="en-US" sz="1300" dirty="0"/>
          </a:p>
        </p:txBody>
      </p:sp>
      <p:sp>
        <p:nvSpPr>
          <p:cNvPr id="3" name="Text 1"/>
          <p:cNvSpPr/>
          <p:nvPr/>
        </p:nvSpPr>
        <p:spPr>
          <a:xfrm>
            <a:off x="548640" y="621792"/>
            <a:ext cx="10515600" cy="685800"/>
          </a:xfrm>
          <a:prstGeom prst="rect">
            <a:avLst/>
          </a:prstGeom>
          <a:noFill/>
          <a:ln/>
        </p:spPr>
        <p:txBody>
          <a:bodyPr wrap="square" rtlCol="0" anchor="ctr"/>
          <a:lstStyle/>
          <a:p>
            <a:pPr marL="0" indent="0">
              <a:buNone/>
            </a:pPr>
            <a:r>
              <a:rPr lang="en-US" sz="3200" b="1" dirty="0">
                <a:solidFill>
                  <a:srgbClr val="1B1F3B"/>
                </a:solidFill>
                <a:latin typeface="Cambria" pitchFamily="34" charset="0"/>
                <a:ea typeface="Cambria" pitchFamily="34" charset="-122"/>
                <a:cs typeface="Cambria" pitchFamily="34" charset="-120"/>
              </a:rPr>
              <a:t>Dataset &amp; Data Preprocessing</a:t>
            </a:r>
            <a:endParaRPr lang="en-US" sz="3200" dirty="0"/>
          </a:p>
        </p:txBody>
      </p:sp>
      <p:sp>
        <p:nvSpPr>
          <p:cNvPr id="4" name="Text 2"/>
          <p:cNvSpPr/>
          <p:nvPr/>
        </p:nvSpPr>
        <p:spPr>
          <a:xfrm>
            <a:off x="548640" y="1417320"/>
            <a:ext cx="6035040" cy="320040"/>
          </a:xfrm>
          <a:prstGeom prst="rect">
            <a:avLst/>
          </a:prstGeom>
          <a:noFill/>
          <a:ln/>
        </p:spPr>
        <p:txBody>
          <a:bodyPr wrap="square" rtlCol="0" anchor="ctr"/>
          <a:lstStyle/>
          <a:p>
            <a:pPr marL="0" indent="0">
              <a:buNone/>
            </a:pPr>
            <a:r>
              <a:rPr lang="en-US" sz="1600" b="1" dirty="0">
                <a:solidFill>
                  <a:srgbClr val="1B1F3B"/>
                </a:solidFill>
                <a:latin typeface="Cambria" pitchFamily="34" charset="0"/>
                <a:ea typeface="Cambria" pitchFamily="34" charset="-122"/>
                <a:cs typeface="Cambria" pitchFamily="34" charset="-120"/>
              </a:rPr>
              <a:t>Dataset Overview</a:t>
            </a:r>
            <a:endParaRPr lang="en-US" sz="1600" dirty="0"/>
          </a:p>
        </p:txBody>
      </p:sp>
      <p:sp>
        <p:nvSpPr>
          <p:cNvPr id="5" name="Text 3"/>
          <p:cNvSpPr/>
          <p:nvPr/>
        </p:nvSpPr>
        <p:spPr>
          <a:xfrm>
            <a:off x="548640" y="1737360"/>
            <a:ext cx="6035040" cy="640080"/>
          </a:xfrm>
          <a:prstGeom prst="rect">
            <a:avLst/>
          </a:prstGeom>
          <a:noFill/>
          <a:ln/>
        </p:spPr>
        <p:txBody>
          <a:bodyPr wrap="square" rtlCol="0" anchor="ctr"/>
          <a:lstStyle/>
          <a:p>
            <a:pPr marL="0" indent="0">
              <a:lnSpc>
                <a:spcPct val="115000"/>
              </a:lnSpc>
              <a:buNone/>
            </a:pPr>
            <a:r>
              <a:rPr lang="en-US" sz="1250" dirty="0">
                <a:solidFill>
                  <a:srgbClr val="6E7488"/>
                </a:solidFill>
                <a:latin typeface="Calibri" pitchFamily="34" charset="0"/>
                <a:ea typeface="Calibri" pitchFamily="34" charset="-122"/>
                <a:cs typeface="Calibri" pitchFamily="34" charset="-120"/>
              </a:rPr>
              <a:t>10,000+ synthetic student records spanning 20+ academic, behavioral, environmental and lifestyle features, generated for robust model training.</a:t>
            </a:r>
            <a:endParaRPr lang="en-US" sz="1250" dirty="0"/>
          </a:p>
        </p:txBody>
      </p:sp>
      <p:sp>
        <p:nvSpPr>
          <p:cNvPr id="6" name="Shape 4"/>
          <p:cNvSpPr/>
          <p:nvPr/>
        </p:nvSpPr>
        <p:spPr>
          <a:xfrm>
            <a:off x="548640" y="2514600"/>
            <a:ext cx="2926080" cy="457200"/>
          </a:xfrm>
          <a:prstGeom prst="roundRect">
            <a:avLst>
              <a:gd name="adj" fmla="val 16000"/>
            </a:avLst>
          </a:prstGeom>
          <a:solidFill>
            <a:srgbClr val="EEF0FB"/>
          </a:solidFill>
          <a:ln/>
        </p:spPr>
      </p:sp>
      <p:sp>
        <p:nvSpPr>
          <p:cNvPr id="7" name="Text 5"/>
          <p:cNvSpPr/>
          <p:nvPr/>
        </p:nvSpPr>
        <p:spPr>
          <a:xfrm>
            <a:off x="685800" y="2514600"/>
            <a:ext cx="2651760" cy="457200"/>
          </a:xfrm>
          <a:prstGeom prst="rect">
            <a:avLst/>
          </a:prstGeom>
          <a:noFill/>
          <a:ln/>
        </p:spPr>
        <p:txBody>
          <a:bodyPr wrap="square" rtlCol="0" anchor="ctr"/>
          <a:lstStyle/>
          <a:p>
            <a:pPr marL="0" indent="0">
              <a:buNone/>
            </a:pPr>
            <a:r>
              <a:rPr lang="en-US" sz="1150" b="1" dirty="0">
                <a:solidFill>
                  <a:srgbClr val="141A45"/>
                </a:solidFill>
                <a:latin typeface="Calibri" pitchFamily="34" charset="0"/>
                <a:ea typeface="Calibri" pitchFamily="34" charset="-122"/>
                <a:cs typeface="Calibri" pitchFamily="34" charset="-120"/>
              </a:rPr>
              <a:t>Attendance %</a:t>
            </a:r>
            <a:endParaRPr lang="en-US" sz="1150" dirty="0"/>
          </a:p>
        </p:txBody>
      </p:sp>
      <p:sp>
        <p:nvSpPr>
          <p:cNvPr id="8" name="Shape 6"/>
          <p:cNvSpPr/>
          <p:nvPr/>
        </p:nvSpPr>
        <p:spPr>
          <a:xfrm>
            <a:off x="3657600" y="2514600"/>
            <a:ext cx="2926080" cy="457200"/>
          </a:xfrm>
          <a:prstGeom prst="roundRect">
            <a:avLst>
              <a:gd name="adj" fmla="val 16000"/>
            </a:avLst>
          </a:prstGeom>
          <a:solidFill>
            <a:srgbClr val="EEF0FB"/>
          </a:solidFill>
          <a:ln/>
        </p:spPr>
      </p:sp>
      <p:sp>
        <p:nvSpPr>
          <p:cNvPr id="9" name="Text 7"/>
          <p:cNvSpPr/>
          <p:nvPr/>
        </p:nvSpPr>
        <p:spPr>
          <a:xfrm>
            <a:off x="3794760" y="2514600"/>
            <a:ext cx="2651760" cy="457200"/>
          </a:xfrm>
          <a:prstGeom prst="rect">
            <a:avLst/>
          </a:prstGeom>
          <a:noFill/>
          <a:ln/>
        </p:spPr>
        <p:txBody>
          <a:bodyPr wrap="square" rtlCol="0" anchor="ctr"/>
          <a:lstStyle/>
          <a:p>
            <a:pPr marL="0" indent="0">
              <a:buNone/>
            </a:pPr>
            <a:r>
              <a:rPr lang="en-US" sz="1150" b="1" dirty="0">
                <a:solidFill>
                  <a:srgbClr val="141A45"/>
                </a:solidFill>
                <a:latin typeface="Calibri" pitchFamily="34" charset="0"/>
                <a:ea typeface="Calibri" pitchFamily="34" charset="-122"/>
                <a:cs typeface="Calibri" pitchFamily="34" charset="-120"/>
              </a:rPr>
              <a:t>Study Hours</a:t>
            </a:r>
            <a:endParaRPr lang="en-US" sz="1150" dirty="0"/>
          </a:p>
        </p:txBody>
      </p:sp>
      <p:sp>
        <p:nvSpPr>
          <p:cNvPr id="10" name="Shape 8"/>
          <p:cNvSpPr/>
          <p:nvPr/>
        </p:nvSpPr>
        <p:spPr>
          <a:xfrm>
            <a:off x="548640" y="3118104"/>
            <a:ext cx="2926080" cy="457200"/>
          </a:xfrm>
          <a:prstGeom prst="roundRect">
            <a:avLst>
              <a:gd name="adj" fmla="val 16000"/>
            </a:avLst>
          </a:prstGeom>
          <a:solidFill>
            <a:srgbClr val="EEF0FB"/>
          </a:solidFill>
          <a:ln/>
        </p:spPr>
      </p:sp>
      <p:sp>
        <p:nvSpPr>
          <p:cNvPr id="11" name="Text 9"/>
          <p:cNvSpPr/>
          <p:nvPr/>
        </p:nvSpPr>
        <p:spPr>
          <a:xfrm>
            <a:off x="685800" y="3118104"/>
            <a:ext cx="2651760" cy="457200"/>
          </a:xfrm>
          <a:prstGeom prst="rect">
            <a:avLst/>
          </a:prstGeom>
          <a:noFill/>
          <a:ln/>
        </p:spPr>
        <p:txBody>
          <a:bodyPr wrap="square" rtlCol="0" anchor="ctr"/>
          <a:lstStyle/>
          <a:p>
            <a:pPr marL="0" indent="0">
              <a:buNone/>
            </a:pPr>
            <a:r>
              <a:rPr lang="en-US" sz="1150" b="1" dirty="0">
                <a:solidFill>
                  <a:srgbClr val="141A45"/>
                </a:solidFill>
                <a:latin typeface="Calibri" pitchFamily="34" charset="0"/>
                <a:ea typeface="Calibri" pitchFamily="34" charset="-122"/>
                <a:cs typeface="Calibri" pitchFamily="34" charset="-120"/>
              </a:rPr>
              <a:t>Previous Marks</a:t>
            </a:r>
            <a:endParaRPr lang="en-US" sz="1150" dirty="0"/>
          </a:p>
        </p:txBody>
      </p:sp>
      <p:sp>
        <p:nvSpPr>
          <p:cNvPr id="12" name="Shape 10"/>
          <p:cNvSpPr/>
          <p:nvPr/>
        </p:nvSpPr>
        <p:spPr>
          <a:xfrm>
            <a:off x="3657600" y="3118104"/>
            <a:ext cx="2926080" cy="457200"/>
          </a:xfrm>
          <a:prstGeom prst="roundRect">
            <a:avLst>
              <a:gd name="adj" fmla="val 16000"/>
            </a:avLst>
          </a:prstGeom>
          <a:solidFill>
            <a:srgbClr val="EEF0FB"/>
          </a:solidFill>
          <a:ln/>
        </p:spPr>
      </p:sp>
      <p:sp>
        <p:nvSpPr>
          <p:cNvPr id="13" name="Text 11"/>
          <p:cNvSpPr/>
          <p:nvPr/>
        </p:nvSpPr>
        <p:spPr>
          <a:xfrm>
            <a:off x="3794760" y="3118104"/>
            <a:ext cx="2651760" cy="457200"/>
          </a:xfrm>
          <a:prstGeom prst="rect">
            <a:avLst/>
          </a:prstGeom>
          <a:noFill/>
          <a:ln/>
        </p:spPr>
        <p:txBody>
          <a:bodyPr wrap="square" rtlCol="0" anchor="ctr"/>
          <a:lstStyle/>
          <a:p>
            <a:pPr marL="0" indent="0">
              <a:buNone/>
            </a:pPr>
            <a:r>
              <a:rPr lang="en-US" sz="1150" b="1" dirty="0">
                <a:solidFill>
                  <a:srgbClr val="141A45"/>
                </a:solidFill>
                <a:latin typeface="Calibri" pitchFamily="34" charset="0"/>
                <a:ea typeface="Calibri" pitchFamily="34" charset="-122"/>
                <a:cs typeface="Calibri" pitchFamily="34" charset="-120"/>
              </a:rPr>
              <a:t>Assignments</a:t>
            </a:r>
            <a:endParaRPr lang="en-US" sz="1150" dirty="0"/>
          </a:p>
        </p:txBody>
      </p:sp>
      <p:sp>
        <p:nvSpPr>
          <p:cNvPr id="14" name="Shape 12"/>
          <p:cNvSpPr/>
          <p:nvPr/>
        </p:nvSpPr>
        <p:spPr>
          <a:xfrm>
            <a:off x="548640" y="3721608"/>
            <a:ext cx="2926080" cy="457200"/>
          </a:xfrm>
          <a:prstGeom prst="roundRect">
            <a:avLst>
              <a:gd name="adj" fmla="val 16000"/>
            </a:avLst>
          </a:prstGeom>
          <a:solidFill>
            <a:srgbClr val="EEF0FB"/>
          </a:solidFill>
          <a:ln/>
        </p:spPr>
      </p:sp>
      <p:sp>
        <p:nvSpPr>
          <p:cNvPr id="15" name="Text 13"/>
          <p:cNvSpPr/>
          <p:nvPr/>
        </p:nvSpPr>
        <p:spPr>
          <a:xfrm>
            <a:off x="685800" y="3721608"/>
            <a:ext cx="2651760" cy="457200"/>
          </a:xfrm>
          <a:prstGeom prst="rect">
            <a:avLst/>
          </a:prstGeom>
          <a:noFill/>
          <a:ln/>
        </p:spPr>
        <p:txBody>
          <a:bodyPr wrap="square" rtlCol="0" anchor="ctr"/>
          <a:lstStyle/>
          <a:p>
            <a:pPr marL="0" indent="0">
              <a:buNone/>
            </a:pPr>
            <a:r>
              <a:rPr lang="en-US" sz="1150" b="1" dirty="0">
                <a:solidFill>
                  <a:srgbClr val="141A45"/>
                </a:solidFill>
                <a:latin typeface="Calibri" pitchFamily="34" charset="0"/>
                <a:ea typeface="Calibri" pitchFamily="34" charset="-122"/>
                <a:cs typeface="Calibri" pitchFamily="34" charset="-120"/>
              </a:rPr>
              <a:t>Sleep Hours</a:t>
            </a:r>
            <a:endParaRPr lang="en-US" sz="1150" dirty="0"/>
          </a:p>
        </p:txBody>
      </p:sp>
      <p:sp>
        <p:nvSpPr>
          <p:cNvPr id="16" name="Shape 14"/>
          <p:cNvSpPr/>
          <p:nvPr/>
        </p:nvSpPr>
        <p:spPr>
          <a:xfrm>
            <a:off x="3657600" y="3721608"/>
            <a:ext cx="2926080" cy="457200"/>
          </a:xfrm>
          <a:prstGeom prst="roundRect">
            <a:avLst>
              <a:gd name="adj" fmla="val 16000"/>
            </a:avLst>
          </a:prstGeom>
          <a:solidFill>
            <a:srgbClr val="EEF0FB"/>
          </a:solidFill>
          <a:ln/>
        </p:spPr>
      </p:sp>
      <p:sp>
        <p:nvSpPr>
          <p:cNvPr id="17" name="Text 15"/>
          <p:cNvSpPr/>
          <p:nvPr/>
        </p:nvSpPr>
        <p:spPr>
          <a:xfrm>
            <a:off x="3794760" y="3721608"/>
            <a:ext cx="2651760" cy="457200"/>
          </a:xfrm>
          <a:prstGeom prst="rect">
            <a:avLst/>
          </a:prstGeom>
          <a:noFill/>
          <a:ln/>
        </p:spPr>
        <p:txBody>
          <a:bodyPr wrap="square" rtlCol="0" anchor="ctr"/>
          <a:lstStyle/>
          <a:p>
            <a:pPr marL="0" indent="0">
              <a:buNone/>
            </a:pPr>
            <a:r>
              <a:rPr lang="en-US" sz="1150" b="1" dirty="0">
                <a:solidFill>
                  <a:srgbClr val="141A45"/>
                </a:solidFill>
                <a:latin typeface="Calibri" pitchFamily="34" charset="0"/>
                <a:ea typeface="Calibri" pitchFamily="34" charset="-122"/>
                <a:cs typeface="Calibri" pitchFamily="34" charset="-120"/>
              </a:rPr>
              <a:t>Stress Level</a:t>
            </a:r>
            <a:endParaRPr lang="en-US" sz="1150" dirty="0"/>
          </a:p>
        </p:txBody>
      </p:sp>
      <p:sp>
        <p:nvSpPr>
          <p:cNvPr id="18" name="Shape 16"/>
          <p:cNvSpPr/>
          <p:nvPr/>
        </p:nvSpPr>
        <p:spPr>
          <a:xfrm>
            <a:off x="548640" y="4325112"/>
            <a:ext cx="2926080" cy="457200"/>
          </a:xfrm>
          <a:prstGeom prst="roundRect">
            <a:avLst>
              <a:gd name="adj" fmla="val 16000"/>
            </a:avLst>
          </a:prstGeom>
          <a:solidFill>
            <a:srgbClr val="EEF0FB"/>
          </a:solidFill>
          <a:ln/>
        </p:spPr>
      </p:sp>
      <p:sp>
        <p:nvSpPr>
          <p:cNvPr id="19" name="Text 17"/>
          <p:cNvSpPr/>
          <p:nvPr/>
        </p:nvSpPr>
        <p:spPr>
          <a:xfrm>
            <a:off x="685800" y="4325112"/>
            <a:ext cx="2651760" cy="457200"/>
          </a:xfrm>
          <a:prstGeom prst="rect">
            <a:avLst/>
          </a:prstGeom>
          <a:noFill/>
          <a:ln/>
        </p:spPr>
        <p:txBody>
          <a:bodyPr wrap="square" rtlCol="0" anchor="ctr"/>
          <a:lstStyle/>
          <a:p>
            <a:pPr marL="0" indent="0">
              <a:buNone/>
            </a:pPr>
            <a:r>
              <a:rPr lang="en-US" sz="1150" b="1" dirty="0">
                <a:solidFill>
                  <a:srgbClr val="141A45"/>
                </a:solidFill>
                <a:latin typeface="Calibri" pitchFamily="34" charset="0"/>
                <a:ea typeface="Calibri" pitchFamily="34" charset="-122"/>
                <a:cs typeface="Calibri" pitchFamily="34" charset="-120"/>
              </a:rPr>
              <a:t>Motivation</a:t>
            </a:r>
            <a:endParaRPr lang="en-US" sz="1150" dirty="0"/>
          </a:p>
        </p:txBody>
      </p:sp>
      <p:sp>
        <p:nvSpPr>
          <p:cNvPr id="20" name="Shape 18"/>
          <p:cNvSpPr/>
          <p:nvPr/>
        </p:nvSpPr>
        <p:spPr>
          <a:xfrm>
            <a:off x="3657600" y="4325112"/>
            <a:ext cx="2926080" cy="457200"/>
          </a:xfrm>
          <a:prstGeom prst="roundRect">
            <a:avLst>
              <a:gd name="adj" fmla="val 16000"/>
            </a:avLst>
          </a:prstGeom>
          <a:solidFill>
            <a:srgbClr val="EEF0FB"/>
          </a:solidFill>
          <a:ln/>
        </p:spPr>
      </p:sp>
      <p:sp>
        <p:nvSpPr>
          <p:cNvPr id="21" name="Text 19"/>
          <p:cNvSpPr/>
          <p:nvPr/>
        </p:nvSpPr>
        <p:spPr>
          <a:xfrm>
            <a:off x="3794760" y="4325112"/>
            <a:ext cx="2651760" cy="457200"/>
          </a:xfrm>
          <a:prstGeom prst="rect">
            <a:avLst/>
          </a:prstGeom>
          <a:noFill/>
          <a:ln/>
        </p:spPr>
        <p:txBody>
          <a:bodyPr wrap="square" rtlCol="0" anchor="ctr"/>
          <a:lstStyle/>
          <a:p>
            <a:pPr marL="0" indent="0">
              <a:buNone/>
            </a:pPr>
            <a:r>
              <a:rPr lang="en-US" sz="1150" b="1" dirty="0">
                <a:solidFill>
                  <a:srgbClr val="141A45"/>
                </a:solidFill>
                <a:latin typeface="Calibri" pitchFamily="34" charset="0"/>
                <a:ea typeface="Calibri" pitchFamily="34" charset="-122"/>
                <a:cs typeface="Calibri" pitchFamily="34" charset="-120"/>
              </a:rPr>
              <a:t>Family Income</a:t>
            </a:r>
            <a:endParaRPr lang="en-US" sz="1150" dirty="0"/>
          </a:p>
        </p:txBody>
      </p:sp>
      <p:sp>
        <p:nvSpPr>
          <p:cNvPr id="22" name="Text 20"/>
          <p:cNvSpPr/>
          <p:nvPr/>
        </p:nvSpPr>
        <p:spPr>
          <a:xfrm>
            <a:off x="548640" y="4709160"/>
            <a:ext cx="6035040" cy="365760"/>
          </a:xfrm>
          <a:prstGeom prst="rect">
            <a:avLst/>
          </a:prstGeom>
          <a:noFill/>
          <a:ln/>
        </p:spPr>
        <p:txBody>
          <a:bodyPr wrap="square" rtlCol="0" anchor="ctr"/>
          <a:lstStyle/>
          <a:p>
            <a:pPr marL="0" indent="0">
              <a:buNone/>
            </a:pPr>
            <a:r>
              <a:rPr lang="en-US" sz="1150" i="1" dirty="0">
                <a:solidFill>
                  <a:srgbClr val="6C3CE9"/>
                </a:solidFill>
                <a:latin typeface="Calibri" pitchFamily="34" charset="0"/>
                <a:ea typeface="Calibri" pitchFamily="34" charset="-122"/>
                <a:cs typeface="Calibri" pitchFamily="34" charset="-120"/>
              </a:rPr>
              <a:t>Target Variable: Performance Category (Excellent → At Risk)</a:t>
            </a:r>
            <a:endParaRPr lang="en-US" sz="1150" dirty="0"/>
          </a:p>
        </p:txBody>
      </p:sp>
      <p:sp>
        <p:nvSpPr>
          <p:cNvPr id="23" name="Text 21"/>
          <p:cNvSpPr/>
          <p:nvPr/>
        </p:nvSpPr>
        <p:spPr>
          <a:xfrm>
            <a:off x="6903720" y="1417320"/>
            <a:ext cx="4754880" cy="320040"/>
          </a:xfrm>
          <a:prstGeom prst="rect">
            <a:avLst/>
          </a:prstGeom>
          <a:noFill/>
          <a:ln/>
        </p:spPr>
        <p:txBody>
          <a:bodyPr wrap="square" rtlCol="0" anchor="ctr"/>
          <a:lstStyle/>
          <a:p>
            <a:pPr marL="0" indent="0">
              <a:buNone/>
            </a:pPr>
            <a:r>
              <a:rPr lang="en-US" sz="1600" b="1" dirty="0">
                <a:solidFill>
                  <a:srgbClr val="1B1F3B"/>
                </a:solidFill>
                <a:latin typeface="Cambria" pitchFamily="34" charset="0"/>
                <a:ea typeface="Cambria" pitchFamily="34" charset="-122"/>
                <a:cs typeface="Cambria" pitchFamily="34" charset="-120"/>
              </a:rPr>
              <a:t>Preprocessing Pipeline</a:t>
            </a:r>
            <a:endParaRPr lang="en-US" sz="1600" dirty="0"/>
          </a:p>
        </p:txBody>
      </p:sp>
      <p:sp>
        <p:nvSpPr>
          <p:cNvPr id="24" name="Shape 22"/>
          <p:cNvSpPr/>
          <p:nvPr/>
        </p:nvSpPr>
        <p:spPr>
          <a:xfrm>
            <a:off x="6903720" y="1874520"/>
            <a:ext cx="4754880" cy="566928"/>
          </a:xfrm>
          <a:prstGeom prst="roundRect">
            <a:avLst>
              <a:gd name="adj" fmla="val 14516"/>
            </a:avLst>
          </a:prstGeom>
          <a:solidFill>
            <a:srgbClr val="141A45"/>
          </a:solidFill>
          <a:ln/>
        </p:spPr>
      </p:sp>
      <p:pic>
        <p:nvPicPr>
          <p:cNvPr id="25" name="Image 0" descr="preencoded.png"/>
          <p:cNvPicPr>
            <a:picLocks noChangeAspect="1"/>
          </p:cNvPicPr>
          <p:nvPr/>
        </p:nvPicPr>
        <p:blipFill>
          <a:blip r:embed="rId3"/>
          <a:stretch>
            <a:fillRect/>
          </a:stretch>
        </p:blipFill>
        <p:spPr>
          <a:xfrm>
            <a:off x="7050024" y="2020824"/>
            <a:ext cx="274320" cy="274320"/>
          </a:xfrm>
          <a:prstGeom prst="rect">
            <a:avLst/>
          </a:prstGeom>
        </p:spPr>
      </p:pic>
      <p:sp>
        <p:nvSpPr>
          <p:cNvPr id="26" name="Text 23"/>
          <p:cNvSpPr/>
          <p:nvPr/>
        </p:nvSpPr>
        <p:spPr>
          <a:xfrm>
            <a:off x="7452360" y="1920240"/>
            <a:ext cx="1737360" cy="475488"/>
          </a:xfrm>
          <a:prstGeom prst="rect">
            <a:avLst/>
          </a:prstGeom>
          <a:noFill/>
          <a:ln/>
        </p:spPr>
        <p:txBody>
          <a:bodyPr wrap="square" rtlCol="0" anchor="ctr"/>
          <a:lstStyle/>
          <a:p>
            <a:pPr marL="0" indent="0">
              <a:buNone/>
            </a:pPr>
            <a:r>
              <a:rPr lang="en-US" sz="1250" b="1" dirty="0">
                <a:solidFill>
                  <a:srgbClr val="FFFFFF"/>
                </a:solidFill>
                <a:latin typeface="Cambria" pitchFamily="34" charset="0"/>
                <a:ea typeface="Cambria" pitchFamily="34" charset="-122"/>
                <a:cs typeface="Cambria" pitchFamily="34" charset="-120"/>
              </a:rPr>
              <a:t>Data Cleaning</a:t>
            </a:r>
            <a:endParaRPr lang="en-US" sz="1250" dirty="0"/>
          </a:p>
        </p:txBody>
      </p:sp>
      <p:sp>
        <p:nvSpPr>
          <p:cNvPr id="27" name="Text 24"/>
          <p:cNvSpPr/>
          <p:nvPr/>
        </p:nvSpPr>
        <p:spPr>
          <a:xfrm>
            <a:off x="9235440" y="1920240"/>
            <a:ext cx="2286000" cy="475488"/>
          </a:xfrm>
          <a:prstGeom prst="rect">
            <a:avLst/>
          </a:prstGeom>
          <a:noFill/>
          <a:ln/>
        </p:spPr>
        <p:txBody>
          <a:bodyPr wrap="square" rtlCol="0" anchor="ctr"/>
          <a:lstStyle/>
          <a:p>
            <a:pPr marL="0" indent="0">
              <a:buNone/>
            </a:pPr>
            <a:r>
              <a:rPr lang="en-US" sz="1000" dirty="0">
                <a:solidFill>
                  <a:srgbClr val="E7E9FA"/>
                </a:solidFill>
                <a:latin typeface="Calibri" pitchFamily="34" charset="0"/>
                <a:ea typeface="Calibri" pitchFamily="34" charset="-122"/>
                <a:cs typeface="Calibri" pitchFamily="34" charset="-120"/>
              </a:rPr>
              <a:t>Handle missing values &amp; duplicates</a:t>
            </a:r>
            <a:endParaRPr lang="en-US" sz="1000" dirty="0"/>
          </a:p>
        </p:txBody>
      </p:sp>
      <p:sp>
        <p:nvSpPr>
          <p:cNvPr id="28" name="Shape 25"/>
          <p:cNvSpPr/>
          <p:nvPr/>
        </p:nvSpPr>
        <p:spPr>
          <a:xfrm>
            <a:off x="6903720" y="2560320"/>
            <a:ext cx="4754880" cy="566928"/>
          </a:xfrm>
          <a:prstGeom prst="roundRect">
            <a:avLst>
              <a:gd name="adj" fmla="val 14516"/>
            </a:avLst>
          </a:prstGeom>
          <a:solidFill>
            <a:srgbClr val="6C3CE9"/>
          </a:solidFill>
          <a:ln/>
        </p:spPr>
      </p:sp>
      <p:pic>
        <p:nvPicPr>
          <p:cNvPr id="29" name="Image 1" descr="preencoded.png"/>
          <p:cNvPicPr>
            <a:picLocks noChangeAspect="1"/>
          </p:cNvPicPr>
          <p:nvPr/>
        </p:nvPicPr>
        <p:blipFill>
          <a:blip r:embed="rId4"/>
          <a:stretch>
            <a:fillRect/>
          </a:stretch>
        </p:blipFill>
        <p:spPr>
          <a:xfrm>
            <a:off x="7050024" y="2706624"/>
            <a:ext cx="274320" cy="274320"/>
          </a:xfrm>
          <a:prstGeom prst="rect">
            <a:avLst/>
          </a:prstGeom>
        </p:spPr>
      </p:pic>
      <p:sp>
        <p:nvSpPr>
          <p:cNvPr id="30" name="Text 26"/>
          <p:cNvSpPr/>
          <p:nvPr/>
        </p:nvSpPr>
        <p:spPr>
          <a:xfrm>
            <a:off x="7452360" y="2606040"/>
            <a:ext cx="1737360" cy="475488"/>
          </a:xfrm>
          <a:prstGeom prst="rect">
            <a:avLst/>
          </a:prstGeom>
          <a:noFill/>
          <a:ln/>
        </p:spPr>
        <p:txBody>
          <a:bodyPr wrap="square" rtlCol="0" anchor="ctr"/>
          <a:lstStyle/>
          <a:p>
            <a:pPr marL="0" indent="0">
              <a:buNone/>
            </a:pPr>
            <a:r>
              <a:rPr lang="en-US" sz="1250" b="1" dirty="0">
                <a:solidFill>
                  <a:srgbClr val="FFFFFF"/>
                </a:solidFill>
                <a:latin typeface="Cambria" pitchFamily="34" charset="0"/>
                <a:ea typeface="Cambria" pitchFamily="34" charset="-122"/>
                <a:cs typeface="Cambria" pitchFamily="34" charset="-120"/>
              </a:rPr>
              <a:t>Outlier Detection</a:t>
            </a:r>
            <a:endParaRPr lang="en-US" sz="1250" dirty="0"/>
          </a:p>
        </p:txBody>
      </p:sp>
      <p:sp>
        <p:nvSpPr>
          <p:cNvPr id="31" name="Text 27"/>
          <p:cNvSpPr/>
          <p:nvPr/>
        </p:nvSpPr>
        <p:spPr>
          <a:xfrm>
            <a:off x="9235440" y="2606040"/>
            <a:ext cx="2286000" cy="475488"/>
          </a:xfrm>
          <a:prstGeom prst="rect">
            <a:avLst/>
          </a:prstGeom>
          <a:noFill/>
          <a:ln/>
        </p:spPr>
        <p:txBody>
          <a:bodyPr wrap="square" rtlCol="0" anchor="ctr"/>
          <a:lstStyle/>
          <a:p>
            <a:pPr marL="0" indent="0">
              <a:buNone/>
            </a:pPr>
            <a:r>
              <a:rPr lang="en-US" sz="1000" dirty="0">
                <a:solidFill>
                  <a:srgbClr val="E7E9FA"/>
                </a:solidFill>
                <a:latin typeface="Calibri" pitchFamily="34" charset="0"/>
                <a:ea typeface="Calibri" pitchFamily="34" charset="-122"/>
                <a:cs typeface="Calibri" pitchFamily="34" charset="-120"/>
              </a:rPr>
              <a:t>IQR-based outlier handling</a:t>
            </a:r>
            <a:endParaRPr lang="en-US" sz="1000" dirty="0"/>
          </a:p>
        </p:txBody>
      </p:sp>
      <p:sp>
        <p:nvSpPr>
          <p:cNvPr id="32" name="Shape 28"/>
          <p:cNvSpPr/>
          <p:nvPr/>
        </p:nvSpPr>
        <p:spPr>
          <a:xfrm>
            <a:off x="6903720" y="3246120"/>
            <a:ext cx="4754880" cy="566928"/>
          </a:xfrm>
          <a:prstGeom prst="roundRect">
            <a:avLst>
              <a:gd name="adj" fmla="val 14516"/>
            </a:avLst>
          </a:prstGeom>
          <a:solidFill>
            <a:srgbClr val="141A45"/>
          </a:solidFill>
          <a:ln/>
        </p:spPr>
      </p:sp>
      <p:pic>
        <p:nvPicPr>
          <p:cNvPr id="33" name="Image 2" descr="preencoded.png"/>
          <p:cNvPicPr>
            <a:picLocks noChangeAspect="1"/>
          </p:cNvPicPr>
          <p:nvPr/>
        </p:nvPicPr>
        <p:blipFill>
          <a:blip r:embed="rId5"/>
          <a:stretch>
            <a:fillRect/>
          </a:stretch>
        </p:blipFill>
        <p:spPr>
          <a:xfrm>
            <a:off x="7050024" y="3392424"/>
            <a:ext cx="274320" cy="274320"/>
          </a:xfrm>
          <a:prstGeom prst="rect">
            <a:avLst/>
          </a:prstGeom>
        </p:spPr>
      </p:pic>
      <p:sp>
        <p:nvSpPr>
          <p:cNvPr id="34" name="Text 29"/>
          <p:cNvSpPr/>
          <p:nvPr/>
        </p:nvSpPr>
        <p:spPr>
          <a:xfrm>
            <a:off x="7452360" y="3291840"/>
            <a:ext cx="1737360" cy="475488"/>
          </a:xfrm>
          <a:prstGeom prst="rect">
            <a:avLst/>
          </a:prstGeom>
          <a:noFill/>
          <a:ln/>
        </p:spPr>
        <p:txBody>
          <a:bodyPr wrap="square" rtlCol="0" anchor="ctr"/>
          <a:lstStyle/>
          <a:p>
            <a:pPr marL="0" indent="0">
              <a:buNone/>
            </a:pPr>
            <a:r>
              <a:rPr lang="en-US" sz="1250" b="1" dirty="0">
                <a:solidFill>
                  <a:srgbClr val="FFFFFF"/>
                </a:solidFill>
                <a:latin typeface="Cambria" pitchFamily="34" charset="0"/>
                <a:ea typeface="Cambria" pitchFamily="34" charset="-122"/>
                <a:cs typeface="Cambria" pitchFamily="34" charset="-120"/>
              </a:rPr>
              <a:t>Encoding</a:t>
            </a:r>
            <a:endParaRPr lang="en-US" sz="1250" dirty="0"/>
          </a:p>
        </p:txBody>
      </p:sp>
      <p:sp>
        <p:nvSpPr>
          <p:cNvPr id="35" name="Text 30"/>
          <p:cNvSpPr/>
          <p:nvPr/>
        </p:nvSpPr>
        <p:spPr>
          <a:xfrm>
            <a:off x="9235440" y="3291840"/>
            <a:ext cx="2286000" cy="475488"/>
          </a:xfrm>
          <a:prstGeom prst="rect">
            <a:avLst/>
          </a:prstGeom>
          <a:noFill/>
          <a:ln/>
        </p:spPr>
        <p:txBody>
          <a:bodyPr wrap="square" rtlCol="0" anchor="ctr"/>
          <a:lstStyle/>
          <a:p>
            <a:pPr marL="0" indent="0">
              <a:buNone/>
            </a:pPr>
            <a:r>
              <a:rPr lang="en-US" sz="1000" dirty="0">
                <a:solidFill>
                  <a:srgbClr val="E7E9FA"/>
                </a:solidFill>
                <a:latin typeface="Calibri" pitchFamily="34" charset="0"/>
                <a:ea typeface="Calibri" pitchFamily="34" charset="-122"/>
                <a:cs typeface="Calibri" pitchFamily="34" charset="-120"/>
              </a:rPr>
              <a:t>One-Hot encode categorical fields</a:t>
            </a:r>
            <a:endParaRPr lang="en-US" sz="1000" dirty="0"/>
          </a:p>
        </p:txBody>
      </p:sp>
      <p:sp>
        <p:nvSpPr>
          <p:cNvPr id="36" name="Shape 31"/>
          <p:cNvSpPr/>
          <p:nvPr/>
        </p:nvSpPr>
        <p:spPr>
          <a:xfrm>
            <a:off x="6903720" y="3931920"/>
            <a:ext cx="4754880" cy="566928"/>
          </a:xfrm>
          <a:prstGeom prst="roundRect">
            <a:avLst>
              <a:gd name="adj" fmla="val 14516"/>
            </a:avLst>
          </a:prstGeom>
          <a:solidFill>
            <a:srgbClr val="6C3CE9"/>
          </a:solidFill>
          <a:ln/>
        </p:spPr>
      </p:sp>
      <p:pic>
        <p:nvPicPr>
          <p:cNvPr id="37" name="Image 3" descr="preencoded.png"/>
          <p:cNvPicPr>
            <a:picLocks noChangeAspect="1"/>
          </p:cNvPicPr>
          <p:nvPr/>
        </p:nvPicPr>
        <p:blipFill>
          <a:blip r:embed="rId6"/>
          <a:stretch>
            <a:fillRect/>
          </a:stretch>
        </p:blipFill>
        <p:spPr>
          <a:xfrm>
            <a:off x="7050024" y="4078224"/>
            <a:ext cx="274320" cy="274320"/>
          </a:xfrm>
          <a:prstGeom prst="rect">
            <a:avLst/>
          </a:prstGeom>
        </p:spPr>
      </p:pic>
      <p:sp>
        <p:nvSpPr>
          <p:cNvPr id="38" name="Text 32"/>
          <p:cNvSpPr/>
          <p:nvPr/>
        </p:nvSpPr>
        <p:spPr>
          <a:xfrm>
            <a:off x="7452360" y="3977640"/>
            <a:ext cx="1737360" cy="475488"/>
          </a:xfrm>
          <a:prstGeom prst="rect">
            <a:avLst/>
          </a:prstGeom>
          <a:noFill/>
          <a:ln/>
        </p:spPr>
        <p:txBody>
          <a:bodyPr wrap="square" rtlCol="0" anchor="ctr"/>
          <a:lstStyle/>
          <a:p>
            <a:pPr marL="0" indent="0">
              <a:buNone/>
            </a:pPr>
            <a:r>
              <a:rPr lang="en-US" sz="1250" b="1" dirty="0">
                <a:solidFill>
                  <a:srgbClr val="FFFFFF"/>
                </a:solidFill>
                <a:latin typeface="Cambria" pitchFamily="34" charset="0"/>
                <a:ea typeface="Cambria" pitchFamily="34" charset="-122"/>
                <a:cs typeface="Cambria" pitchFamily="34" charset="-120"/>
              </a:rPr>
              <a:t>Feature Scaling</a:t>
            </a:r>
            <a:endParaRPr lang="en-US" sz="1250" dirty="0"/>
          </a:p>
        </p:txBody>
      </p:sp>
      <p:sp>
        <p:nvSpPr>
          <p:cNvPr id="39" name="Text 33"/>
          <p:cNvSpPr/>
          <p:nvPr/>
        </p:nvSpPr>
        <p:spPr>
          <a:xfrm>
            <a:off x="9235440" y="3977640"/>
            <a:ext cx="2286000" cy="475488"/>
          </a:xfrm>
          <a:prstGeom prst="rect">
            <a:avLst/>
          </a:prstGeom>
          <a:noFill/>
          <a:ln/>
        </p:spPr>
        <p:txBody>
          <a:bodyPr wrap="square" rtlCol="0" anchor="ctr"/>
          <a:lstStyle/>
          <a:p>
            <a:pPr marL="0" indent="0">
              <a:buNone/>
            </a:pPr>
            <a:r>
              <a:rPr lang="en-US" sz="1000" dirty="0">
                <a:solidFill>
                  <a:srgbClr val="E7E9FA"/>
                </a:solidFill>
                <a:latin typeface="Calibri" pitchFamily="34" charset="0"/>
                <a:ea typeface="Calibri" pitchFamily="34" charset="-122"/>
                <a:cs typeface="Calibri" pitchFamily="34" charset="-120"/>
              </a:rPr>
              <a:t>StandardScaler on numeric features</a:t>
            </a:r>
            <a:endParaRPr lang="en-US" sz="1000" dirty="0"/>
          </a:p>
        </p:txBody>
      </p:sp>
      <p:sp>
        <p:nvSpPr>
          <p:cNvPr id="40" name="Shape 34"/>
          <p:cNvSpPr/>
          <p:nvPr/>
        </p:nvSpPr>
        <p:spPr>
          <a:xfrm>
            <a:off x="6903720" y="4617720"/>
            <a:ext cx="4754880" cy="566928"/>
          </a:xfrm>
          <a:prstGeom prst="roundRect">
            <a:avLst>
              <a:gd name="adj" fmla="val 14516"/>
            </a:avLst>
          </a:prstGeom>
          <a:solidFill>
            <a:srgbClr val="141A45"/>
          </a:solidFill>
          <a:ln/>
        </p:spPr>
      </p:sp>
      <p:pic>
        <p:nvPicPr>
          <p:cNvPr id="41" name="Image 4" descr="preencoded.png"/>
          <p:cNvPicPr>
            <a:picLocks noChangeAspect="1"/>
          </p:cNvPicPr>
          <p:nvPr/>
        </p:nvPicPr>
        <p:blipFill>
          <a:blip r:embed="rId7"/>
          <a:stretch>
            <a:fillRect/>
          </a:stretch>
        </p:blipFill>
        <p:spPr>
          <a:xfrm>
            <a:off x="7050024" y="4764024"/>
            <a:ext cx="274320" cy="274320"/>
          </a:xfrm>
          <a:prstGeom prst="rect">
            <a:avLst/>
          </a:prstGeom>
        </p:spPr>
      </p:pic>
      <p:sp>
        <p:nvSpPr>
          <p:cNvPr id="42" name="Text 35"/>
          <p:cNvSpPr/>
          <p:nvPr/>
        </p:nvSpPr>
        <p:spPr>
          <a:xfrm>
            <a:off x="7452360" y="4663440"/>
            <a:ext cx="1737360" cy="475488"/>
          </a:xfrm>
          <a:prstGeom prst="rect">
            <a:avLst/>
          </a:prstGeom>
          <a:noFill/>
          <a:ln/>
        </p:spPr>
        <p:txBody>
          <a:bodyPr wrap="square" rtlCol="0" anchor="ctr"/>
          <a:lstStyle/>
          <a:p>
            <a:pPr marL="0" indent="0">
              <a:buNone/>
            </a:pPr>
            <a:r>
              <a:rPr lang="en-US" sz="1250" b="1" dirty="0">
                <a:solidFill>
                  <a:srgbClr val="FFFFFF"/>
                </a:solidFill>
                <a:latin typeface="Cambria" pitchFamily="34" charset="0"/>
                <a:ea typeface="Cambria" pitchFamily="34" charset="-122"/>
                <a:cs typeface="Cambria" pitchFamily="34" charset="-120"/>
              </a:rPr>
              <a:t>Train-Test Split</a:t>
            </a:r>
            <a:endParaRPr lang="en-US" sz="1250" dirty="0"/>
          </a:p>
        </p:txBody>
      </p:sp>
      <p:sp>
        <p:nvSpPr>
          <p:cNvPr id="43" name="Text 36"/>
          <p:cNvSpPr/>
          <p:nvPr/>
        </p:nvSpPr>
        <p:spPr>
          <a:xfrm>
            <a:off x="9235440" y="4663440"/>
            <a:ext cx="2286000" cy="475488"/>
          </a:xfrm>
          <a:prstGeom prst="rect">
            <a:avLst/>
          </a:prstGeom>
          <a:noFill/>
          <a:ln/>
        </p:spPr>
        <p:txBody>
          <a:bodyPr wrap="square" rtlCol="0" anchor="ctr"/>
          <a:lstStyle/>
          <a:p>
            <a:pPr marL="0" indent="0">
              <a:buNone/>
            </a:pPr>
            <a:r>
              <a:rPr lang="en-US" sz="1000" dirty="0">
                <a:solidFill>
                  <a:srgbClr val="E7E9FA"/>
                </a:solidFill>
                <a:latin typeface="Calibri" pitchFamily="34" charset="0"/>
                <a:ea typeface="Calibri" pitchFamily="34" charset="-122"/>
                <a:cs typeface="Calibri" pitchFamily="34" charset="-120"/>
              </a:rPr>
              <a:t>80% train / 20% test</a:t>
            </a:r>
            <a:endParaRPr lang="en-US" sz="1000" dirty="0"/>
          </a:p>
        </p:txBody>
      </p:sp>
      <p:sp>
        <p:nvSpPr>
          <p:cNvPr id="44" name="Text 37"/>
          <p:cNvSpPr/>
          <p:nvPr/>
        </p:nvSpPr>
        <p:spPr>
          <a:xfrm>
            <a:off x="11475720" y="6510528"/>
            <a:ext cx="548640" cy="274320"/>
          </a:xfrm>
          <a:prstGeom prst="rect">
            <a:avLst/>
          </a:prstGeom>
          <a:noFill/>
          <a:ln/>
        </p:spPr>
        <p:txBody>
          <a:bodyPr wrap="square" rtlCol="0" anchor="ctr"/>
          <a:lstStyle/>
          <a:p>
            <a:pPr marL="0" indent="0" algn="r">
              <a:buNone/>
            </a:pPr>
            <a:r>
              <a:rPr lang="en-US" sz="1000" dirty="0">
                <a:solidFill>
                  <a:srgbClr val="6E7488"/>
                </a:solidFill>
                <a:latin typeface="Calibri" pitchFamily="34" charset="0"/>
                <a:ea typeface="Calibri" pitchFamily="34" charset="-122"/>
                <a:cs typeface="Calibri" pitchFamily="34" charset="-120"/>
              </a:rPr>
              <a:t>06</a:t>
            </a:r>
            <a:endParaRPr lang="en-US" sz="10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6F7FD"/>
        </a:solidFill>
        <a:effectLst/>
      </p:bgPr>
    </p:bg>
    <p:spTree>
      <p:nvGrpSpPr>
        <p:cNvPr id="1" name=""/>
        <p:cNvGrpSpPr/>
        <p:nvPr/>
      </p:nvGrpSpPr>
      <p:grpSpPr>
        <a:xfrm>
          <a:off x="0" y="0"/>
          <a:ext cx="0" cy="0"/>
          <a:chOff x="0" y="0"/>
          <a:chExt cx="0" cy="0"/>
        </a:xfrm>
      </p:grpSpPr>
      <p:sp>
        <p:nvSpPr>
          <p:cNvPr id="2" name="Text 0"/>
          <p:cNvSpPr/>
          <p:nvPr/>
        </p:nvSpPr>
        <p:spPr>
          <a:xfrm>
            <a:off x="548640" y="320040"/>
            <a:ext cx="7315200" cy="320040"/>
          </a:xfrm>
          <a:prstGeom prst="rect">
            <a:avLst/>
          </a:prstGeom>
          <a:noFill/>
          <a:ln/>
        </p:spPr>
        <p:txBody>
          <a:bodyPr wrap="square" rtlCol="0" anchor="ctr"/>
          <a:lstStyle/>
          <a:p>
            <a:pPr marL="0" indent="0">
              <a:buNone/>
            </a:pPr>
            <a:r>
              <a:rPr lang="en-US" sz="1300" b="1" kern="0" spc="200" dirty="0">
                <a:solidFill>
                  <a:srgbClr val="6C3CE9"/>
                </a:solidFill>
                <a:latin typeface="Calibri" pitchFamily="34" charset="0"/>
                <a:ea typeface="Calibri" pitchFamily="34" charset="-122"/>
                <a:cs typeface="Calibri" pitchFamily="34" charset="-120"/>
              </a:rPr>
              <a:t>ML WORKFLOW</a:t>
            </a:r>
            <a:endParaRPr lang="en-US" sz="1300" dirty="0"/>
          </a:p>
        </p:txBody>
      </p:sp>
      <p:sp>
        <p:nvSpPr>
          <p:cNvPr id="3" name="Text 1"/>
          <p:cNvSpPr/>
          <p:nvPr/>
        </p:nvSpPr>
        <p:spPr>
          <a:xfrm>
            <a:off x="548640" y="621792"/>
            <a:ext cx="10515600" cy="685800"/>
          </a:xfrm>
          <a:prstGeom prst="rect">
            <a:avLst/>
          </a:prstGeom>
          <a:noFill/>
          <a:ln/>
        </p:spPr>
        <p:txBody>
          <a:bodyPr wrap="square" rtlCol="0" anchor="ctr"/>
          <a:lstStyle/>
          <a:p>
            <a:pPr marL="0" indent="0">
              <a:buNone/>
            </a:pPr>
            <a:r>
              <a:rPr lang="en-US" sz="3200" b="1" dirty="0">
                <a:solidFill>
                  <a:srgbClr val="1B1F3B"/>
                </a:solidFill>
                <a:latin typeface="Cambria" pitchFamily="34" charset="0"/>
                <a:ea typeface="Cambria" pitchFamily="34" charset="-122"/>
                <a:cs typeface="Cambria" pitchFamily="34" charset="-120"/>
              </a:rPr>
              <a:t>Machine Learning Pipeline</a:t>
            </a:r>
            <a:endParaRPr lang="en-US" sz="3200" dirty="0"/>
          </a:p>
        </p:txBody>
      </p:sp>
      <p:sp>
        <p:nvSpPr>
          <p:cNvPr id="4" name="Shape 2"/>
          <p:cNvSpPr/>
          <p:nvPr/>
        </p:nvSpPr>
        <p:spPr>
          <a:xfrm>
            <a:off x="507492" y="1600200"/>
            <a:ext cx="1755648" cy="960120"/>
          </a:xfrm>
          <a:prstGeom prst="roundRect">
            <a:avLst>
              <a:gd name="adj" fmla="val 9524"/>
            </a:avLst>
          </a:prstGeom>
          <a:solidFill>
            <a:srgbClr val="141A45"/>
          </a:solidFill>
          <a:ln/>
        </p:spPr>
      </p:sp>
      <p:sp>
        <p:nvSpPr>
          <p:cNvPr id="5" name="Text 3"/>
          <p:cNvSpPr/>
          <p:nvPr/>
        </p:nvSpPr>
        <p:spPr>
          <a:xfrm>
            <a:off x="580644" y="1645920"/>
            <a:ext cx="457200" cy="274320"/>
          </a:xfrm>
          <a:prstGeom prst="rect">
            <a:avLst/>
          </a:prstGeom>
          <a:noFill/>
          <a:ln/>
        </p:spPr>
        <p:txBody>
          <a:bodyPr wrap="square" rtlCol="0" anchor="ctr"/>
          <a:lstStyle/>
          <a:p>
            <a:pPr marL="0" indent="0">
              <a:buNone/>
            </a:pPr>
            <a:r>
              <a:rPr lang="en-US" sz="1000" b="1" dirty="0">
                <a:solidFill>
                  <a:srgbClr val="B9C0FF"/>
                </a:solidFill>
                <a:latin typeface="Calibri" pitchFamily="34" charset="0"/>
                <a:ea typeface="Calibri" pitchFamily="34" charset="-122"/>
                <a:cs typeface="Calibri" pitchFamily="34" charset="-120"/>
              </a:rPr>
              <a:t>1</a:t>
            </a:r>
            <a:endParaRPr lang="en-US" sz="1000" dirty="0"/>
          </a:p>
        </p:txBody>
      </p:sp>
      <p:sp>
        <p:nvSpPr>
          <p:cNvPr id="6" name="Text 4"/>
          <p:cNvSpPr/>
          <p:nvPr/>
        </p:nvSpPr>
        <p:spPr>
          <a:xfrm>
            <a:off x="580644" y="1874520"/>
            <a:ext cx="1609344" cy="594360"/>
          </a:xfrm>
          <a:prstGeom prst="rect">
            <a:avLst/>
          </a:prstGeom>
          <a:noFill/>
          <a:ln/>
        </p:spPr>
        <p:txBody>
          <a:bodyPr wrap="square" rtlCol="0" anchor="ctr"/>
          <a:lstStyle/>
          <a:p>
            <a:pPr marL="0" indent="0" algn="ctr">
              <a:buNone/>
            </a:pPr>
            <a:r>
              <a:rPr lang="en-US" sz="1200" b="1" dirty="0">
                <a:solidFill>
                  <a:srgbClr val="FFFFFF"/>
                </a:solidFill>
                <a:latin typeface="Cambria" pitchFamily="34" charset="0"/>
                <a:ea typeface="Cambria" pitchFamily="34" charset="-122"/>
                <a:cs typeface="Cambria" pitchFamily="34" charset="-120"/>
              </a:rPr>
              <a:t>Dataset</a:t>
            </a:r>
            <a:endParaRPr lang="en-US" sz="1200" dirty="0"/>
          </a:p>
        </p:txBody>
      </p:sp>
      <p:sp>
        <p:nvSpPr>
          <p:cNvPr id="7" name="Shape 5"/>
          <p:cNvSpPr/>
          <p:nvPr/>
        </p:nvSpPr>
        <p:spPr>
          <a:xfrm>
            <a:off x="2263140" y="2080260"/>
            <a:ext cx="128016" cy="914"/>
          </a:xfrm>
          <a:prstGeom prst="line">
            <a:avLst/>
          </a:prstGeom>
          <a:noFill/>
          <a:ln w="19050">
            <a:solidFill>
              <a:srgbClr val="6E7488"/>
            </a:solidFill>
            <a:prstDash val="solid"/>
            <a:tailEnd type="triangle"/>
          </a:ln>
        </p:spPr>
      </p:sp>
      <p:sp>
        <p:nvSpPr>
          <p:cNvPr id="8" name="Shape 6"/>
          <p:cNvSpPr/>
          <p:nvPr/>
        </p:nvSpPr>
        <p:spPr>
          <a:xfrm>
            <a:off x="2391156" y="1600200"/>
            <a:ext cx="1755648" cy="960120"/>
          </a:xfrm>
          <a:prstGeom prst="roundRect">
            <a:avLst>
              <a:gd name="adj" fmla="val 9524"/>
            </a:avLst>
          </a:prstGeom>
          <a:solidFill>
            <a:srgbClr val="141A45"/>
          </a:solidFill>
          <a:ln/>
        </p:spPr>
      </p:sp>
      <p:sp>
        <p:nvSpPr>
          <p:cNvPr id="9" name="Text 7"/>
          <p:cNvSpPr/>
          <p:nvPr/>
        </p:nvSpPr>
        <p:spPr>
          <a:xfrm>
            <a:off x="2464308" y="1645920"/>
            <a:ext cx="457200" cy="274320"/>
          </a:xfrm>
          <a:prstGeom prst="rect">
            <a:avLst/>
          </a:prstGeom>
          <a:noFill/>
          <a:ln/>
        </p:spPr>
        <p:txBody>
          <a:bodyPr wrap="square" rtlCol="0" anchor="ctr"/>
          <a:lstStyle/>
          <a:p>
            <a:pPr marL="0" indent="0">
              <a:buNone/>
            </a:pPr>
            <a:r>
              <a:rPr lang="en-US" sz="1000" b="1" dirty="0">
                <a:solidFill>
                  <a:srgbClr val="B9C0FF"/>
                </a:solidFill>
                <a:latin typeface="Calibri" pitchFamily="34" charset="0"/>
                <a:ea typeface="Calibri" pitchFamily="34" charset="-122"/>
                <a:cs typeface="Calibri" pitchFamily="34" charset="-120"/>
              </a:rPr>
              <a:t>2</a:t>
            </a:r>
            <a:endParaRPr lang="en-US" sz="1000" dirty="0"/>
          </a:p>
        </p:txBody>
      </p:sp>
      <p:sp>
        <p:nvSpPr>
          <p:cNvPr id="10" name="Text 8"/>
          <p:cNvSpPr/>
          <p:nvPr/>
        </p:nvSpPr>
        <p:spPr>
          <a:xfrm>
            <a:off x="2464308" y="1874520"/>
            <a:ext cx="1609344" cy="594360"/>
          </a:xfrm>
          <a:prstGeom prst="rect">
            <a:avLst/>
          </a:prstGeom>
          <a:noFill/>
          <a:ln/>
        </p:spPr>
        <p:txBody>
          <a:bodyPr wrap="square" rtlCol="0" anchor="ctr"/>
          <a:lstStyle/>
          <a:p>
            <a:pPr marL="0" indent="0" algn="ctr">
              <a:buNone/>
            </a:pPr>
            <a:r>
              <a:rPr lang="en-US" sz="1200" b="1" dirty="0">
                <a:solidFill>
                  <a:srgbClr val="FFFFFF"/>
                </a:solidFill>
                <a:latin typeface="Cambria" pitchFamily="34" charset="0"/>
                <a:ea typeface="Cambria" pitchFamily="34" charset="-122"/>
                <a:cs typeface="Cambria" pitchFamily="34" charset="-120"/>
              </a:rPr>
              <a:t>Cleaning</a:t>
            </a:r>
            <a:endParaRPr lang="en-US" sz="1200" dirty="0"/>
          </a:p>
        </p:txBody>
      </p:sp>
      <p:sp>
        <p:nvSpPr>
          <p:cNvPr id="11" name="Shape 9"/>
          <p:cNvSpPr/>
          <p:nvPr/>
        </p:nvSpPr>
        <p:spPr>
          <a:xfrm>
            <a:off x="4146804" y="2080260"/>
            <a:ext cx="128016" cy="914"/>
          </a:xfrm>
          <a:prstGeom prst="line">
            <a:avLst/>
          </a:prstGeom>
          <a:noFill/>
          <a:ln w="19050">
            <a:solidFill>
              <a:srgbClr val="6E7488"/>
            </a:solidFill>
            <a:prstDash val="solid"/>
            <a:tailEnd type="triangle"/>
          </a:ln>
        </p:spPr>
      </p:sp>
      <p:sp>
        <p:nvSpPr>
          <p:cNvPr id="12" name="Shape 10"/>
          <p:cNvSpPr/>
          <p:nvPr/>
        </p:nvSpPr>
        <p:spPr>
          <a:xfrm>
            <a:off x="4274820" y="1600200"/>
            <a:ext cx="1755648" cy="960120"/>
          </a:xfrm>
          <a:prstGeom prst="roundRect">
            <a:avLst>
              <a:gd name="adj" fmla="val 9524"/>
            </a:avLst>
          </a:prstGeom>
          <a:solidFill>
            <a:srgbClr val="141A45"/>
          </a:solidFill>
          <a:ln/>
        </p:spPr>
      </p:sp>
      <p:sp>
        <p:nvSpPr>
          <p:cNvPr id="13" name="Text 11"/>
          <p:cNvSpPr/>
          <p:nvPr/>
        </p:nvSpPr>
        <p:spPr>
          <a:xfrm>
            <a:off x="4347972" y="1645920"/>
            <a:ext cx="457200" cy="274320"/>
          </a:xfrm>
          <a:prstGeom prst="rect">
            <a:avLst/>
          </a:prstGeom>
          <a:noFill/>
          <a:ln/>
        </p:spPr>
        <p:txBody>
          <a:bodyPr wrap="square" rtlCol="0" anchor="ctr"/>
          <a:lstStyle/>
          <a:p>
            <a:pPr marL="0" indent="0">
              <a:buNone/>
            </a:pPr>
            <a:r>
              <a:rPr lang="en-US" sz="1000" b="1" dirty="0">
                <a:solidFill>
                  <a:srgbClr val="B9C0FF"/>
                </a:solidFill>
                <a:latin typeface="Calibri" pitchFamily="34" charset="0"/>
                <a:ea typeface="Calibri" pitchFamily="34" charset="-122"/>
                <a:cs typeface="Calibri" pitchFamily="34" charset="-120"/>
              </a:rPr>
              <a:t>3</a:t>
            </a:r>
            <a:endParaRPr lang="en-US" sz="1000" dirty="0"/>
          </a:p>
        </p:txBody>
      </p:sp>
      <p:sp>
        <p:nvSpPr>
          <p:cNvPr id="14" name="Text 12"/>
          <p:cNvSpPr/>
          <p:nvPr/>
        </p:nvSpPr>
        <p:spPr>
          <a:xfrm>
            <a:off x="4347972" y="1874520"/>
            <a:ext cx="1609344" cy="594360"/>
          </a:xfrm>
          <a:prstGeom prst="rect">
            <a:avLst/>
          </a:prstGeom>
          <a:noFill/>
          <a:ln/>
        </p:spPr>
        <p:txBody>
          <a:bodyPr wrap="square" rtlCol="0" anchor="ctr"/>
          <a:lstStyle/>
          <a:p>
            <a:pPr marL="0" indent="0" algn="ctr">
              <a:buNone/>
            </a:pPr>
            <a:r>
              <a:rPr lang="en-US" sz="1200" b="1" dirty="0">
                <a:solidFill>
                  <a:srgbClr val="FFFFFF"/>
                </a:solidFill>
                <a:latin typeface="Cambria" pitchFamily="34" charset="0"/>
                <a:ea typeface="Cambria" pitchFamily="34" charset="-122"/>
                <a:cs typeface="Cambria" pitchFamily="34" charset="-120"/>
              </a:rPr>
              <a:t>Feature</a:t>
            </a:r>
            <a:endParaRPr lang="en-US" sz="1200" dirty="0"/>
          </a:p>
          <a:p>
            <a:pPr marL="0" indent="0" algn="ctr">
              <a:buNone/>
            </a:pPr>
            <a:r>
              <a:rPr lang="en-US" sz="1200" b="1" dirty="0">
                <a:solidFill>
                  <a:srgbClr val="FFFFFF"/>
                </a:solidFill>
                <a:latin typeface="Cambria" pitchFamily="34" charset="0"/>
                <a:ea typeface="Cambria" pitchFamily="34" charset="-122"/>
                <a:cs typeface="Cambria" pitchFamily="34" charset="-120"/>
              </a:rPr>
              <a:t>Engineering</a:t>
            </a:r>
            <a:endParaRPr lang="en-US" sz="1200" dirty="0"/>
          </a:p>
        </p:txBody>
      </p:sp>
      <p:sp>
        <p:nvSpPr>
          <p:cNvPr id="15" name="Shape 13"/>
          <p:cNvSpPr/>
          <p:nvPr/>
        </p:nvSpPr>
        <p:spPr>
          <a:xfrm>
            <a:off x="6030468" y="2080260"/>
            <a:ext cx="128016" cy="914"/>
          </a:xfrm>
          <a:prstGeom prst="line">
            <a:avLst/>
          </a:prstGeom>
          <a:noFill/>
          <a:ln w="19050">
            <a:solidFill>
              <a:srgbClr val="6E7488"/>
            </a:solidFill>
            <a:prstDash val="solid"/>
            <a:tailEnd type="triangle"/>
          </a:ln>
        </p:spPr>
      </p:sp>
      <p:sp>
        <p:nvSpPr>
          <p:cNvPr id="16" name="Shape 14"/>
          <p:cNvSpPr/>
          <p:nvPr/>
        </p:nvSpPr>
        <p:spPr>
          <a:xfrm>
            <a:off x="6158484" y="1600200"/>
            <a:ext cx="1755648" cy="960120"/>
          </a:xfrm>
          <a:prstGeom prst="roundRect">
            <a:avLst>
              <a:gd name="adj" fmla="val 9524"/>
            </a:avLst>
          </a:prstGeom>
          <a:solidFill>
            <a:srgbClr val="141A45"/>
          </a:solidFill>
          <a:ln/>
        </p:spPr>
      </p:sp>
      <p:sp>
        <p:nvSpPr>
          <p:cNvPr id="17" name="Text 15"/>
          <p:cNvSpPr/>
          <p:nvPr/>
        </p:nvSpPr>
        <p:spPr>
          <a:xfrm>
            <a:off x="6231636" y="1645920"/>
            <a:ext cx="457200" cy="274320"/>
          </a:xfrm>
          <a:prstGeom prst="rect">
            <a:avLst/>
          </a:prstGeom>
          <a:noFill/>
          <a:ln/>
        </p:spPr>
        <p:txBody>
          <a:bodyPr wrap="square" rtlCol="0" anchor="ctr"/>
          <a:lstStyle/>
          <a:p>
            <a:pPr marL="0" indent="0">
              <a:buNone/>
            </a:pPr>
            <a:r>
              <a:rPr lang="en-US" sz="1000" b="1" dirty="0">
                <a:solidFill>
                  <a:srgbClr val="B9C0FF"/>
                </a:solidFill>
                <a:latin typeface="Calibri" pitchFamily="34" charset="0"/>
                <a:ea typeface="Calibri" pitchFamily="34" charset="-122"/>
                <a:cs typeface="Calibri" pitchFamily="34" charset="-120"/>
              </a:rPr>
              <a:t>4</a:t>
            </a:r>
            <a:endParaRPr lang="en-US" sz="1000" dirty="0"/>
          </a:p>
        </p:txBody>
      </p:sp>
      <p:sp>
        <p:nvSpPr>
          <p:cNvPr id="18" name="Text 16"/>
          <p:cNvSpPr/>
          <p:nvPr/>
        </p:nvSpPr>
        <p:spPr>
          <a:xfrm>
            <a:off x="6231636" y="1874520"/>
            <a:ext cx="1609344" cy="594360"/>
          </a:xfrm>
          <a:prstGeom prst="rect">
            <a:avLst/>
          </a:prstGeom>
          <a:noFill/>
          <a:ln/>
        </p:spPr>
        <p:txBody>
          <a:bodyPr wrap="square" rtlCol="0" anchor="ctr"/>
          <a:lstStyle/>
          <a:p>
            <a:pPr marL="0" indent="0" algn="ctr">
              <a:buNone/>
            </a:pPr>
            <a:r>
              <a:rPr lang="en-US" sz="1200" b="1" dirty="0">
                <a:solidFill>
                  <a:srgbClr val="FFFFFF"/>
                </a:solidFill>
                <a:latin typeface="Cambria" pitchFamily="34" charset="0"/>
                <a:ea typeface="Cambria" pitchFamily="34" charset="-122"/>
                <a:cs typeface="Cambria" pitchFamily="34" charset="-120"/>
              </a:rPr>
              <a:t>Encoding</a:t>
            </a:r>
            <a:endParaRPr lang="en-US" sz="1200" dirty="0"/>
          </a:p>
        </p:txBody>
      </p:sp>
      <p:sp>
        <p:nvSpPr>
          <p:cNvPr id="19" name="Shape 17"/>
          <p:cNvSpPr/>
          <p:nvPr/>
        </p:nvSpPr>
        <p:spPr>
          <a:xfrm>
            <a:off x="7914132" y="2080260"/>
            <a:ext cx="128016" cy="914"/>
          </a:xfrm>
          <a:prstGeom prst="line">
            <a:avLst/>
          </a:prstGeom>
          <a:noFill/>
          <a:ln w="19050">
            <a:solidFill>
              <a:srgbClr val="6E7488"/>
            </a:solidFill>
            <a:prstDash val="solid"/>
            <a:tailEnd type="triangle"/>
          </a:ln>
        </p:spPr>
      </p:sp>
      <p:sp>
        <p:nvSpPr>
          <p:cNvPr id="20" name="Shape 18"/>
          <p:cNvSpPr/>
          <p:nvPr/>
        </p:nvSpPr>
        <p:spPr>
          <a:xfrm>
            <a:off x="8042148" y="1600200"/>
            <a:ext cx="1755648" cy="960120"/>
          </a:xfrm>
          <a:prstGeom prst="roundRect">
            <a:avLst>
              <a:gd name="adj" fmla="val 9524"/>
            </a:avLst>
          </a:prstGeom>
          <a:solidFill>
            <a:srgbClr val="141A45"/>
          </a:solidFill>
          <a:ln/>
        </p:spPr>
      </p:sp>
      <p:sp>
        <p:nvSpPr>
          <p:cNvPr id="21" name="Text 19"/>
          <p:cNvSpPr/>
          <p:nvPr/>
        </p:nvSpPr>
        <p:spPr>
          <a:xfrm>
            <a:off x="8115300" y="1645920"/>
            <a:ext cx="457200" cy="274320"/>
          </a:xfrm>
          <a:prstGeom prst="rect">
            <a:avLst/>
          </a:prstGeom>
          <a:noFill/>
          <a:ln/>
        </p:spPr>
        <p:txBody>
          <a:bodyPr wrap="square" rtlCol="0" anchor="ctr"/>
          <a:lstStyle/>
          <a:p>
            <a:pPr marL="0" indent="0">
              <a:buNone/>
            </a:pPr>
            <a:r>
              <a:rPr lang="en-US" sz="1000" b="1" dirty="0">
                <a:solidFill>
                  <a:srgbClr val="B9C0FF"/>
                </a:solidFill>
                <a:latin typeface="Calibri" pitchFamily="34" charset="0"/>
                <a:ea typeface="Calibri" pitchFamily="34" charset="-122"/>
                <a:cs typeface="Calibri" pitchFamily="34" charset="-120"/>
              </a:rPr>
              <a:t>5</a:t>
            </a:r>
            <a:endParaRPr lang="en-US" sz="1000" dirty="0"/>
          </a:p>
        </p:txBody>
      </p:sp>
      <p:sp>
        <p:nvSpPr>
          <p:cNvPr id="22" name="Text 20"/>
          <p:cNvSpPr/>
          <p:nvPr/>
        </p:nvSpPr>
        <p:spPr>
          <a:xfrm>
            <a:off x="8115300" y="1874520"/>
            <a:ext cx="1609344" cy="594360"/>
          </a:xfrm>
          <a:prstGeom prst="rect">
            <a:avLst/>
          </a:prstGeom>
          <a:noFill/>
          <a:ln/>
        </p:spPr>
        <p:txBody>
          <a:bodyPr wrap="square" rtlCol="0" anchor="ctr"/>
          <a:lstStyle/>
          <a:p>
            <a:pPr marL="0" indent="0" algn="ctr">
              <a:buNone/>
            </a:pPr>
            <a:r>
              <a:rPr lang="en-US" sz="1200" b="1" dirty="0">
                <a:solidFill>
                  <a:srgbClr val="FFFFFF"/>
                </a:solidFill>
                <a:latin typeface="Cambria" pitchFamily="34" charset="0"/>
                <a:ea typeface="Cambria" pitchFamily="34" charset="-122"/>
                <a:cs typeface="Cambria" pitchFamily="34" charset="-120"/>
              </a:rPr>
              <a:t>Scaling</a:t>
            </a:r>
            <a:endParaRPr lang="en-US" sz="1200" dirty="0"/>
          </a:p>
        </p:txBody>
      </p:sp>
      <p:sp>
        <p:nvSpPr>
          <p:cNvPr id="23" name="Shape 21"/>
          <p:cNvSpPr/>
          <p:nvPr/>
        </p:nvSpPr>
        <p:spPr>
          <a:xfrm>
            <a:off x="9797796" y="2080260"/>
            <a:ext cx="128016" cy="914"/>
          </a:xfrm>
          <a:prstGeom prst="line">
            <a:avLst/>
          </a:prstGeom>
          <a:noFill/>
          <a:ln w="19050">
            <a:solidFill>
              <a:srgbClr val="6E7488"/>
            </a:solidFill>
            <a:prstDash val="solid"/>
            <a:tailEnd type="triangle"/>
          </a:ln>
        </p:spPr>
      </p:sp>
      <p:sp>
        <p:nvSpPr>
          <p:cNvPr id="24" name="Shape 22"/>
          <p:cNvSpPr/>
          <p:nvPr/>
        </p:nvSpPr>
        <p:spPr>
          <a:xfrm>
            <a:off x="9925812" y="1600200"/>
            <a:ext cx="1755648" cy="960120"/>
          </a:xfrm>
          <a:prstGeom prst="roundRect">
            <a:avLst>
              <a:gd name="adj" fmla="val 9524"/>
            </a:avLst>
          </a:prstGeom>
          <a:solidFill>
            <a:srgbClr val="141A45"/>
          </a:solidFill>
          <a:ln/>
        </p:spPr>
      </p:sp>
      <p:sp>
        <p:nvSpPr>
          <p:cNvPr id="25" name="Text 23"/>
          <p:cNvSpPr/>
          <p:nvPr/>
        </p:nvSpPr>
        <p:spPr>
          <a:xfrm>
            <a:off x="9998964" y="1645920"/>
            <a:ext cx="457200" cy="274320"/>
          </a:xfrm>
          <a:prstGeom prst="rect">
            <a:avLst/>
          </a:prstGeom>
          <a:noFill/>
          <a:ln/>
        </p:spPr>
        <p:txBody>
          <a:bodyPr wrap="square" rtlCol="0" anchor="ctr"/>
          <a:lstStyle/>
          <a:p>
            <a:pPr marL="0" indent="0">
              <a:buNone/>
            </a:pPr>
            <a:r>
              <a:rPr lang="en-US" sz="1000" b="1" dirty="0">
                <a:solidFill>
                  <a:srgbClr val="B9C0FF"/>
                </a:solidFill>
                <a:latin typeface="Calibri" pitchFamily="34" charset="0"/>
                <a:ea typeface="Calibri" pitchFamily="34" charset="-122"/>
                <a:cs typeface="Calibri" pitchFamily="34" charset="-120"/>
              </a:rPr>
              <a:t>6</a:t>
            </a:r>
            <a:endParaRPr lang="en-US" sz="1000" dirty="0"/>
          </a:p>
        </p:txBody>
      </p:sp>
      <p:sp>
        <p:nvSpPr>
          <p:cNvPr id="26" name="Text 24"/>
          <p:cNvSpPr/>
          <p:nvPr/>
        </p:nvSpPr>
        <p:spPr>
          <a:xfrm>
            <a:off x="9998964" y="1874520"/>
            <a:ext cx="1609344" cy="594360"/>
          </a:xfrm>
          <a:prstGeom prst="rect">
            <a:avLst/>
          </a:prstGeom>
          <a:noFill/>
          <a:ln/>
        </p:spPr>
        <p:txBody>
          <a:bodyPr wrap="square" rtlCol="0" anchor="ctr"/>
          <a:lstStyle/>
          <a:p>
            <a:pPr marL="0" indent="0" algn="ctr">
              <a:buNone/>
            </a:pPr>
            <a:r>
              <a:rPr lang="en-US" sz="1200" b="1" dirty="0">
                <a:solidFill>
                  <a:srgbClr val="FFFFFF"/>
                </a:solidFill>
                <a:latin typeface="Cambria" pitchFamily="34" charset="0"/>
                <a:ea typeface="Cambria" pitchFamily="34" charset="-122"/>
                <a:cs typeface="Cambria" pitchFamily="34" charset="-120"/>
              </a:rPr>
              <a:t>Train-Test</a:t>
            </a:r>
            <a:endParaRPr lang="en-US" sz="1200" dirty="0"/>
          </a:p>
          <a:p>
            <a:pPr marL="0" indent="0" algn="ctr">
              <a:buNone/>
            </a:pPr>
            <a:r>
              <a:rPr lang="en-US" sz="1200" b="1" dirty="0">
                <a:solidFill>
                  <a:srgbClr val="FFFFFF"/>
                </a:solidFill>
                <a:latin typeface="Cambria" pitchFamily="34" charset="0"/>
                <a:ea typeface="Cambria" pitchFamily="34" charset="-122"/>
                <a:cs typeface="Cambria" pitchFamily="34" charset="-120"/>
              </a:rPr>
              <a:t>Split</a:t>
            </a:r>
            <a:endParaRPr lang="en-US" sz="1200" dirty="0"/>
          </a:p>
        </p:txBody>
      </p:sp>
      <p:sp>
        <p:nvSpPr>
          <p:cNvPr id="27" name="Shape 25"/>
          <p:cNvSpPr/>
          <p:nvPr/>
        </p:nvSpPr>
        <p:spPr>
          <a:xfrm>
            <a:off x="507492" y="2880360"/>
            <a:ext cx="1755648" cy="960120"/>
          </a:xfrm>
          <a:prstGeom prst="roundRect">
            <a:avLst>
              <a:gd name="adj" fmla="val 9524"/>
            </a:avLst>
          </a:prstGeom>
          <a:solidFill>
            <a:srgbClr val="2F5CFF"/>
          </a:solidFill>
          <a:ln/>
        </p:spPr>
      </p:sp>
      <p:sp>
        <p:nvSpPr>
          <p:cNvPr id="28" name="Text 26"/>
          <p:cNvSpPr/>
          <p:nvPr/>
        </p:nvSpPr>
        <p:spPr>
          <a:xfrm>
            <a:off x="580644" y="2926080"/>
            <a:ext cx="457200" cy="274320"/>
          </a:xfrm>
          <a:prstGeom prst="rect">
            <a:avLst/>
          </a:prstGeom>
          <a:noFill/>
          <a:ln/>
        </p:spPr>
        <p:txBody>
          <a:bodyPr wrap="square" rtlCol="0" anchor="ctr"/>
          <a:lstStyle/>
          <a:p>
            <a:pPr marL="0" indent="0">
              <a:buNone/>
            </a:pPr>
            <a:r>
              <a:rPr lang="en-US" sz="1000" b="1" dirty="0">
                <a:solidFill>
                  <a:srgbClr val="B9C0FF"/>
                </a:solidFill>
                <a:latin typeface="Calibri" pitchFamily="34" charset="0"/>
                <a:ea typeface="Calibri" pitchFamily="34" charset="-122"/>
                <a:cs typeface="Calibri" pitchFamily="34" charset="-120"/>
              </a:rPr>
              <a:t>7</a:t>
            </a:r>
            <a:endParaRPr lang="en-US" sz="1000" dirty="0"/>
          </a:p>
        </p:txBody>
      </p:sp>
      <p:sp>
        <p:nvSpPr>
          <p:cNvPr id="29" name="Text 27"/>
          <p:cNvSpPr/>
          <p:nvPr/>
        </p:nvSpPr>
        <p:spPr>
          <a:xfrm>
            <a:off x="580644" y="3154680"/>
            <a:ext cx="1609344" cy="594360"/>
          </a:xfrm>
          <a:prstGeom prst="rect">
            <a:avLst/>
          </a:prstGeom>
          <a:noFill/>
          <a:ln/>
        </p:spPr>
        <p:txBody>
          <a:bodyPr wrap="square" rtlCol="0" anchor="ctr"/>
          <a:lstStyle/>
          <a:p>
            <a:pPr marL="0" indent="0" algn="ctr">
              <a:buNone/>
            </a:pPr>
            <a:r>
              <a:rPr lang="en-US" sz="1200" b="1" dirty="0">
                <a:solidFill>
                  <a:srgbClr val="FFFFFF"/>
                </a:solidFill>
                <a:latin typeface="Cambria" pitchFamily="34" charset="0"/>
                <a:ea typeface="Cambria" pitchFamily="34" charset="-122"/>
                <a:cs typeface="Cambria" pitchFamily="34" charset="-120"/>
              </a:rPr>
              <a:t>Model</a:t>
            </a:r>
            <a:endParaRPr lang="en-US" sz="1200" dirty="0"/>
          </a:p>
          <a:p>
            <a:pPr marL="0" indent="0" algn="ctr">
              <a:buNone/>
            </a:pPr>
            <a:r>
              <a:rPr lang="en-US" sz="1200" b="1" dirty="0">
                <a:solidFill>
                  <a:srgbClr val="FFFFFF"/>
                </a:solidFill>
                <a:latin typeface="Cambria" pitchFamily="34" charset="0"/>
                <a:ea typeface="Cambria" pitchFamily="34" charset="-122"/>
                <a:cs typeface="Cambria" pitchFamily="34" charset="-120"/>
              </a:rPr>
              <a:t>Training</a:t>
            </a:r>
            <a:endParaRPr lang="en-US" sz="1200" dirty="0"/>
          </a:p>
        </p:txBody>
      </p:sp>
      <p:sp>
        <p:nvSpPr>
          <p:cNvPr id="30" name="Shape 28"/>
          <p:cNvSpPr/>
          <p:nvPr/>
        </p:nvSpPr>
        <p:spPr>
          <a:xfrm>
            <a:off x="2263140" y="3360420"/>
            <a:ext cx="128016" cy="914"/>
          </a:xfrm>
          <a:prstGeom prst="line">
            <a:avLst/>
          </a:prstGeom>
          <a:noFill/>
          <a:ln w="19050">
            <a:solidFill>
              <a:srgbClr val="6E7488"/>
            </a:solidFill>
            <a:prstDash val="solid"/>
            <a:tailEnd type="triangle"/>
          </a:ln>
        </p:spPr>
      </p:sp>
      <p:sp>
        <p:nvSpPr>
          <p:cNvPr id="31" name="Shape 29"/>
          <p:cNvSpPr/>
          <p:nvPr/>
        </p:nvSpPr>
        <p:spPr>
          <a:xfrm>
            <a:off x="2391156" y="2880360"/>
            <a:ext cx="1755648" cy="960120"/>
          </a:xfrm>
          <a:prstGeom prst="roundRect">
            <a:avLst>
              <a:gd name="adj" fmla="val 9524"/>
            </a:avLst>
          </a:prstGeom>
          <a:solidFill>
            <a:srgbClr val="2F5CFF"/>
          </a:solidFill>
          <a:ln/>
        </p:spPr>
      </p:sp>
      <p:sp>
        <p:nvSpPr>
          <p:cNvPr id="32" name="Text 30"/>
          <p:cNvSpPr/>
          <p:nvPr/>
        </p:nvSpPr>
        <p:spPr>
          <a:xfrm>
            <a:off x="2464308" y="2926080"/>
            <a:ext cx="457200" cy="274320"/>
          </a:xfrm>
          <a:prstGeom prst="rect">
            <a:avLst/>
          </a:prstGeom>
          <a:noFill/>
          <a:ln/>
        </p:spPr>
        <p:txBody>
          <a:bodyPr wrap="square" rtlCol="0" anchor="ctr"/>
          <a:lstStyle/>
          <a:p>
            <a:pPr marL="0" indent="0">
              <a:buNone/>
            </a:pPr>
            <a:r>
              <a:rPr lang="en-US" sz="1000" b="1" dirty="0">
                <a:solidFill>
                  <a:srgbClr val="B9C0FF"/>
                </a:solidFill>
                <a:latin typeface="Calibri" pitchFamily="34" charset="0"/>
                <a:ea typeface="Calibri" pitchFamily="34" charset="-122"/>
                <a:cs typeface="Calibri" pitchFamily="34" charset="-120"/>
              </a:rPr>
              <a:t>8</a:t>
            </a:r>
            <a:endParaRPr lang="en-US" sz="1000" dirty="0"/>
          </a:p>
        </p:txBody>
      </p:sp>
      <p:sp>
        <p:nvSpPr>
          <p:cNvPr id="33" name="Text 31"/>
          <p:cNvSpPr/>
          <p:nvPr/>
        </p:nvSpPr>
        <p:spPr>
          <a:xfrm>
            <a:off x="2464308" y="3154680"/>
            <a:ext cx="1609344" cy="594360"/>
          </a:xfrm>
          <a:prstGeom prst="rect">
            <a:avLst/>
          </a:prstGeom>
          <a:noFill/>
          <a:ln/>
        </p:spPr>
        <p:txBody>
          <a:bodyPr wrap="square" rtlCol="0" anchor="ctr"/>
          <a:lstStyle/>
          <a:p>
            <a:pPr marL="0" indent="0" algn="ctr">
              <a:buNone/>
            </a:pPr>
            <a:r>
              <a:rPr lang="en-US" sz="1200" b="1" dirty="0">
                <a:solidFill>
                  <a:srgbClr val="FFFFFF"/>
                </a:solidFill>
                <a:latin typeface="Cambria" pitchFamily="34" charset="0"/>
                <a:ea typeface="Cambria" pitchFamily="34" charset="-122"/>
                <a:cs typeface="Cambria" pitchFamily="34" charset="-120"/>
              </a:rPr>
              <a:t>Evaluation</a:t>
            </a:r>
            <a:endParaRPr lang="en-US" sz="1200" dirty="0"/>
          </a:p>
        </p:txBody>
      </p:sp>
      <p:sp>
        <p:nvSpPr>
          <p:cNvPr id="34" name="Shape 32"/>
          <p:cNvSpPr/>
          <p:nvPr/>
        </p:nvSpPr>
        <p:spPr>
          <a:xfrm>
            <a:off x="4146804" y="3360420"/>
            <a:ext cx="128016" cy="914"/>
          </a:xfrm>
          <a:prstGeom prst="line">
            <a:avLst/>
          </a:prstGeom>
          <a:noFill/>
          <a:ln w="19050">
            <a:solidFill>
              <a:srgbClr val="6E7488"/>
            </a:solidFill>
            <a:prstDash val="solid"/>
            <a:tailEnd type="triangle"/>
          </a:ln>
        </p:spPr>
      </p:sp>
      <p:sp>
        <p:nvSpPr>
          <p:cNvPr id="35" name="Shape 33"/>
          <p:cNvSpPr/>
          <p:nvPr/>
        </p:nvSpPr>
        <p:spPr>
          <a:xfrm>
            <a:off x="4274820" y="2880360"/>
            <a:ext cx="1755648" cy="960120"/>
          </a:xfrm>
          <a:prstGeom prst="roundRect">
            <a:avLst>
              <a:gd name="adj" fmla="val 9524"/>
            </a:avLst>
          </a:prstGeom>
          <a:solidFill>
            <a:srgbClr val="2F5CFF"/>
          </a:solidFill>
          <a:ln/>
        </p:spPr>
      </p:sp>
      <p:sp>
        <p:nvSpPr>
          <p:cNvPr id="36" name="Text 34"/>
          <p:cNvSpPr/>
          <p:nvPr/>
        </p:nvSpPr>
        <p:spPr>
          <a:xfrm>
            <a:off x="4347972" y="2926080"/>
            <a:ext cx="457200" cy="274320"/>
          </a:xfrm>
          <a:prstGeom prst="rect">
            <a:avLst/>
          </a:prstGeom>
          <a:noFill/>
          <a:ln/>
        </p:spPr>
        <p:txBody>
          <a:bodyPr wrap="square" rtlCol="0" anchor="ctr"/>
          <a:lstStyle/>
          <a:p>
            <a:pPr marL="0" indent="0">
              <a:buNone/>
            </a:pPr>
            <a:r>
              <a:rPr lang="en-US" sz="1000" b="1" dirty="0">
                <a:solidFill>
                  <a:srgbClr val="B9C0FF"/>
                </a:solidFill>
                <a:latin typeface="Calibri" pitchFamily="34" charset="0"/>
                <a:ea typeface="Calibri" pitchFamily="34" charset="-122"/>
                <a:cs typeface="Calibri" pitchFamily="34" charset="-120"/>
              </a:rPr>
              <a:t>9</a:t>
            </a:r>
            <a:endParaRPr lang="en-US" sz="1000" dirty="0"/>
          </a:p>
        </p:txBody>
      </p:sp>
      <p:sp>
        <p:nvSpPr>
          <p:cNvPr id="37" name="Text 35"/>
          <p:cNvSpPr/>
          <p:nvPr/>
        </p:nvSpPr>
        <p:spPr>
          <a:xfrm>
            <a:off x="4347972" y="3154680"/>
            <a:ext cx="1609344" cy="594360"/>
          </a:xfrm>
          <a:prstGeom prst="rect">
            <a:avLst/>
          </a:prstGeom>
          <a:noFill/>
          <a:ln/>
        </p:spPr>
        <p:txBody>
          <a:bodyPr wrap="square" rtlCol="0" anchor="ctr"/>
          <a:lstStyle/>
          <a:p>
            <a:pPr marL="0" indent="0" algn="ctr">
              <a:buNone/>
            </a:pPr>
            <a:r>
              <a:rPr lang="en-US" sz="1200" b="1" dirty="0">
                <a:solidFill>
                  <a:srgbClr val="FFFFFF"/>
                </a:solidFill>
                <a:latin typeface="Cambria" pitchFamily="34" charset="0"/>
                <a:ea typeface="Cambria" pitchFamily="34" charset="-122"/>
                <a:cs typeface="Cambria" pitchFamily="34" charset="-120"/>
              </a:rPr>
              <a:t>Model</a:t>
            </a:r>
            <a:endParaRPr lang="en-US" sz="1200" dirty="0"/>
          </a:p>
          <a:p>
            <a:pPr marL="0" indent="0" algn="ctr">
              <a:buNone/>
            </a:pPr>
            <a:r>
              <a:rPr lang="en-US" sz="1200" b="1" dirty="0">
                <a:solidFill>
                  <a:srgbClr val="FFFFFF"/>
                </a:solidFill>
                <a:latin typeface="Cambria" pitchFamily="34" charset="0"/>
                <a:ea typeface="Cambria" pitchFamily="34" charset="-122"/>
                <a:cs typeface="Cambria" pitchFamily="34" charset="-120"/>
              </a:rPr>
              <a:t>Selection</a:t>
            </a:r>
            <a:endParaRPr lang="en-US" sz="1200" dirty="0"/>
          </a:p>
        </p:txBody>
      </p:sp>
      <p:sp>
        <p:nvSpPr>
          <p:cNvPr id="38" name="Shape 36"/>
          <p:cNvSpPr/>
          <p:nvPr/>
        </p:nvSpPr>
        <p:spPr>
          <a:xfrm>
            <a:off x="6030468" y="3360420"/>
            <a:ext cx="128016" cy="914"/>
          </a:xfrm>
          <a:prstGeom prst="line">
            <a:avLst/>
          </a:prstGeom>
          <a:noFill/>
          <a:ln w="19050">
            <a:solidFill>
              <a:srgbClr val="6E7488"/>
            </a:solidFill>
            <a:prstDash val="solid"/>
            <a:tailEnd type="triangle"/>
          </a:ln>
        </p:spPr>
      </p:sp>
      <p:sp>
        <p:nvSpPr>
          <p:cNvPr id="39" name="Shape 37"/>
          <p:cNvSpPr/>
          <p:nvPr/>
        </p:nvSpPr>
        <p:spPr>
          <a:xfrm>
            <a:off x="6158484" y="2880360"/>
            <a:ext cx="1755648" cy="960120"/>
          </a:xfrm>
          <a:prstGeom prst="roundRect">
            <a:avLst>
              <a:gd name="adj" fmla="val 9524"/>
            </a:avLst>
          </a:prstGeom>
          <a:solidFill>
            <a:srgbClr val="2F5CFF"/>
          </a:solidFill>
          <a:ln/>
        </p:spPr>
      </p:sp>
      <p:sp>
        <p:nvSpPr>
          <p:cNvPr id="40" name="Text 38"/>
          <p:cNvSpPr/>
          <p:nvPr/>
        </p:nvSpPr>
        <p:spPr>
          <a:xfrm>
            <a:off x="6231636" y="2926080"/>
            <a:ext cx="457200" cy="274320"/>
          </a:xfrm>
          <a:prstGeom prst="rect">
            <a:avLst/>
          </a:prstGeom>
          <a:noFill/>
          <a:ln/>
        </p:spPr>
        <p:txBody>
          <a:bodyPr wrap="square" rtlCol="0" anchor="ctr"/>
          <a:lstStyle/>
          <a:p>
            <a:pPr marL="0" indent="0">
              <a:buNone/>
            </a:pPr>
            <a:r>
              <a:rPr lang="en-US" sz="1000" b="1" dirty="0">
                <a:solidFill>
                  <a:srgbClr val="B9C0FF"/>
                </a:solidFill>
                <a:latin typeface="Calibri" pitchFamily="34" charset="0"/>
                <a:ea typeface="Calibri" pitchFamily="34" charset="-122"/>
                <a:cs typeface="Calibri" pitchFamily="34" charset="-120"/>
              </a:rPr>
              <a:t>10</a:t>
            </a:r>
            <a:endParaRPr lang="en-US" sz="1000" dirty="0"/>
          </a:p>
        </p:txBody>
      </p:sp>
      <p:sp>
        <p:nvSpPr>
          <p:cNvPr id="41" name="Text 39"/>
          <p:cNvSpPr/>
          <p:nvPr/>
        </p:nvSpPr>
        <p:spPr>
          <a:xfrm>
            <a:off x="6231636" y="3154680"/>
            <a:ext cx="1609344" cy="594360"/>
          </a:xfrm>
          <a:prstGeom prst="rect">
            <a:avLst/>
          </a:prstGeom>
          <a:noFill/>
          <a:ln/>
        </p:spPr>
        <p:txBody>
          <a:bodyPr wrap="square" rtlCol="0" anchor="ctr"/>
          <a:lstStyle/>
          <a:p>
            <a:pPr marL="0" indent="0" algn="ctr">
              <a:buNone/>
            </a:pPr>
            <a:r>
              <a:rPr lang="en-US" sz="1200" b="1" dirty="0">
                <a:solidFill>
                  <a:srgbClr val="FFFFFF"/>
                </a:solidFill>
                <a:latin typeface="Cambria" pitchFamily="34" charset="0"/>
                <a:ea typeface="Cambria" pitchFamily="34" charset="-122"/>
                <a:cs typeface="Cambria" pitchFamily="34" charset="-120"/>
              </a:rPr>
              <a:t>Prediction</a:t>
            </a:r>
            <a:endParaRPr lang="en-US" sz="1200" dirty="0"/>
          </a:p>
        </p:txBody>
      </p:sp>
      <p:sp>
        <p:nvSpPr>
          <p:cNvPr id="42" name="Shape 40"/>
          <p:cNvSpPr/>
          <p:nvPr/>
        </p:nvSpPr>
        <p:spPr>
          <a:xfrm>
            <a:off x="7914132" y="3360420"/>
            <a:ext cx="128016" cy="914"/>
          </a:xfrm>
          <a:prstGeom prst="line">
            <a:avLst/>
          </a:prstGeom>
          <a:noFill/>
          <a:ln w="19050">
            <a:solidFill>
              <a:srgbClr val="6E7488"/>
            </a:solidFill>
            <a:prstDash val="solid"/>
            <a:tailEnd type="triangle"/>
          </a:ln>
        </p:spPr>
      </p:sp>
      <p:sp>
        <p:nvSpPr>
          <p:cNvPr id="43" name="Shape 41"/>
          <p:cNvSpPr/>
          <p:nvPr/>
        </p:nvSpPr>
        <p:spPr>
          <a:xfrm>
            <a:off x="8042148" y="2880360"/>
            <a:ext cx="1755648" cy="960120"/>
          </a:xfrm>
          <a:prstGeom prst="roundRect">
            <a:avLst>
              <a:gd name="adj" fmla="val 9524"/>
            </a:avLst>
          </a:prstGeom>
          <a:solidFill>
            <a:srgbClr val="6C3CE9"/>
          </a:solidFill>
          <a:ln/>
        </p:spPr>
      </p:sp>
      <p:sp>
        <p:nvSpPr>
          <p:cNvPr id="44" name="Text 42"/>
          <p:cNvSpPr/>
          <p:nvPr/>
        </p:nvSpPr>
        <p:spPr>
          <a:xfrm>
            <a:off x="8115300" y="2926080"/>
            <a:ext cx="457200" cy="274320"/>
          </a:xfrm>
          <a:prstGeom prst="rect">
            <a:avLst/>
          </a:prstGeom>
          <a:noFill/>
          <a:ln/>
        </p:spPr>
        <p:txBody>
          <a:bodyPr wrap="square" rtlCol="0" anchor="ctr"/>
          <a:lstStyle/>
          <a:p>
            <a:pPr marL="0" indent="0">
              <a:buNone/>
            </a:pPr>
            <a:r>
              <a:rPr lang="en-US" sz="1000" b="1" dirty="0">
                <a:solidFill>
                  <a:srgbClr val="B9C0FF"/>
                </a:solidFill>
                <a:latin typeface="Calibri" pitchFamily="34" charset="0"/>
                <a:ea typeface="Calibri" pitchFamily="34" charset="-122"/>
                <a:cs typeface="Calibri" pitchFamily="34" charset="-120"/>
              </a:rPr>
              <a:t>11</a:t>
            </a:r>
            <a:endParaRPr lang="en-US" sz="1000" dirty="0"/>
          </a:p>
        </p:txBody>
      </p:sp>
      <p:sp>
        <p:nvSpPr>
          <p:cNvPr id="45" name="Text 43"/>
          <p:cNvSpPr/>
          <p:nvPr/>
        </p:nvSpPr>
        <p:spPr>
          <a:xfrm>
            <a:off x="8115300" y="3154680"/>
            <a:ext cx="1609344" cy="594360"/>
          </a:xfrm>
          <a:prstGeom prst="rect">
            <a:avLst/>
          </a:prstGeom>
          <a:noFill/>
          <a:ln/>
        </p:spPr>
        <p:txBody>
          <a:bodyPr wrap="square" rtlCol="0" anchor="ctr"/>
          <a:lstStyle/>
          <a:p>
            <a:pPr marL="0" indent="0" algn="ctr">
              <a:buNone/>
            </a:pPr>
            <a:r>
              <a:rPr lang="en-US" sz="1200" b="1" dirty="0">
                <a:solidFill>
                  <a:srgbClr val="FFFFFF"/>
                </a:solidFill>
                <a:latin typeface="Cambria" pitchFamily="34" charset="0"/>
                <a:ea typeface="Cambria" pitchFamily="34" charset="-122"/>
                <a:cs typeface="Cambria" pitchFamily="34" charset="-120"/>
              </a:rPr>
              <a:t>Recommend-</a:t>
            </a:r>
            <a:endParaRPr lang="en-US" sz="1200" dirty="0"/>
          </a:p>
          <a:p>
            <a:pPr marL="0" indent="0" algn="ctr">
              <a:buNone/>
            </a:pPr>
            <a:r>
              <a:rPr lang="en-US" sz="1200" b="1" dirty="0">
                <a:solidFill>
                  <a:srgbClr val="FFFFFF"/>
                </a:solidFill>
                <a:latin typeface="Cambria" pitchFamily="34" charset="0"/>
                <a:ea typeface="Cambria" pitchFamily="34" charset="-122"/>
                <a:cs typeface="Cambria" pitchFamily="34" charset="-120"/>
              </a:rPr>
              <a:t>ations</a:t>
            </a:r>
            <a:endParaRPr lang="en-US" sz="1200" dirty="0"/>
          </a:p>
        </p:txBody>
      </p:sp>
      <p:sp>
        <p:nvSpPr>
          <p:cNvPr id="46" name="Shape 44"/>
          <p:cNvSpPr/>
          <p:nvPr/>
        </p:nvSpPr>
        <p:spPr>
          <a:xfrm>
            <a:off x="10437876" y="2720340"/>
            <a:ext cx="731520" cy="914"/>
          </a:xfrm>
          <a:prstGeom prst="line">
            <a:avLst/>
          </a:prstGeom>
          <a:noFill/>
          <a:ln w="19050">
            <a:solidFill>
              <a:srgbClr val="6E7488"/>
            </a:solidFill>
            <a:prstDash val="solid"/>
          </a:ln>
        </p:spPr>
      </p:sp>
      <p:sp>
        <p:nvSpPr>
          <p:cNvPr id="47" name="Shape 45"/>
          <p:cNvSpPr/>
          <p:nvPr/>
        </p:nvSpPr>
        <p:spPr>
          <a:xfrm>
            <a:off x="10803636" y="2560320"/>
            <a:ext cx="914" cy="320040"/>
          </a:xfrm>
          <a:prstGeom prst="line">
            <a:avLst/>
          </a:prstGeom>
          <a:noFill/>
          <a:ln w="19050">
            <a:solidFill>
              <a:srgbClr val="6E7488"/>
            </a:solidFill>
            <a:prstDash val="solid"/>
            <a:tailEnd type="triangle"/>
          </a:ln>
        </p:spPr>
      </p:sp>
      <p:sp>
        <p:nvSpPr>
          <p:cNvPr id="48" name="Text 46"/>
          <p:cNvSpPr/>
          <p:nvPr/>
        </p:nvSpPr>
        <p:spPr>
          <a:xfrm>
            <a:off x="548640" y="5394960"/>
            <a:ext cx="11064240" cy="457200"/>
          </a:xfrm>
          <a:prstGeom prst="rect">
            <a:avLst/>
          </a:prstGeom>
          <a:noFill/>
          <a:ln/>
        </p:spPr>
        <p:txBody>
          <a:bodyPr wrap="square" rtlCol="0" anchor="ctr"/>
          <a:lstStyle/>
          <a:p>
            <a:pPr marL="0" indent="0" algn="ctr">
              <a:buNone/>
            </a:pPr>
            <a:r>
              <a:rPr lang="en-US" sz="1300" i="1" dirty="0">
                <a:solidFill>
                  <a:srgbClr val="6E7488"/>
                </a:solidFill>
                <a:latin typeface="Calibri" pitchFamily="34" charset="0"/>
                <a:ea typeface="Calibri" pitchFamily="34" charset="-122"/>
                <a:cs typeface="Calibri" pitchFamily="34" charset="-120"/>
              </a:rPr>
              <a:t>A linear, repeatable workflow — from raw data to a live, explainable prediction with actionable recommendations.</a:t>
            </a:r>
            <a:endParaRPr lang="en-US" sz="1300" dirty="0"/>
          </a:p>
        </p:txBody>
      </p:sp>
      <p:sp>
        <p:nvSpPr>
          <p:cNvPr id="49" name="Text 47"/>
          <p:cNvSpPr/>
          <p:nvPr/>
        </p:nvSpPr>
        <p:spPr>
          <a:xfrm>
            <a:off x="11475720" y="6510528"/>
            <a:ext cx="548640" cy="274320"/>
          </a:xfrm>
          <a:prstGeom prst="rect">
            <a:avLst/>
          </a:prstGeom>
          <a:noFill/>
          <a:ln/>
        </p:spPr>
        <p:txBody>
          <a:bodyPr wrap="square" rtlCol="0" anchor="ctr"/>
          <a:lstStyle/>
          <a:p>
            <a:pPr marL="0" indent="0" algn="r">
              <a:buNone/>
            </a:pPr>
            <a:r>
              <a:rPr lang="en-US" sz="1000" dirty="0">
                <a:solidFill>
                  <a:srgbClr val="6E7488"/>
                </a:solidFill>
                <a:latin typeface="Calibri" pitchFamily="34" charset="0"/>
                <a:ea typeface="Calibri" pitchFamily="34" charset="-122"/>
                <a:cs typeface="Calibri" pitchFamily="34" charset="-120"/>
              </a:rPr>
              <a:t>07</a:t>
            </a:r>
            <a:endParaRPr lang="en-US" sz="10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6F7FD"/>
        </a:solidFill>
        <a:effectLst/>
      </p:bgPr>
    </p:bg>
    <p:spTree>
      <p:nvGrpSpPr>
        <p:cNvPr id="1" name=""/>
        <p:cNvGrpSpPr/>
        <p:nvPr/>
      </p:nvGrpSpPr>
      <p:grpSpPr>
        <a:xfrm>
          <a:off x="0" y="0"/>
          <a:ext cx="0" cy="0"/>
          <a:chOff x="0" y="0"/>
          <a:chExt cx="0" cy="0"/>
        </a:xfrm>
      </p:grpSpPr>
      <p:sp>
        <p:nvSpPr>
          <p:cNvPr id="2" name="Text 0"/>
          <p:cNvSpPr/>
          <p:nvPr/>
        </p:nvSpPr>
        <p:spPr>
          <a:xfrm>
            <a:off x="548640" y="320040"/>
            <a:ext cx="7315200" cy="320040"/>
          </a:xfrm>
          <a:prstGeom prst="rect">
            <a:avLst/>
          </a:prstGeom>
          <a:noFill/>
          <a:ln/>
        </p:spPr>
        <p:txBody>
          <a:bodyPr wrap="square" rtlCol="0" anchor="ctr"/>
          <a:lstStyle/>
          <a:p>
            <a:pPr marL="0" indent="0">
              <a:buNone/>
            </a:pPr>
            <a:r>
              <a:rPr lang="en-US" sz="1300" b="1" kern="0" spc="200" dirty="0">
                <a:solidFill>
                  <a:srgbClr val="6C3CE9"/>
                </a:solidFill>
                <a:latin typeface="Calibri" pitchFamily="34" charset="0"/>
                <a:ea typeface="Calibri" pitchFamily="34" charset="-122"/>
                <a:cs typeface="Calibri" pitchFamily="34" charset="-120"/>
              </a:rPr>
              <a:t>MODELING</a:t>
            </a:r>
            <a:endParaRPr lang="en-US" sz="1300" dirty="0"/>
          </a:p>
        </p:txBody>
      </p:sp>
      <p:sp>
        <p:nvSpPr>
          <p:cNvPr id="3" name="Text 1"/>
          <p:cNvSpPr/>
          <p:nvPr/>
        </p:nvSpPr>
        <p:spPr>
          <a:xfrm>
            <a:off x="548640" y="621792"/>
            <a:ext cx="10515600" cy="685800"/>
          </a:xfrm>
          <a:prstGeom prst="rect">
            <a:avLst/>
          </a:prstGeom>
          <a:noFill/>
          <a:ln/>
        </p:spPr>
        <p:txBody>
          <a:bodyPr wrap="square" rtlCol="0" anchor="ctr"/>
          <a:lstStyle/>
          <a:p>
            <a:pPr marL="0" indent="0">
              <a:buNone/>
            </a:pPr>
            <a:r>
              <a:rPr lang="en-US" sz="3200" b="1" dirty="0">
                <a:solidFill>
                  <a:srgbClr val="1B1F3B"/>
                </a:solidFill>
                <a:latin typeface="Cambria" pitchFamily="34" charset="0"/>
                <a:ea typeface="Cambria" pitchFamily="34" charset="-122"/>
                <a:cs typeface="Cambria" pitchFamily="34" charset="-120"/>
              </a:rPr>
              <a:t>Machine Learning Models Compared</a:t>
            </a:r>
            <a:endParaRPr lang="en-US" sz="3200" dirty="0"/>
          </a:p>
        </p:txBody>
      </p:sp>
      <p:graphicFrame>
        <p:nvGraphicFramePr>
          <p:cNvPr id="4" name="Chart 0"/>
          <p:cNvGraphicFramePr/>
          <p:nvPr/>
        </p:nvGraphicFramePr>
        <p:xfrm>
          <a:off x="502920" y="1417320"/>
          <a:ext cx="5943600" cy="3246120"/>
        </p:xfrm>
        <a:graphic>
          <a:graphicData uri="http://schemas.openxmlformats.org/drawingml/2006/chart">
            <c:chart xmlns:c="http://schemas.openxmlformats.org/drawingml/2006/chart" xmlns:r="http://schemas.openxmlformats.org/officeDocument/2006/relationships" r:id="rId3"/>
          </a:graphicData>
        </a:graphic>
      </p:graphicFrame>
      <p:graphicFrame>
        <p:nvGraphicFramePr>
          <p:cNvPr id="9" name="Table 0"/>
          <p:cNvGraphicFramePr>
            <a:graphicFrameLocks noGrp="1"/>
          </p:cNvGraphicFramePr>
          <p:nvPr>
            <p:extLst>
              <p:ext uri="{D42A27DB-BD31-4B8C-83A1-F6EECF244321}">
                <p14:modId xmlns:p14="http://schemas.microsoft.com/office/powerpoint/2010/main" val="1579011935"/>
              </p:ext>
            </p:extLst>
          </p:nvPr>
        </p:nvGraphicFramePr>
        <p:xfrm>
          <a:off x="6720840" y="1417320"/>
          <a:ext cx="4937760" cy="2286000"/>
        </p:xfrm>
        <a:graphic>
          <a:graphicData uri="http://schemas.openxmlformats.org/drawingml/2006/table">
            <a:tbl>
              <a:tblPr/>
              <a:tblGrid>
                <a:gridCol w="1737360">
                  <a:extLst>
                    <a:ext uri="{9D8B030D-6E8A-4147-A177-3AD203B41FA5}">
                      <a16:colId xmlns:a16="http://schemas.microsoft.com/office/drawing/2014/main" val="20000"/>
                    </a:ext>
                  </a:extLst>
                </a:gridCol>
                <a:gridCol w="822960">
                  <a:extLst>
                    <a:ext uri="{9D8B030D-6E8A-4147-A177-3AD203B41FA5}">
                      <a16:colId xmlns:a16="http://schemas.microsoft.com/office/drawing/2014/main" val="20001"/>
                    </a:ext>
                  </a:extLst>
                </a:gridCol>
                <a:gridCol w="822960">
                  <a:extLst>
                    <a:ext uri="{9D8B030D-6E8A-4147-A177-3AD203B41FA5}">
                      <a16:colId xmlns:a16="http://schemas.microsoft.com/office/drawing/2014/main" val="20002"/>
                    </a:ext>
                  </a:extLst>
                </a:gridCol>
                <a:gridCol w="822960">
                  <a:extLst>
                    <a:ext uri="{9D8B030D-6E8A-4147-A177-3AD203B41FA5}">
                      <a16:colId xmlns:a16="http://schemas.microsoft.com/office/drawing/2014/main" val="20003"/>
                    </a:ext>
                  </a:extLst>
                </a:gridCol>
                <a:gridCol w="731520">
                  <a:extLst>
                    <a:ext uri="{9D8B030D-6E8A-4147-A177-3AD203B41FA5}">
                      <a16:colId xmlns:a16="http://schemas.microsoft.com/office/drawing/2014/main" val="20004"/>
                    </a:ext>
                  </a:extLst>
                </a:gridCol>
              </a:tblGrid>
              <a:tr h="381000">
                <a:tc>
                  <a:txBody>
                    <a:bodyPr/>
                    <a:lstStyle/>
                    <a:p>
                      <a:pPr marL="0" indent="0" algn="ctr">
                        <a:buNone/>
                      </a:pPr>
                      <a:r>
                        <a:rPr lang="en-US" sz="1050" b="1" dirty="0">
                          <a:solidFill>
                            <a:srgbClr val="FFFFFF"/>
                          </a:solidFill>
                        </a:rPr>
                        <a:t>Model</a:t>
                      </a:r>
                      <a:endParaRPr lang="en-US" sz="1050" dirty="0"/>
                    </a:p>
                  </a:txBody>
                  <a:tcPr anchor="ctr">
                    <a:lnL w="9525" cap="flat" cmpd="sng" algn="ctr">
                      <a:solidFill>
                        <a:srgbClr val="E1E3F0"/>
                      </a:solidFill>
                      <a:prstDash val="solid"/>
                      <a:round/>
                      <a:headEnd type="none" w="med" len="med"/>
                      <a:tailEnd type="none" w="med" len="med"/>
                    </a:lnL>
                    <a:lnR w="9525" cap="flat" cmpd="sng" algn="ctr">
                      <a:solidFill>
                        <a:srgbClr val="E1E3F0"/>
                      </a:solidFill>
                      <a:prstDash val="solid"/>
                      <a:round/>
                      <a:headEnd type="none" w="med" len="med"/>
                      <a:tailEnd type="none" w="med" len="med"/>
                    </a:lnR>
                    <a:lnT w="9525" cap="flat" cmpd="sng" algn="ctr">
                      <a:solidFill>
                        <a:srgbClr val="E1E3F0"/>
                      </a:solidFill>
                      <a:prstDash val="solid"/>
                      <a:round/>
                      <a:headEnd type="none" w="med" len="med"/>
                      <a:tailEnd type="none" w="med" len="med"/>
                    </a:lnT>
                    <a:lnB w="9525" cap="flat" cmpd="sng" algn="ctr">
                      <a:solidFill>
                        <a:srgbClr val="E1E3F0"/>
                      </a:solidFill>
                      <a:prstDash val="solid"/>
                      <a:round/>
                      <a:headEnd type="none" w="med" len="med"/>
                      <a:tailEnd type="none" w="med" len="med"/>
                    </a:lnB>
                    <a:solidFill>
                      <a:srgbClr val="141A45"/>
                    </a:solidFill>
                  </a:tcPr>
                </a:tc>
                <a:tc>
                  <a:txBody>
                    <a:bodyPr/>
                    <a:lstStyle/>
                    <a:p>
                      <a:pPr marL="0" indent="0" algn="ctr">
                        <a:buNone/>
                      </a:pPr>
                      <a:r>
                        <a:rPr lang="en-US" sz="1050" b="1" dirty="0">
                          <a:solidFill>
                            <a:srgbClr val="FFFFFF"/>
                          </a:solidFill>
                        </a:rPr>
                        <a:t>Acc.</a:t>
                      </a:r>
                      <a:endParaRPr lang="en-US" sz="1050" dirty="0"/>
                    </a:p>
                  </a:txBody>
                  <a:tcPr anchor="ctr">
                    <a:lnL w="9525" cap="flat" cmpd="sng" algn="ctr">
                      <a:solidFill>
                        <a:srgbClr val="E1E3F0"/>
                      </a:solidFill>
                      <a:prstDash val="solid"/>
                      <a:round/>
                      <a:headEnd type="none" w="med" len="med"/>
                      <a:tailEnd type="none" w="med" len="med"/>
                    </a:lnL>
                    <a:lnR w="9525" cap="flat" cmpd="sng" algn="ctr">
                      <a:solidFill>
                        <a:srgbClr val="E1E3F0"/>
                      </a:solidFill>
                      <a:prstDash val="solid"/>
                      <a:round/>
                      <a:headEnd type="none" w="med" len="med"/>
                      <a:tailEnd type="none" w="med" len="med"/>
                    </a:lnR>
                    <a:lnT w="9525" cap="flat" cmpd="sng" algn="ctr">
                      <a:solidFill>
                        <a:srgbClr val="E1E3F0"/>
                      </a:solidFill>
                      <a:prstDash val="solid"/>
                      <a:round/>
                      <a:headEnd type="none" w="med" len="med"/>
                      <a:tailEnd type="none" w="med" len="med"/>
                    </a:lnT>
                    <a:lnB w="9525" cap="flat" cmpd="sng" algn="ctr">
                      <a:solidFill>
                        <a:srgbClr val="E1E3F0"/>
                      </a:solidFill>
                      <a:prstDash val="solid"/>
                      <a:round/>
                      <a:headEnd type="none" w="med" len="med"/>
                      <a:tailEnd type="none" w="med" len="med"/>
                    </a:lnB>
                    <a:solidFill>
                      <a:srgbClr val="141A45"/>
                    </a:solidFill>
                  </a:tcPr>
                </a:tc>
                <a:tc>
                  <a:txBody>
                    <a:bodyPr/>
                    <a:lstStyle/>
                    <a:p>
                      <a:pPr marL="0" indent="0" algn="ctr">
                        <a:buNone/>
                      </a:pPr>
                      <a:r>
                        <a:rPr lang="en-US" sz="1050" b="1" dirty="0">
                          <a:solidFill>
                            <a:srgbClr val="FFFFFF"/>
                          </a:solidFill>
                        </a:rPr>
                        <a:t>Prec.</a:t>
                      </a:r>
                      <a:endParaRPr lang="en-US" sz="1050" dirty="0"/>
                    </a:p>
                  </a:txBody>
                  <a:tcPr anchor="ctr">
                    <a:lnL w="9525" cap="flat" cmpd="sng" algn="ctr">
                      <a:solidFill>
                        <a:srgbClr val="E1E3F0"/>
                      </a:solidFill>
                      <a:prstDash val="solid"/>
                      <a:round/>
                      <a:headEnd type="none" w="med" len="med"/>
                      <a:tailEnd type="none" w="med" len="med"/>
                    </a:lnL>
                    <a:lnR w="9525" cap="flat" cmpd="sng" algn="ctr">
                      <a:solidFill>
                        <a:srgbClr val="E1E3F0"/>
                      </a:solidFill>
                      <a:prstDash val="solid"/>
                      <a:round/>
                      <a:headEnd type="none" w="med" len="med"/>
                      <a:tailEnd type="none" w="med" len="med"/>
                    </a:lnR>
                    <a:lnT w="9525" cap="flat" cmpd="sng" algn="ctr">
                      <a:solidFill>
                        <a:srgbClr val="E1E3F0"/>
                      </a:solidFill>
                      <a:prstDash val="solid"/>
                      <a:round/>
                      <a:headEnd type="none" w="med" len="med"/>
                      <a:tailEnd type="none" w="med" len="med"/>
                    </a:lnT>
                    <a:lnB w="9525" cap="flat" cmpd="sng" algn="ctr">
                      <a:solidFill>
                        <a:srgbClr val="E1E3F0"/>
                      </a:solidFill>
                      <a:prstDash val="solid"/>
                      <a:round/>
                      <a:headEnd type="none" w="med" len="med"/>
                      <a:tailEnd type="none" w="med" len="med"/>
                    </a:lnB>
                    <a:solidFill>
                      <a:srgbClr val="141A45"/>
                    </a:solidFill>
                  </a:tcPr>
                </a:tc>
                <a:tc>
                  <a:txBody>
                    <a:bodyPr/>
                    <a:lstStyle/>
                    <a:p>
                      <a:pPr marL="0" indent="0" algn="ctr">
                        <a:buNone/>
                      </a:pPr>
                      <a:r>
                        <a:rPr lang="en-US" sz="1050" b="1" dirty="0">
                          <a:solidFill>
                            <a:srgbClr val="FFFFFF"/>
                          </a:solidFill>
                        </a:rPr>
                        <a:t>Rec.</a:t>
                      </a:r>
                      <a:endParaRPr lang="en-US" sz="1050" dirty="0"/>
                    </a:p>
                  </a:txBody>
                  <a:tcPr anchor="ctr">
                    <a:lnL w="9525" cap="flat" cmpd="sng" algn="ctr">
                      <a:solidFill>
                        <a:srgbClr val="E1E3F0"/>
                      </a:solidFill>
                      <a:prstDash val="solid"/>
                      <a:round/>
                      <a:headEnd type="none" w="med" len="med"/>
                      <a:tailEnd type="none" w="med" len="med"/>
                    </a:lnL>
                    <a:lnR w="9525" cap="flat" cmpd="sng" algn="ctr">
                      <a:solidFill>
                        <a:srgbClr val="E1E3F0"/>
                      </a:solidFill>
                      <a:prstDash val="solid"/>
                      <a:round/>
                      <a:headEnd type="none" w="med" len="med"/>
                      <a:tailEnd type="none" w="med" len="med"/>
                    </a:lnR>
                    <a:lnT w="9525" cap="flat" cmpd="sng" algn="ctr">
                      <a:solidFill>
                        <a:srgbClr val="E1E3F0"/>
                      </a:solidFill>
                      <a:prstDash val="solid"/>
                      <a:round/>
                      <a:headEnd type="none" w="med" len="med"/>
                      <a:tailEnd type="none" w="med" len="med"/>
                    </a:lnT>
                    <a:lnB w="9525" cap="flat" cmpd="sng" algn="ctr">
                      <a:solidFill>
                        <a:srgbClr val="E1E3F0"/>
                      </a:solidFill>
                      <a:prstDash val="solid"/>
                      <a:round/>
                      <a:headEnd type="none" w="med" len="med"/>
                      <a:tailEnd type="none" w="med" len="med"/>
                    </a:lnB>
                    <a:solidFill>
                      <a:srgbClr val="141A45"/>
                    </a:solidFill>
                  </a:tcPr>
                </a:tc>
                <a:tc>
                  <a:txBody>
                    <a:bodyPr/>
                    <a:lstStyle/>
                    <a:p>
                      <a:pPr marL="0" indent="0" algn="ctr">
                        <a:buNone/>
                      </a:pPr>
                      <a:r>
                        <a:rPr lang="en-US" sz="1050" b="1" dirty="0">
                          <a:solidFill>
                            <a:srgbClr val="FFFFFF"/>
                          </a:solidFill>
                        </a:rPr>
                        <a:t>F1</a:t>
                      </a:r>
                      <a:endParaRPr lang="en-US" sz="1050" dirty="0"/>
                    </a:p>
                  </a:txBody>
                  <a:tcPr anchor="ctr">
                    <a:lnL w="9525" cap="flat" cmpd="sng" algn="ctr">
                      <a:solidFill>
                        <a:srgbClr val="E1E3F0"/>
                      </a:solidFill>
                      <a:prstDash val="solid"/>
                      <a:round/>
                      <a:headEnd type="none" w="med" len="med"/>
                      <a:tailEnd type="none" w="med" len="med"/>
                    </a:lnL>
                    <a:lnR w="9525" cap="flat" cmpd="sng" algn="ctr">
                      <a:solidFill>
                        <a:srgbClr val="E1E3F0"/>
                      </a:solidFill>
                      <a:prstDash val="solid"/>
                      <a:round/>
                      <a:headEnd type="none" w="med" len="med"/>
                      <a:tailEnd type="none" w="med" len="med"/>
                    </a:lnR>
                    <a:lnT w="9525" cap="flat" cmpd="sng" algn="ctr">
                      <a:solidFill>
                        <a:srgbClr val="E1E3F0"/>
                      </a:solidFill>
                      <a:prstDash val="solid"/>
                      <a:round/>
                      <a:headEnd type="none" w="med" len="med"/>
                      <a:tailEnd type="none" w="med" len="med"/>
                    </a:lnT>
                    <a:lnB w="9525" cap="flat" cmpd="sng" algn="ctr">
                      <a:solidFill>
                        <a:srgbClr val="E1E3F0"/>
                      </a:solidFill>
                      <a:prstDash val="solid"/>
                      <a:round/>
                      <a:headEnd type="none" w="med" len="med"/>
                      <a:tailEnd type="none" w="med" len="med"/>
                    </a:lnB>
                    <a:solidFill>
                      <a:srgbClr val="141A45"/>
                    </a:solidFill>
                  </a:tcPr>
                </a:tc>
                <a:extLst>
                  <a:ext uri="{0D108BD9-81ED-4DB2-BD59-A6C34878D82A}">
                    <a16:rowId xmlns:a16="http://schemas.microsoft.com/office/drawing/2014/main" val="10000"/>
                  </a:ext>
                </a:extLst>
              </a:tr>
              <a:tr h="381000">
                <a:tc>
                  <a:txBody>
                    <a:bodyPr/>
                    <a:lstStyle/>
                    <a:p>
                      <a:pPr marL="0" indent="0" algn="ctr">
                        <a:buNone/>
                      </a:pPr>
                      <a:r>
                        <a:rPr lang="en-US" sz="1000" b="1" dirty="0">
                          <a:solidFill>
                            <a:srgbClr val="6C3CE9"/>
                          </a:solidFill>
                        </a:rPr>
                        <a:t>Random Forest ⭐</a:t>
                      </a:r>
                      <a:endParaRPr lang="en-US" sz="1000" dirty="0"/>
                    </a:p>
                  </a:txBody>
                  <a:tcPr anchor="ctr">
                    <a:lnL w="9525" cap="flat" cmpd="sng" algn="ctr">
                      <a:solidFill>
                        <a:srgbClr val="E1E3F0"/>
                      </a:solidFill>
                      <a:prstDash val="solid"/>
                      <a:round/>
                      <a:headEnd type="none" w="med" len="med"/>
                      <a:tailEnd type="none" w="med" len="med"/>
                    </a:lnL>
                    <a:lnR w="9525" cap="flat" cmpd="sng" algn="ctr">
                      <a:solidFill>
                        <a:srgbClr val="E1E3F0"/>
                      </a:solidFill>
                      <a:prstDash val="solid"/>
                      <a:round/>
                      <a:headEnd type="none" w="med" len="med"/>
                      <a:tailEnd type="none" w="med" len="med"/>
                    </a:lnR>
                    <a:lnT w="9525" cap="flat" cmpd="sng" algn="ctr">
                      <a:solidFill>
                        <a:srgbClr val="E1E3F0"/>
                      </a:solidFill>
                      <a:prstDash val="solid"/>
                      <a:round/>
                      <a:headEnd type="none" w="med" len="med"/>
                      <a:tailEnd type="none" w="med" len="med"/>
                    </a:lnT>
                    <a:lnB w="9525" cap="flat" cmpd="sng" algn="ctr">
                      <a:solidFill>
                        <a:srgbClr val="E1E3F0"/>
                      </a:solidFill>
                      <a:prstDash val="solid"/>
                      <a:round/>
                      <a:headEnd type="none" w="med" len="med"/>
                      <a:tailEnd type="none" w="med" len="med"/>
                    </a:lnB>
                    <a:solidFill>
                      <a:srgbClr val="EDE6FC"/>
                    </a:solidFill>
                  </a:tcPr>
                </a:tc>
                <a:tc>
                  <a:txBody>
                    <a:bodyPr/>
                    <a:lstStyle/>
                    <a:p>
                      <a:pPr marL="0" indent="0" algn="ctr">
                        <a:buNone/>
                      </a:pPr>
                      <a:r>
                        <a:rPr lang="en-US" sz="1000" dirty="0">
                          <a:solidFill>
                            <a:srgbClr val="1B1F3B"/>
                          </a:solidFill>
                        </a:rPr>
                        <a:t>92.5</a:t>
                      </a:r>
                      <a:endParaRPr lang="en-US" sz="1000" dirty="0"/>
                    </a:p>
                  </a:txBody>
                  <a:tcPr anchor="ctr">
                    <a:lnL w="9525" cap="flat" cmpd="sng" algn="ctr">
                      <a:solidFill>
                        <a:srgbClr val="E1E3F0"/>
                      </a:solidFill>
                      <a:prstDash val="solid"/>
                      <a:round/>
                      <a:headEnd type="none" w="med" len="med"/>
                      <a:tailEnd type="none" w="med" len="med"/>
                    </a:lnL>
                    <a:lnR w="9525" cap="flat" cmpd="sng" algn="ctr">
                      <a:solidFill>
                        <a:srgbClr val="E1E3F0"/>
                      </a:solidFill>
                      <a:prstDash val="solid"/>
                      <a:round/>
                      <a:headEnd type="none" w="med" len="med"/>
                      <a:tailEnd type="none" w="med" len="med"/>
                    </a:lnR>
                    <a:lnT w="9525" cap="flat" cmpd="sng" algn="ctr">
                      <a:solidFill>
                        <a:srgbClr val="E1E3F0"/>
                      </a:solidFill>
                      <a:prstDash val="solid"/>
                      <a:round/>
                      <a:headEnd type="none" w="med" len="med"/>
                      <a:tailEnd type="none" w="med" len="med"/>
                    </a:lnT>
                    <a:lnB w="9525" cap="flat" cmpd="sng" algn="ctr">
                      <a:solidFill>
                        <a:srgbClr val="E1E3F0"/>
                      </a:solidFill>
                      <a:prstDash val="solid"/>
                      <a:round/>
                      <a:headEnd type="none" w="med" len="med"/>
                      <a:tailEnd type="none" w="med" len="med"/>
                    </a:lnB>
                    <a:solidFill>
                      <a:srgbClr val="EDE6FC"/>
                    </a:solidFill>
                  </a:tcPr>
                </a:tc>
                <a:tc>
                  <a:txBody>
                    <a:bodyPr/>
                    <a:lstStyle/>
                    <a:p>
                      <a:pPr marL="0" indent="0" algn="ctr">
                        <a:buNone/>
                      </a:pPr>
                      <a:r>
                        <a:rPr lang="en-US" sz="1000" dirty="0">
                          <a:solidFill>
                            <a:srgbClr val="1B1F3B"/>
                          </a:solidFill>
                        </a:rPr>
                        <a:t>91.2</a:t>
                      </a:r>
                      <a:endParaRPr lang="en-US" sz="1000" dirty="0"/>
                    </a:p>
                  </a:txBody>
                  <a:tcPr anchor="ctr">
                    <a:lnL w="9525" cap="flat" cmpd="sng" algn="ctr">
                      <a:solidFill>
                        <a:srgbClr val="E1E3F0"/>
                      </a:solidFill>
                      <a:prstDash val="solid"/>
                      <a:round/>
                      <a:headEnd type="none" w="med" len="med"/>
                      <a:tailEnd type="none" w="med" len="med"/>
                    </a:lnL>
                    <a:lnR w="9525" cap="flat" cmpd="sng" algn="ctr">
                      <a:solidFill>
                        <a:srgbClr val="E1E3F0"/>
                      </a:solidFill>
                      <a:prstDash val="solid"/>
                      <a:round/>
                      <a:headEnd type="none" w="med" len="med"/>
                      <a:tailEnd type="none" w="med" len="med"/>
                    </a:lnR>
                    <a:lnT w="9525" cap="flat" cmpd="sng" algn="ctr">
                      <a:solidFill>
                        <a:srgbClr val="E1E3F0"/>
                      </a:solidFill>
                      <a:prstDash val="solid"/>
                      <a:round/>
                      <a:headEnd type="none" w="med" len="med"/>
                      <a:tailEnd type="none" w="med" len="med"/>
                    </a:lnT>
                    <a:lnB w="9525" cap="flat" cmpd="sng" algn="ctr">
                      <a:solidFill>
                        <a:srgbClr val="E1E3F0"/>
                      </a:solidFill>
                      <a:prstDash val="solid"/>
                      <a:round/>
                      <a:headEnd type="none" w="med" len="med"/>
                      <a:tailEnd type="none" w="med" len="med"/>
                    </a:lnB>
                    <a:solidFill>
                      <a:srgbClr val="EDE6FC"/>
                    </a:solidFill>
                  </a:tcPr>
                </a:tc>
                <a:tc>
                  <a:txBody>
                    <a:bodyPr/>
                    <a:lstStyle/>
                    <a:p>
                      <a:pPr marL="0" indent="0" algn="ctr">
                        <a:buNone/>
                      </a:pPr>
                      <a:r>
                        <a:rPr lang="en-US" sz="1000" dirty="0">
                          <a:solidFill>
                            <a:srgbClr val="1B1F3B"/>
                          </a:solidFill>
                        </a:rPr>
                        <a:t>90.8</a:t>
                      </a:r>
                      <a:endParaRPr lang="en-US" sz="1000" dirty="0"/>
                    </a:p>
                  </a:txBody>
                  <a:tcPr anchor="ctr">
                    <a:lnL w="9525" cap="flat" cmpd="sng" algn="ctr">
                      <a:solidFill>
                        <a:srgbClr val="E1E3F0"/>
                      </a:solidFill>
                      <a:prstDash val="solid"/>
                      <a:round/>
                      <a:headEnd type="none" w="med" len="med"/>
                      <a:tailEnd type="none" w="med" len="med"/>
                    </a:lnL>
                    <a:lnR w="9525" cap="flat" cmpd="sng" algn="ctr">
                      <a:solidFill>
                        <a:srgbClr val="E1E3F0"/>
                      </a:solidFill>
                      <a:prstDash val="solid"/>
                      <a:round/>
                      <a:headEnd type="none" w="med" len="med"/>
                      <a:tailEnd type="none" w="med" len="med"/>
                    </a:lnR>
                    <a:lnT w="9525" cap="flat" cmpd="sng" algn="ctr">
                      <a:solidFill>
                        <a:srgbClr val="E1E3F0"/>
                      </a:solidFill>
                      <a:prstDash val="solid"/>
                      <a:round/>
                      <a:headEnd type="none" w="med" len="med"/>
                      <a:tailEnd type="none" w="med" len="med"/>
                    </a:lnT>
                    <a:lnB w="9525" cap="flat" cmpd="sng" algn="ctr">
                      <a:solidFill>
                        <a:srgbClr val="E1E3F0"/>
                      </a:solidFill>
                      <a:prstDash val="solid"/>
                      <a:round/>
                      <a:headEnd type="none" w="med" len="med"/>
                      <a:tailEnd type="none" w="med" len="med"/>
                    </a:lnB>
                    <a:solidFill>
                      <a:srgbClr val="EDE6FC"/>
                    </a:solidFill>
                  </a:tcPr>
                </a:tc>
                <a:tc>
                  <a:txBody>
                    <a:bodyPr/>
                    <a:lstStyle/>
                    <a:p>
                      <a:pPr marL="0" indent="0" algn="ctr">
                        <a:buNone/>
                      </a:pPr>
                      <a:r>
                        <a:rPr lang="en-US" sz="1000" dirty="0">
                          <a:solidFill>
                            <a:srgbClr val="1B1F3B"/>
                          </a:solidFill>
                        </a:rPr>
                        <a:t>91.0</a:t>
                      </a:r>
                      <a:endParaRPr lang="en-US" sz="1000" dirty="0"/>
                    </a:p>
                  </a:txBody>
                  <a:tcPr anchor="ctr">
                    <a:lnL w="9525" cap="flat" cmpd="sng" algn="ctr">
                      <a:solidFill>
                        <a:srgbClr val="E1E3F0"/>
                      </a:solidFill>
                      <a:prstDash val="solid"/>
                      <a:round/>
                      <a:headEnd type="none" w="med" len="med"/>
                      <a:tailEnd type="none" w="med" len="med"/>
                    </a:lnL>
                    <a:lnR w="9525" cap="flat" cmpd="sng" algn="ctr">
                      <a:solidFill>
                        <a:srgbClr val="E1E3F0"/>
                      </a:solidFill>
                      <a:prstDash val="solid"/>
                      <a:round/>
                      <a:headEnd type="none" w="med" len="med"/>
                      <a:tailEnd type="none" w="med" len="med"/>
                    </a:lnR>
                    <a:lnT w="9525" cap="flat" cmpd="sng" algn="ctr">
                      <a:solidFill>
                        <a:srgbClr val="E1E3F0"/>
                      </a:solidFill>
                      <a:prstDash val="solid"/>
                      <a:round/>
                      <a:headEnd type="none" w="med" len="med"/>
                      <a:tailEnd type="none" w="med" len="med"/>
                    </a:lnT>
                    <a:lnB w="9525" cap="flat" cmpd="sng" algn="ctr">
                      <a:solidFill>
                        <a:srgbClr val="E1E3F0"/>
                      </a:solidFill>
                      <a:prstDash val="solid"/>
                      <a:round/>
                      <a:headEnd type="none" w="med" len="med"/>
                      <a:tailEnd type="none" w="med" len="med"/>
                    </a:lnB>
                    <a:solidFill>
                      <a:srgbClr val="EDE6FC"/>
                    </a:solidFill>
                  </a:tcPr>
                </a:tc>
                <a:extLst>
                  <a:ext uri="{0D108BD9-81ED-4DB2-BD59-A6C34878D82A}">
                    <a16:rowId xmlns:a16="http://schemas.microsoft.com/office/drawing/2014/main" val="10001"/>
                  </a:ext>
                </a:extLst>
              </a:tr>
              <a:tr h="381000">
                <a:tc>
                  <a:txBody>
                    <a:bodyPr/>
                    <a:lstStyle/>
                    <a:p>
                      <a:pPr marL="0" indent="0" algn="ctr">
                        <a:buNone/>
                      </a:pPr>
                      <a:r>
                        <a:rPr lang="en-US" sz="1000" dirty="0">
                          <a:solidFill>
                            <a:srgbClr val="1B1F3B"/>
                          </a:solidFill>
                        </a:rPr>
                        <a:t>Gradient Boosting</a:t>
                      </a:r>
                      <a:endParaRPr lang="en-US" sz="1000" dirty="0"/>
                    </a:p>
                  </a:txBody>
                  <a:tcPr anchor="ctr">
                    <a:lnL w="9525" cap="flat" cmpd="sng" algn="ctr">
                      <a:solidFill>
                        <a:srgbClr val="E1E3F0"/>
                      </a:solidFill>
                      <a:prstDash val="solid"/>
                      <a:round/>
                      <a:headEnd type="none" w="med" len="med"/>
                      <a:tailEnd type="none" w="med" len="med"/>
                    </a:lnL>
                    <a:lnR w="9525" cap="flat" cmpd="sng" algn="ctr">
                      <a:solidFill>
                        <a:srgbClr val="E1E3F0"/>
                      </a:solidFill>
                      <a:prstDash val="solid"/>
                      <a:round/>
                      <a:headEnd type="none" w="med" len="med"/>
                      <a:tailEnd type="none" w="med" len="med"/>
                    </a:lnR>
                    <a:lnT w="9525" cap="flat" cmpd="sng" algn="ctr">
                      <a:solidFill>
                        <a:srgbClr val="E1E3F0"/>
                      </a:solidFill>
                      <a:prstDash val="solid"/>
                      <a:round/>
                      <a:headEnd type="none" w="med" len="med"/>
                      <a:tailEnd type="none" w="med" len="med"/>
                    </a:lnT>
                    <a:lnB w="9525" cap="flat" cmpd="sng" algn="ctr">
                      <a:solidFill>
                        <a:srgbClr val="E1E3F0"/>
                      </a:solidFill>
                      <a:prstDash val="solid"/>
                      <a:round/>
                      <a:headEnd type="none" w="med" len="med"/>
                      <a:tailEnd type="none" w="med" len="med"/>
                    </a:lnB>
                    <a:solidFill>
                      <a:srgbClr val="EEF0FB"/>
                    </a:solidFill>
                  </a:tcPr>
                </a:tc>
                <a:tc>
                  <a:txBody>
                    <a:bodyPr/>
                    <a:lstStyle/>
                    <a:p>
                      <a:pPr marL="0" indent="0" algn="ctr">
                        <a:buNone/>
                      </a:pPr>
                      <a:r>
                        <a:rPr lang="en-US" sz="1000" dirty="0">
                          <a:solidFill>
                            <a:srgbClr val="1B1F3B"/>
                          </a:solidFill>
                        </a:rPr>
                        <a:t>91.8</a:t>
                      </a:r>
                      <a:endParaRPr lang="en-US" sz="1000" dirty="0"/>
                    </a:p>
                  </a:txBody>
                  <a:tcPr anchor="ctr">
                    <a:lnL w="9525" cap="flat" cmpd="sng" algn="ctr">
                      <a:solidFill>
                        <a:srgbClr val="E1E3F0"/>
                      </a:solidFill>
                      <a:prstDash val="solid"/>
                      <a:round/>
                      <a:headEnd type="none" w="med" len="med"/>
                      <a:tailEnd type="none" w="med" len="med"/>
                    </a:lnL>
                    <a:lnR w="9525" cap="flat" cmpd="sng" algn="ctr">
                      <a:solidFill>
                        <a:srgbClr val="E1E3F0"/>
                      </a:solidFill>
                      <a:prstDash val="solid"/>
                      <a:round/>
                      <a:headEnd type="none" w="med" len="med"/>
                      <a:tailEnd type="none" w="med" len="med"/>
                    </a:lnR>
                    <a:lnT w="9525" cap="flat" cmpd="sng" algn="ctr">
                      <a:solidFill>
                        <a:srgbClr val="E1E3F0"/>
                      </a:solidFill>
                      <a:prstDash val="solid"/>
                      <a:round/>
                      <a:headEnd type="none" w="med" len="med"/>
                      <a:tailEnd type="none" w="med" len="med"/>
                    </a:lnT>
                    <a:lnB w="9525" cap="flat" cmpd="sng" algn="ctr">
                      <a:solidFill>
                        <a:srgbClr val="E1E3F0"/>
                      </a:solidFill>
                      <a:prstDash val="solid"/>
                      <a:round/>
                      <a:headEnd type="none" w="med" len="med"/>
                      <a:tailEnd type="none" w="med" len="med"/>
                    </a:lnB>
                    <a:solidFill>
                      <a:srgbClr val="EEF0FB"/>
                    </a:solidFill>
                  </a:tcPr>
                </a:tc>
                <a:tc>
                  <a:txBody>
                    <a:bodyPr/>
                    <a:lstStyle/>
                    <a:p>
                      <a:pPr marL="0" indent="0" algn="ctr">
                        <a:buNone/>
                      </a:pPr>
                      <a:r>
                        <a:rPr lang="en-US" sz="1000" dirty="0">
                          <a:solidFill>
                            <a:srgbClr val="1B1F3B"/>
                          </a:solidFill>
                        </a:rPr>
                        <a:t>90.4</a:t>
                      </a:r>
                      <a:endParaRPr lang="en-US" sz="1000" dirty="0"/>
                    </a:p>
                  </a:txBody>
                  <a:tcPr anchor="ctr">
                    <a:lnL w="9525" cap="flat" cmpd="sng" algn="ctr">
                      <a:solidFill>
                        <a:srgbClr val="E1E3F0"/>
                      </a:solidFill>
                      <a:prstDash val="solid"/>
                      <a:round/>
                      <a:headEnd type="none" w="med" len="med"/>
                      <a:tailEnd type="none" w="med" len="med"/>
                    </a:lnL>
                    <a:lnR w="9525" cap="flat" cmpd="sng" algn="ctr">
                      <a:solidFill>
                        <a:srgbClr val="E1E3F0"/>
                      </a:solidFill>
                      <a:prstDash val="solid"/>
                      <a:round/>
                      <a:headEnd type="none" w="med" len="med"/>
                      <a:tailEnd type="none" w="med" len="med"/>
                    </a:lnR>
                    <a:lnT w="9525" cap="flat" cmpd="sng" algn="ctr">
                      <a:solidFill>
                        <a:srgbClr val="E1E3F0"/>
                      </a:solidFill>
                      <a:prstDash val="solid"/>
                      <a:round/>
                      <a:headEnd type="none" w="med" len="med"/>
                      <a:tailEnd type="none" w="med" len="med"/>
                    </a:lnT>
                    <a:lnB w="9525" cap="flat" cmpd="sng" algn="ctr">
                      <a:solidFill>
                        <a:srgbClr val="E1E3F0"/>
                      </a:solidFill>
                      <a:prstDash val="solid"/>
                      <a:round/>
                      <a:headEnd type="none" w="med" len="med"/>
                      <a:tailEnd type="none" w="med" len="med"/>
                    </a:lnB>
                    <a:solidFill>
                      <a:srgbClr val="EEF0FB"/>
                    </a:solidFill>
                  </a:tcPr>
                </a:tc>
                <a:tc>
                  <a:txBody>
                    <a:bodyPr/>
                    <a:lstStyle/>
                    <a:p>
                      <a:pPr marL="0" indent="0" algn="ctr">
                        <a:buNone/>
                      </a:pPr>
                      <a:r>
                        <a:rPr lang="en-US" sz="1000" dirty="0">
                          <a:solidFill>
                            <a:srgbClr val="1B1F3B"/>
                          </a:solidFill>
                        </a:rPr>
                        <a:t>89.9</a:t>
                      </a:r>
                      <a:endParaRPr lang="en-US" sz="1000" dirty="0"/>
                    </a:p>
                  </a:txBody>
                  <a:tcPr anchor="ctr">
                    <a:lnL w="9525" cap="flat" cmpd="sng" algn="ctr">
                      <a:solidFill>
                        <a:srgbClr val="E1E3F0"/>
                      </a:solidFill>
                      <a:prstDash val="solid"/>
                      <a:round/>
                      <a:headEnd type="none" w="med" len="med"/>
                      <a:tailEnd type="none" w="med" len="med"/>
                    </a:lnL>
                    <a:lnR w="9525" cap="flat" cmpd="sng" algn="ctr">
                      <a:solidFill>
                        <a:srgbClr val="E1E3F0"/>
                      </a:solidFill>
                      <a:prstDash val="solid"/>
                      <a:round/>
                      <a:headEnd type="none" w="med" len="med"/>
                      <a:tailEnd type="none" w="med" len="med"/>
                    </a:lnR>
                    <a:lnT w="9525" cap="flat" cmpd="sng" algn="ctr">
                      <a:solidFill>
                        <a:srgbClr val="E1E3F0"/>
                      </a:solidFill>
                      <a:prstDash val="solid"/>
                      <a:round/>
                      <a:headEnd type="none" w="med" len="med"/>
                      <a:tailEnd type="none" w="med" len="med"/>
                    </a:lnT>
                    <a:lnB w="9525" cap="flat" cmpd="sng" algn="ctr">
                      <a:solidFill>
                        <a:srgbClr val="E1E3F0"/>
                      </a:solidFill>
                      <a:prstDash val="solid"/>
                      <a:round/>
                      <a:headEnd type="none" w="med" len="med"/>
                      <a:tailEnd type="none" w="med" len="med"/>
                    </a:lnB>
                    <a:solidFill>
                      <a:srgbClr val="EEF0FB"/>
                    </a:solidFill>
                  </a:tcPr>
                </a:tc>
                <a:tc>
                  <a:txBody>
                    <a:bodyPr/>
                    <a:lstStyle/>
                    <a:p>
                      <a:pPr marL="0" indent="0" algn="ctr">
                        <a:buNone/>
                      </a:pPr>
                      <a:r>
                        <a:rPr lang="en-US" sz="1000" dirty="0">
                          <a:solidFill>
                            <a:srgbClr val="1B1F3B"/>
                          </a:solidFill>
                        </a:rPr>
                        <a:t>90.1</a:t>
                      </a:r>
                      <a:endParaRPr lang="en-US" sz="1000" dirty="0"/>
                    </a:p>
                  </a:txBody>
                  <a:tcPr anchor="ctr">
                    <a:lnL w="9525" cap="flat" cmpd="sng" algn="ctr">
                      <a:solidFill>
                        <a:srgbClr val="E1E3F0"/>
                      </a:solidFill>
                      <a:prstDash val="solid"/>
                      <a:round/>
                      <a:headEnd type="none" w="med" len="med"/>
                      <a:tailEnd type="none" w="med" len="med"/>
                    </a:lnL>
                    <a:lnR w="9525" cap="flat" cmpd="sng" algn="ctr">
                      <a:solidFill>
                        <a:srgbClr val="E1E3F0"/>
                      </a:solidFill>
                      <a:prstDash val="solid"/>
                      <a:round/>
                      <a:headEnd type="none" w="med" len="med"/>
                      <a:tailEnd type="none" w="med" len="med"/>
                    </a:lnR>
                    <a:lnT w="9525" cap="flat" cmpd="sng" algn="ctr">
                      <a:solidFill>
                        <a:srgbClr val="E1E3F0"/>
                      </a:solidFill>
                      <a:prstDash val="solid"/>
                      <a:round/>
                      <a:headEnd type="none" w="med" len="med"/>
                      <a:tailEnd type="none" w="med" len="med"/>
                    </a:lnT>
                    <a:lnB w="9525" cap="flat" cmpd="sng" algn="ctr">
                      <a:solidFill>
                        <a:srgbClr val="E1E3F0"/>
                      </a:solidFill>
                      <a:prstDash val="solid"/>
                      <a:round/>
                      <a:headEnd type="none" w="med" len="med"/>
                      <a:tailEnd type="none" w="med" len="med"/>
                    </a:lnB>
                    <a:solidFill>
                      <a:srgbClr val="EEF0FB"/>
                    </a:solidFill>
                  </a:tcPr>
                </a:tc>
                <a:extLst>
                  <a:ext uri="{0D108BD9-81ED-4DB2-BD59-A6C34878D82A}">
                    <a16:rowId xmlns:a16="http://schemas.microsoft.com/office/drawing/2014/main" val="10002"/>
                  </a:ext>
                </a:extLst>
              </a:tr>
              <a:tr h="381000">
                <a:tc>
                  <a:txBody>
                    <a:bodyPr/>
                    <a:lstStyle/>
                    <a:p>
                      <a:pPr marL="0" indent="0" algn="ctr">
                        <a:buNone/>
                      </a:pPr>
                      <a:r>
                        <a:rPr lang="en-US" sz="1000" dirty="0">
                          <a:solidFill>
                            <a:srgbClr val="1B1F3B"/>
                          </a:solidFill>
                        </a:rPr>
                        <a:t>Support Vector Machine</a:t>
                      </a:r>
                      <a:endParaRPr lang="en-US" sz="1000" dirty="0"/>
                    </a:p>
                  </a:txBody>
                  <a:tcPr anchor="ctr">
                    <a:lnL w="9525" cap="flat" cmpd="sng" algn="ctr">
                      <a:solidFill>
                        <a:srgbClr val="E1E3F0"/>
                      </a:solidFill>
                      <a:prstDash val="solid"/>
                      <a:round/>
                      <a:headEnd type="none" w="med" len="med"/>
                      <a:tailEnd type="none" w="med" len="med"/>
                    </a:lnL>
                    <a:lnR w="9525" cap="flat" cmpd="sng" algn="ctr">
                      <a:solidFill>
                        <a:srgbClr val="E1E3F0"/>
                      </a:solidFill>
                      <a:prstDash val="solid"/>
                      <a:round/>
                      <a:headEnd type="none" w="med" len="med"/>
                      <a:tailEnd type="none" w="med" len="med"/>
                    </a:lnR>
                    <a:lnT w="9525" cap="flat" cmpd="sng" algn="ctr">
                      <a:solidFill>
                        <a:srgbClr val="E1E3F0"/>
                      </a:solidFill>
                      <a:prstDash val="solid"/>
                      <a:round/>
                      <a:headEnd type="none" w="med" len="med"/>
                      <a:tailEnd type="none" w="med" len="med"/>
                    </a:lnT>
                    <a:lnB w="9525" cap="flat" cmpd="sng" algn="ctr">
                      <a:solidFill>
                        <a:srgbClr val="E1E3F0"/>
                      </a:solidFill>
                      <a:prstDash val="solid"/>
                      <a:round/>
                      <a:headEnd type="none" w="med" len="med"/>
                      <a:tailEnd type="none" w="med" len="med"/>
                    </a:lnB>
                    <a:solidFill>
                      <a:srgbClr val="FFFFFF"/>
                    </a:solidFill>
                  </a:tcPr>
                </a:tc>
                <a:tc>
                  <a:txBody>
                    <a:bodyPr/>
                    <a:lstStyle/>
                    <a:p>
                      <a:pPr marL="0" indent="0" algn="ctr">
                        <a:buNone/>
                      </a:pPr>
                      <a:r>
                        <a:rPr lang="en-US" sz="1000" dirty="0">
                          <a:solidFill>
                            <a:srgbClr val="1B1F3B"/>
                          </a:solidFill>
                        </a:rPr>
                        <a:t>87.9</a:t>
                      </a:r>
                      <a:endParaRPr lang="en-US" sz="1000" dirty="0"/>
                    </a:p>
                  </a:txBody>
                  <a:tcPr anchor="ctr">
                    <a:lnL w="9525" cap="flat" cmpd="sng" algn="ctr">
                      <a:solidFill>
                        <a:srgbClr val="E1E3F0"/>
                      </a:solidFill>
                      <a:prstDash val="solid"/>
                      <a:round/>
                      <a:headEnd type="none" w="med" len="med"/>
                      <a:tailEnd type="none" w="med" len="med"/>
                    </a:lnL>
                    <a:lnR w="9525" cap="flat" cmpd="sng" algn="ctr">
                      <a:solidFill>
                        <a:srgbClr val="E1E3F0"/>
                      </a:solidFill>
                      <a:prstDash val="solid"/>
                      <a:round/>
                      <a:headEnd type="none" w="med" len="med"/>
                      <a:tailEnd type="none" w="med" len="med"/>
                    </a:lnR>
                    <a:lnT w="9525" cap="flat" cmpd="sng" algn="ctr">
                      <a:solidFill>
                        <a:srgbClr val="E1E3F0"/>
                      </a:solidFill>
                      <a:prstDash val="solid"/>
                      <a:round/>
                      <a:headEnd type="none" w="med" len="med"/>
                      <a:tailEnd type="none" w="med" len="med"/>
                    </a:lnT>
                    <a:lnB w="9525" cap="flat" cmpd="sng" algn="ctr">
                      <a:solidFill>
                        <a:srgbClr val="E1E3F0"/>
                      </a:solidFill>
                      <a:prstDash val="solid"/>
                      <a:round/>
                      <a:headEnd type="none" w="med" len="med"/>
                      <a:tailEnd type="none" w="med" len="med"/>
                    </a:lnB>
                    <a:solidFill>
                      <a:srgbClr val="FFFFFF"/>
                    </a:solidFill>
                  </a:tcPr>
                </a:tc>
                <a:tc>
                  <a:txBody>
                    <a:bodyPr/>
                    <a:lstStyle/>
                    <a:p>
                      <a:pPr marL="0" indent="0" algn="ctr">
                        <a:buNone/>
                      </a:pPr>
                      <a:r>
                        <a:rPr lang="en-US" sz="1000" dirty="0">
                          <a:solidFill>
                            <a:srgbClr val="1B1F3B"/>
                          </a:solidFill>
                        </a:rPr>
                        <a:t>86.5</a:t>
                      </a:r>
                      <a:endParaRPr lang="en-US" sz="1000" dirty="0"/>
                    </a:p>
                  </a:txBody>
                  <a:tcPr anchor="ctr">
                    <a:lnL w="9525" cap="flat" cmpd="sng" algn="ctr">
                      <a:solidFill>
                        <a:srgbClr val="E1E3F0"/>
                      </a:solidFill>
                      <a:prstDash val="solid"/>
                      <a:round/>
                      <a:headEnd type="none" w="med" len="med"/>
                      <a:tailEnd type="none" w="med" len="med"/>
                    </a:lnL>
                    <a:lnR w="9525" cap="flat" cmpd="sng" algn="ctr">
                      <a:solidFill>
                        <a:srgbClr val="E1E3F0"/>
                      </a:solidFill>
                      <a:prstDash val="solid"/>
                      <a:round/>
                      <a:headEnd type="none" w="med" len="med"/>
                      <a:tailEnd type="none" w="med" len="med"/>
                    </a:lnR>
                    <a:lnT w="9525" cap="flat" cmpd="sng" algn="ctr">
                      <a:solidFill>
                        <a:srgbClr val="E1E3F0"/>
                      </a:solidFill>
                      <a:prstDash val="solid"/>
                      <a:round/>
                      <a:headEnd type="none" w="med" len="med"/>
                      <a:tailEnd type="none" w="med" len="med"/>
                    </a:lnT>
                    <a:lnB w="9525" cap="flat" cmpd="sng" algn="ctr">
                      <a:solidFill>
                        <a:srgbClr val="E1E3F0"/>
                      </a:solidFill>
                      <a:prstDash val="solid"/>
                      <a:round/>
                      <a:headEnd type="none" w="med" len="med"/>
                      <a:tailEnd type="none" w="med" len="med"/>
                    </a:lnB>
                    <a:solidFill>
                      <a:srgbClr val="FFFFFF"/>
                    </a:solidFill>
                  </a:tcPr>
                </a:tc>
                <a:tc>
                  <a:txBody>
                    <a:bodyPr/>
                    <a:lstStyle/>
                    <a:p>
                      <a:pPr marL="0" indent="0" algn="ctr">
                        <a:buNone/>
                      </a:pPr>
                      <a:r>
                        <a:rPr lang="en-US" sz="1000" dirty="0">
                          <a:solidFill>
                            <a:srgbClr val="1B1F3B"/>
                          </a:solidFill>
                        </a:rPr>
                        <a:t>86.0</a:t>
                      </a:r>
                      <a:endParaRPr lang="en-US" sz="1000" dirty="0"/>
                    </a:p>
                  </a:txBody>
                  <a:tcPr anchor="ctr">
                    <a:lnL w="9525" cap="flat" cmpd="sng" algn="ctr">
                      <a:solidFill>
                        <a:srgbClr val="E1E3F0"/>
                      </a:solidFill>
                      <a:prstDash val="solid"/>
                      <a:round/>
                      <a:headEnd type="none" w="med" len="med"/>
                      <a:tailEnd type="none" w="med" len="med"/>
                    </a:lnL>
                    <a:lnR w="9525" cap="flat" cmpd="sng" algn="ctr">
                      <a:solidFill>
                        <a:srgbClr val="E1E3F0"/>
                      </a:solidFill>
                      <a:prstDash val="solid"/>
                      <a:round/>
                      <a:headEnd type="none" w="med" len="med"/>
                      <a:tailEnd type="none" w="med" len="med"/>
                    </a:lnR>
                    <a:lnT w="9525" cap="flat" cmpd="sng" algn="ctr">
                      <a:solidFill>
                        <a:srgbClr val="E1E3F0"/>
                      </a:solidFill>
                      <a:prstDash val="solid"/>
                      <a:round/>
                      <a:headEnd type="none" w="med" len="med"/>
                      <a:tailEnd type="none" w="med" len="med"/>
                    </a:lnT>
                    <a:lnB w="9525" cap="flat" cmpd="sng" algn="ctr">
                      <a:solidFill>
                        <a:srgbClr val="E1E3F0"/>
                      </a:solidFill>
                      <a:prstDash val="solid"/>
                      <a:round/>
                      <a:headEnd type="none" w="med" len="med"/>
                      <a:tailEnd type="none" w="med" len="med"/>
                    </a:lnB>
                    <a:solidFill>
                      <a:srgbClr val="FFFFFF"/>
                    </a:solidFill>
                  </a:tcPr>
                </a:tc>
                <a:tc>
                  <a:txBody>
                    <a:bodyPr/>
                    <a:lstStyle/>
                    <a:p>
                      <a:pPr marL="0" indent="0" algn="ctr">
                        <a:buNone/>
                      </a:pPr>
                      <a:r>
                        <a:rPr lang="en-US" sz="1000" dirty="0">
                          <a:solidFill>
                            <a:srgbClr val="1B1F3B"/>
                          </a:solidFill>
                        </a:rPr>
                        <a:t>86.2</a:t>
                      </a:r>
                      <a:endParaRPr lang="en-US" sz="1000" dirty="0"/>
                    </a:p>
                  </a:txBody>
                  <a:tcPr anchor="ctr">
                    <a:lnL w="9525" cap="flat" cmpd="sng" algn="ctr">
                      <a:solidFill>
                        <a:srgbClr val="E1E3F0"/>
                      </a:solidFill>
                      <a:prstDash val="solid"/>
                      <a:round/>
                      <a:headEnd type="none" w="med" len="med"/>
                      <a:tailEnd type="none" w="med" len="med"/>
                    </a:lnL>
                    <a:lnR w="9525" cap="flat" cmpd="sng" algn="ctr">
                      <a:solidFill>
                        <a:srgbClr val="E1E3F0"/>
                      </a:solidFill>
                      <a:prstDash val="solid"/>
                      <a:round/>
                      <a:headEnd type="none" w="med" len="med"/>
                      <a:tailEnd type="none" w="med" len="med"/>
                    </a:lnR>
                    <a:lnT w="9525" cap="flat" cmpd="sng" algn="ctr">
                      <a:solidFill>
                        <a:srgbClr val="E1E3F0"/>
                      </a:solidFill>
                      <a:prstDash val="solid"/>
                      <a:round/>
                      <a:headEnd type="none" w="med" len="med"/>
                      <a:tailEnd type="none" w="med" len="med"/>
                    </a:lnT>
                    <a:lnB w="9525" cap="flat" cmpd="sng" algn="ctr">
                      <a:solidFill>
                        <a:srgbClr val="E1E3F0"/>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381000">
                <a:tc>
                  <a:txBody>
                    <a:bodyPr/>
                    <a:lstStyle/>
                    <a:p>
                      <a:pPr marL="0" indent="0" algn="ctr">
                        <a:buNone/>
                      </a:pPr>
                      <a:r>
                        <a:rPr lang="en-US" sz="1000" dirty="0">
                          <a:solidFill>
                            <a:srgbClr val="1B1F3B"/>
                          </a:solidFill>
                        </a:rPr>
                        <a:t>Decision Tree</a:t>
                      </a:r>
                      <a:endParaRPr lang="en-US" sz="1000" dirty="0"/>
                    </a:p>
                  </a:txBody>
                  <a:tcPr anchor="ctr">
                    <a:lnL w="9525" cap="flat" cmpd="sng" algn="ctr">
                      <a:solidFill>
                        <a:srgbClr val="E1E3F0"/>
                      </a:solidFill>
                      <a:prstDash val="solid"/>
                      <a:round/>
                      <a:headEnd type="none" w="med" len="med"/>
                      <a:tailEnd type="none" w="med" len="med"/>
                    </a:lnL>
                    <a:lnR w="9525" cap="flat" cmpd="sng" algn="ctr">
                      <a:solidFill>
                        <a:srgbClr val="E1E3F0"/>
                      </a:solidFill>
                      <a:prstDash val="solid"/>
                      <a:round/>
                      <a:headEnd type="none" w="med" len="med"/>
                      <a:tailEnd type="none" w="med" len="med"/>
                    </a:lnR>
                    <a:lnT w="9525" cap="flat" cmpd="sng" algn="ctr">
                      <a:solidFill>
                        <a:srgbClr val="E1E3F0"/>
                      </a:solidFill>
                      <a:prstDash val="solid"/>
                      <a:round/>
                      <a:headEnd type="none" w="med" len="med"/>
                      <a:tailEnd type="none" w="med" len="med"/>
                    </a:lnT>
                    <a:lnB w="9525" cap="flat" cmpd="sng" algn="ctr">
                      <a:solidFill>
                        <a:srgbClr val="E1E3F0"/>
                      </a:solidFill>
                      <a:prstDash val="solid"/>
                      <a:round/>
                      <a:headEnd type="none" w="med" len="med"/>
                      <a:tailEnd type="none" w="med" len="med"/>
                    </a:lnB>
                    <a:solidFill>
                      <a:srgbClr val="EEF0FB"/>
                    </a:solidFill>
                  </a:tcPr>
                </a:tc>
                <a:tc>
                  <a:txBody>
                    <a:bodyPr/>
                    <a:lstStyle/>
                    <a:p>
                      <a:pPr marL="0" indent="0" algn="ctr">
                        <a:buNone/>
                      </a:pPr>
                      <a:r>
                        <a:rPr lang="en-US" sz="1000" dirty="0">
                          <a:solidFill>
                            <a:srgbClr val="1B1F3B"/>
                          </a:solidFill>
                        </a:rPr>
                        <a:t>88.2</a:t>
                      </a:r>
                      <a:endParaRPr lang="en-US" sz="1000" dirty="0"/>
                    </a:p>
                  </a:txBody>
                  <a:tcPr anchor="ctr">
                    <a:lnL w="9525" cap="flat" cmpd="sng" algn="ctr">
                      <a:solidFill>
                        <a:srgbClr val="E1E3F0"/>
                      </a:solidFill>
                      <a:prstDash val="solid"/>
                      <a:round/>
                      <a:headEnd type="none" w="med" len="med"/>
                      <a:tailEnd type="none" w="med" len="med"/>
                    </a:lnL>
                    <a:lnR w="9525" cap="flat" cmpd="sng" algn="ctr">
                      <a:solidFill>
                        <a:srgbClr val="E1E3F0"/>
                      </a:solidFill>
                      <a:prstDash val="solid"/>
                      <a:round/>
                      <a:headEnd type="none" w="med" len="med"/>
                      <a:tailEnd type="none" w="med" len="med"/>
                    </a:lnR>
                    <a:lnT w="9525" cap="flat" cmpd="sng" algn="ctr">
                      <a:solidFill>
                        <a:srgbClr val="E1E3F0"/>
                      </a:solidFill>
                      <a:prstDash val="solid"/>
                      <a:round/>
                      <a:headEnd type="none" w="med" len="med"/>
                      <a:tailEnd type="none" w="med" len="med"/>
                    </a:lnT>
                    <a:lnB w="9525" cap="flat" cmpd="sng" algn="ctr">
                      <a:solidFill>
                        <a:srgbClr val="E1E3F0"/>
                      </a:solidFill>
                      <a:prstDash val="solid"/>
                      <a:round/>
                      <a:headEnd type="none" w="med" len="med"/>
                      <a:tailEnd type="none" w="med" len="med"/>
                    </a:lnB>
                    <a:solidFill>
                      <a:srgbClr val="EEF0FB"/>
                    </a:solidFill>
                  </a:tcPr>
                </a:tc>
                <a:tc>
                  <a:txBody>
                    <a:bodyPr/>
                    <a:lstStyle/>
                    <a:p>
                      <a:pPr marL="0" indent="0" algn="ctr">
                        <a:buNone/>
                      </a:pPr>
                      <a:r>
                        <a:rPr lang="en-US" sz="1000" dirty="0">
                          <a:solidFill>
                            <a:srgbClr val="1B1F3B"/>
                          </a:solidFill>
                        </a:rPr>
                        <a:t>87.0</a:t>
                      </a:r>
                      <a:endParaRPr lang="en-US" sz="1000" dirty="0"/>
                    </a:p>
                  </a:txBody>
                  <a:tcPr anchor="ctr">
                    <a:lnL w="9525" cap="flat" cmpd="sng" algn="ctr">
                      <a:solidFill>
                        <a:srgbClr val="E1E3F0"/>
                      </a:solidFill>
                      <a:prstDash val="solid"/>
                      <a:round/>
                      <a:headEnd type="none" w="med" len="med"/>
                      <a:tailEnd type="none" w="med" len="med"/>
                    </a:lnL>
                    <a:lnR w="9525" cap="flat" cmpd="sng" algn="ctr">
                      <a:solidFill>
                        <a:srgbClr val="E1E3F0"/>
                      </a:solidFill>
                      <a:prstDash val="solid"/>
                      <a:round/>
                      <a:headEnd type="none" w="med" len="med"/>
                      <a:tailEnd type="none" w="med" len="med"/>
                    </a:lnR>
                    <a:lnT w="9525" cap="flat" cmpd="sng" algn="ctr">
                      <a:solidFill>
                        <a:srgbClr val="E1E3F0"/>
                      </a:solidFill>
                      <a:prstDash val="solid"/>
                      <a:round/>
                      <a:headEnd type="none" w="med" len="med"/>
                      <a:tailEnd type="none" w="med" len="med"/>
                    </a:lnT>
                    <a:lnB w="9525" cap="flat" cmpd="sng" algn="ctr">
                      <a:solidFill>
                        <a:srgbClr val="E1E3F0"/>
                      </a:solidFill>
                      <a:prstDash val="solid"/>
                      <a:round/>
                      <a:headEnd type="none" w="med" len="med"/>
                      <a:tailEnd type="none" w="med" len="med"/>
                    </a:lnB>
                    <a:solidFill>
                      <a:srgbClr val="EEF0FB"/>
                    </a:solidFill>
                  </a:tcPr>
                </a:tc>
                <a:tc>
                  <a:txBody>
                    <a:bodyPr/>
                    <a:lstStyle/>
                    <a:p>
                      <a:pPr marL="0" indent="0" algn="ctr">
                        <a:buNone/>
                      </a:pPr>
                      <a:r>
                        <a:rPr lang="en-US" sz="1000" dirty="0">
                          <a:solidFill>
                            <a:srgbClr val="1B1F3B"/>
                          </a:solidFill>
                        </a:rPr>
                        <a:t>86.6</a:t>
                      </a:r>
                      <a:endParaRPr lang="en-US" sz="1000" dirty="0"/>
                    </a:p>
                  </a:txBody>
                  <a:tcPr anchor="ctr">
                    <a:lnL w="9525" cap="flat" cmpd="sng" algn="ctr">
                      <a:solidFill>
                        <a:srgbClr val="E1E3F0"/>
                      </a:solidFill>
                      <a:prstDash val="solid"/>
                      <a:round/>
                      <a:headEnd type="none" w="med" len="med"/>
                      <a:tailEnd type="none" w="med" len="med"/>
                    </a:lnL>
                    <a:lnR w="9525" cap="flat" cmpd="sng" algn="ctr">
                      <a:solidFill>
                        <a:srgbClr val="E1E3F0"/>
                      </a:solidFill>
                      <a:prstDash val="solid"/>
                      <a:round/>
                      <a:headEnd type="none" w="med" len="med"/>
                      <a:tailEnd type="none" w="med" len="med"/>
                    </a:lnR>
                    <a:lnT w="9525" cap="flat" cmpd="sng" algn="ctr">
                      <a:solidFill>
                        <a:srgbClr val="E1E3F0"/>
                      </a:solidFill>
                      <a:prstDash val="solid"/>
                      <a:round/>
                      <a:headEnd type="none" w="med" len="med"/>
                      <a:tailEnd type="none" w="med" len="med"/>
                    </a:lnT>
                    <a:lnB w="9525" cap="flat" cmpd="sng" algn="ctr">
                      <a:solidFill>
                        <a:srgbClr val="E1E3F0"/>
                      </a:solidFill>
                      <a:prstDash val="solid"/>
                      <a:round/>
                      <a:headEnd type="none" w="med" len="med"/>
                      <a:tailEnd type="none" w="med" len="med"/>
                    </a:lnB>
                    <a:solidFill>
                      <a:srgbClr val="EEF0FB"/>
                    </a:solidFill>
                  </a:tcPr>
                </a:tc>
                <a:tc>
                  <a:txBody>
                    <a:bodyPr/>
                    <a:lstStyle/>
                    <a:p>
                      <a:pPr marL="0" indent="0" algn="ctr">
                        <a:buNone/>
                      </a:pPr>
                      <a:r>
                        <a:rPr lang="en-US" sz="1000" dirty="0">
                          <a:solidFill>
                            <a:srgbClr val="1B1F3B"/>
                          </a:solidFill>
                        </a:rPr>
                        <a:t>86.8</a:t>
                      </a:r>
                      <a:endParaRPr lang="en-US" sz="1000" dirty="0"/>
                    </a:p>
                  </a:txBody>
                  <a:tcPr anchor="ctr">
                    <a:lnL w="9525" cap="flat" cmpd="sng" algn="ctr">
                      <a:solidFill>
                        <a:srgbClr val="E1E3F0"/>
                      </a:solidFill>
                      <a:prstDash val="solid"/>
                      <a:round/>
                      <a:headEnd type="none" w="med" len="med"/>
                      <a:tailEnd type="none" w="med" len="med"/>
                    </a:lnL>
                    <a:lnR w="9525" cap="flat" cmpd="sng" algn="ctr">
                      <a:solidFill>
                        <a:srgbClr val="E1E3F0"/>
                      </a:solidFill>
                      <a:prstDash val="solid"/>
                      <a:round/>
                      <a:headEnd type="none" w="med" len="med"/>
                      <a:tailEnd type="none" w="med" len="med"/>
                    </a:lnR>
                    <a:lnT w="9525" cap="flat" cmpd="sng" algn="ctr">
                      <a:solidFill>
                        <a:srgbClr val="E1E3F0"/>
                      </a:solidFill>
                      <a:prstDash val="solid"/>
                      <a:round/>
                      <a:headEnd type="none" w="med" len="med"/>
                      <a:tailEnd type="none" w="med" len="med"/>
                    </a:lnT>
                    <a:lnB w="9525" cap="flat" cmpd="sng" algn="ctr">
                      <a:solidFill>
                        <a:srgbClr val="E1E3F0"/>
                      </a:solidFill>
                      <a:prstDash val="solid"/>
                      <a:round/>
                      <a:headEnd type="none" w="med" len="med"/>
                      <a:tailEnd type="none" w="med" len="med"/>
                    </a:lnB>
                    <a:solidFill>
                      <a:srgbClr val="EEF0FB"/>
                    </a:solidFill>
                  </a:tcPr>
                </a:tc>
                <a:extLst>
                  <a:ext uri="{0D108BD9-81ED-4DB2-BD59-A6C34878D82A}">
                    <a16:rowId xmlns:a16="http://schemas.microsoft.com/office/drawing/2014/main" val="10004"/>
                  </a:ext>
                </a:extLst>
              </a:tr>
              <a:tr h="381000">
                <a:tc>
                  <a:txBody>
                    <a:bodyPr/>
                    <a:lstStyle/>
                    <a:p>
                      <a:pPr marL="0" indent="0" algn="ctr">
                        <a:buNone/>
                      </a:pPr>
                      <a:r>
                        <a:rPr lang="en-US" sz="1000" dirty="0">
                          <a:solidFill>
                            <a:srgbClr val="1B1F3B"/>
                          </a:solidFill>
                        </a:rPr>
                        <a:t>Logistic Regression</a:t>
                      </a:r>
                      <a:endParaRPr lang="en-US" sz="1000" dirty="0"/>
                    </a:p>
                  </a:txBody>
                  <a:tcPr anchor="ctr">
                    <a:lnL w="9525" cap="flat" cmpd="sng" algn="ctr">
                      <a:solidFill>
                        <a:srgbClr val="E1E3F0"/>
                      </a:solidFill>
                      <a:prstDash val="solid"/>
                      <a:round/>
                      <a:headEnd type="none" w="med" len="med"/>
                      <a:tailEnd type="none" w="med" len="med"/>
                    </a:lnL>
                    <a:lnR w="9525" cap="flat" cmpd="sng" algn="ctr">
                      <a:solidFill>
                        <a:srgbClr val="E1E3F0"/>
                      </a:solidFill>
                      <a:prstDash val="solid"/>
                      <a:round/>
                      <a:headEnd type="none" w="med" len="med"/>
                      <a:tailEnd type="none" w="med" len="med"/>
                    </a:lnR>
                    <a:lnT w="9525" cap="flat" cmpd="sng" algn="ctr">
                      <a:solidFill>
                        <a:srgbClr val="E1E3F0"/>
                      </a:solidFill>
                      <a:prstDash val="solid"/>
                      <a:round/>
                      <a:headEnd type="none" w="med" len="med"/>
                      <a:tailEnd type="none" w="med" len="med"/>
                    </a:lnT>
                    <a:lnB w="9525" cap="flat" cmpd="sng" algn="ctr">
                      <a:solidFill>
                        <a:srgbClr val="E1E3F0"/>
                      </a:solidFill>
                      <a:prstDash val="solid"/>
                      <a:round/>
                      <a:headEnd type="none" w="med" len="med"/>
                      <a:tailEnd type="none" w="med" len="med"/>
                    </a:lnB>
                    <a:solidFill>
                      <a:srgbClr val="FFFFFF"/>
                    </a:solidFill>
                  </a:tcPr>
                </a:tc>
                <a:tc>
                  <a:txBody>
                    <a:bodyPr/>
                    <a:lstStyle/>
                    <a:p>
                      <a:pPr marL="0" indent="0" algn="ctr">
                        <a:buNone/>
                      </a:pPr>
                      <a:r>
                        <a:rPr lang="en-US" sz="1000" dirty="0">
                          <a:solidFill>
                            <a:srgbClr val="1B1F3B"/>
                          </a:solidFill>
                        </a:rPr>
                        <a:t>85.3</a:t>
                      </a:r>
                      <a:endParaRPr lang="en-US" sz="1000" dirty="0"/>
                    </a:p>
                  </a:txBody>
                  <a:tcPr anchor="ctr">
                    <a:lnL w="9525" cap="flat" cmpd="sng" algn="ctr">
                      <a:solidFill>
                        <a:srgbClr val="E1E3F0"/>
                      </a:solidFill>
                      <a:prstDash val="solid"/>
                      <a:round/>
                      <a:headEnd type="none" w="med" len="med"/>
                      <a:tailEnd type="none" w="med" len="med"/>
                    </a:lnL>
                    <a:lnR w="9525" cap="flat" cmpd="sng" algn="ctr">
                      <a:solidFill>
                        <a:srgbClr val="E1E3F0"/>
                      </a:solidFill>
                      <a:prstDash val="solid"/>
                      <a:round/>
                      <a:headEnd type="none" w="med" len="med"/>
                      <a:tailEnd type="none" w="med" len="med"/>
                    </a:lnR>
                    <a:lnT w="9525" cap="flat" cmpd="sng" algn="ctr">
                      <a:solidFill>
                        <a:srgbClr val="E1E3F0"/>
                      </a:solidFill>
                      <a:prstDash val="solid"/>
                      <a:round/>
                      <a:headEnd type="none" w="med" len="med"/>
                      <a:tailEnd type="none" w="med" len="med"/>
                    </a:lnT>
                    <a:lnB w="9525" cap="flat" cmpd="sng" algn="ctr">
                      <a:solidFill>
                        <a:srgbClr val="E1E3F0"/>
                      </a:solidFill>
                      <a:prstDash val="solid"/>
                      <a:round/>
                      <a:headEnd type="none" w="med" len="med"/>
                      <a:tailEnd type="none" w="med" len="med"/>
                    </a:lnB>
                    <a:solidFill>
                      <a:srgbClr val="FFFFFF"/>
                    </a:solidFill>
                  </a:tcPr>
                </a:tc>
                <a:tc>
                  <a:txBody>
                    <a:bodyPr/>
                    <a:lstStyle/>
                    <a:p>
                      <a:pPr marL="0" indent="0" algn="ctr">
                        <a:buNone/>
                      </a:pPr>
                      <a:r>
                        <a:rPr lang="en-US" sz="1000" dirty="0">
                          <a:solidFill>
                            <a:srgbClr val="1B1F3B"/>
                          </a:solidFill>
                        </a:rPr>
                        <a:t>84.1</a:t>
                      </a:r>
                      <a:endParaRPr lang="en-US" sz="1000" dirty="0"/>
                    </a:p>
                  </a:txBody>
                  <a:tcPr anchor="ctr">
                    <a:lnL w="9525" cap="flat" cmpd="sng" algn="ctr">
                      <a:solidFill>
                        <a:srgbClr val="E1E3F0"/>
                      </a:solidFill>
                      <a:prstDash val="solid"/>
                      <a:round/>
                      <a:headEnd type="none" w="med" len="med"/>
                      <a:tailEnd type="none" w="med" len="med"/>
                    </a:lnL>
                    <a:lnR w="9525" cap="flat" cmpd="sng" algn="ctr">
                      <a:solidFill>
                        <a:srgbClr val="E1E3F0"/>
                      </a:solidFill>
                      <a:prstDash val="solid"/>
                      <a:round/>
                      <a:headEnd type="none" w="med" len="med"/>
                      <a:tailEnd type="none" w="med" len="med"/>
                    </a:lnR>
                    <a:lnT w="9525" cap="flat" cmpd="sng" algn="ctr">
                      <a:solidFill>
                        <a:srgbClr val="E1E3F0"/>
                      </a:solidFill>
                      <a:prstDash val="solid"/>
                      <a:round/>
                      <a:headEnd type="none" w="med" len="med"/>
                      <a:tailEnd type="none" w="med" len="med"/>
                    </a:lnT>
                    <a:lnB w="9525" cap="flat" cmpd="sng" algn="ctr">
                      <a:solidFill>
                        <a:srgbClr val="E1E3F0"/>
                      </a:solidFill>
                      <a:prstDash val="solid"/>
                      <a:round/>
                      <a:headEnd type="none" w="med" len="med"/>
                      <a:tailEnd type="none" w="med" len="med"/>
                    </a:lnB>
                    <a:solidFill>
                      <a:srgbClr val="FFFFFF"/>
                    </a:solidFill>
                  </a:tcPr>
                </a:tc>
                <a:tc>
                  <a:txBody>
                    <a:bodyPr/>
                    <a:lstStyle/>
                    <a:p>
                      <a:pPr marL="0" indent="0" algn="ctr">
                        <a:buNone/>
                      </a:pPr>
                      <a:r>
                        <a:rPr lang="en-US" sz="1000" dirty="0">
                          <a:solidFill>
                            <a:srgbClr val="1B1F3B"/>
                          </a:solidFill>
                        </a:rPr>
                        <a:t>83.7</a:t>
                      </a:r>
                      <a:endParaRPr lang="en-US" sz="1000" dirty="0"/>
                    </a:p>
                  </a:txBody>
                  <a:tcPr anchor="ctr">
                    <a:lnL w="9525" cap="flat" cmpd="sng" algn="ctr">
                      <a:solidFill>
                        <a:srgbClr val="E1E3F0"/>
                      </a:solidFill>
                      <a:prstDash val="solid"/>
                      <a:round/>
                      <a:headEnd type="none" w="med" len="med"/>
                      <a:tailEnd type="none" w="med" len="med"/>
                    </a:lnL>
                    <a:lnR w="9525" cap="flat" cmpd="sng" algn="ctr">
                      <a:solidFill>
                        <a:srgbClr val="E1E3F0"/>
                      </a:solidFill>
                      <a:prstDash val="solid"/>
                      <a:round/>
                      <a:headEnd type="none" w="med" len="med"/>
                      <a:tailEnd type="none" w="med" len="med"/>
                    </a:lnR>
                    <a:lnT w="9525" cap="flat" cmpd="sng" algn="ctr">
                      <a:solidFill>
                        <a:srgbClr val="E1E3F0"/>
                      </a:solidFill>
                      <a:prstDash val="solid"/>
                      <a:round/>
                      <a:headEnd type="none" w="med" len="med"/>
                      <a:tailEnd type="none" w="med" len="med"/>
                    </a:lnT>
                    <a:lnB w="9525" cap="flat" cmpd="sng" algn="ctr">
                      <a:solidFill>
                        <a:srgbClr val="E1E3F0"/>
                      </a:solidFill>
                      <a:prstDash val="solid"/>
                      <a:round/>
                      <a:headEnd type="none" w="med" len="med"/>
                      <a:tailEnd type="none" w="med" len="med"/>
                    </a:lnB>
                    <a:solidFill>
                      <a:srgbClr val="FFFFFF"/>
                    </a:solidFill>
                  </a:tcPr>
                </a:tc>
                <a:tc>
                  <a:txBody>
                    <a:bodyPr/>
                    <a:lstStyle/>
                    <a:p>
                      <a:pPr marL="0" indent="0" algn="ctr">
                        <a:buNone/>
                      </a:pPr>
                      <a:r>
                        <a:rPr lang="en-US" sz="1000" dirty="0">
                          <a:solidFill>
                            <a:srgbClr val="1B1F3B"/>
                          </a:solidFill>
                        </a:rPr>
                        <a:t>83.9</a:t>
                      </a:r>
                      <a:endParaRPr lang="en-US" sz="1000" dirty="0"/>
                    </a:p>
                  </a:txBody>
                  <a:tcPr anchor="ctr">
                    <a:lnL w="9525" cap="flat" cmpd="sng" algn="ctr">
                      <a:solidFill>
                        <a:srgbClr val="E1E3F0"/>
                      </a:solidFill>
                      <a:prstDash val="solid"/>
                      <a:round/>
                      <a:headEnd type="none" w="med" len="med"/>
                      <a:tailEnd type="none" w="med" len="med"/>
                    </a:lnL>
                    <a:lnR w="9525" cap="flat" cmpd="sng" algn="ctr">
                      <a:solidFill>
                        <a:srgbClr val="E1E3F0"/>
                      </a:solidFill>
                      <a:prstDash val="solid"/>
                      <a:round/>
                      <a:headEnd type="none" w="med" len="med"/>
                      <a:tailEnd type="none" w="med" len="med"/>
                    </a:lnR>
                    <a:lnT w="9525" cap="flat" cmpd="sng" algn="ctr">
                      <a:solidFill>
                        <a:srgbClr val="E1E3F0"/>
                      </a:solidFill>
                      <a:prstDash val="solid"/>
                      <a:round/>
                      <a:headEnd type="none" w="med" len="med"/>
                      <a:tailEnd type="none" w="med" len="med"/>
                    </a:lnT>
                    <a:lnB w="9525" cap="flat" cmpd="sng" algn="ctr">
                      <a:solidFill>
                        <a:srgbClr val="E1E3F0"/>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bl>
          </a:graphicData>
        </a:graphic>
      </p:graphicFrame>
      <p:sp>
        <p:nvSpPr>
          <p:cNvPr id="6" name="Shape 2"/>
          <p:cNvSpPr/>
          <p:nvPr/>
        </p:nvSpPr>
        <p:spPr>
          <a:xfrm>
            <a:off x="6720840" y="3931920"/>
            <a:ext cx="4937760" cy="1600200"/>
          </a:xfrm>
          <a:prstGeom prst="roundRect">
            <a:avLst>
              <a:gd name="adj" fmla="val 5714"/>
            </a:avLst>
          </a:prstGeom>
          <a:solidFill>
            <a:srgbClr val="EEF0FB"/>
          </a:solidFill>
          <a:ln/>
        </p:spPr>
      </p:sp>
      <p:sp>
        <p:nvSpPr>
          <p:cNvPr id="7" name="Text 3"/>
          <p:cNvSpPr/>
          <p:nvPr/>
        </p:nvSpPr>
        <p:spPr>
          <a:xfrm>
            <a:off x="6949440" y="4069080"/>
            <a:ext cx="4572000" cy="274320"/>
          </a:xfrm>
          <a:prstGeom prst="rect">
            <a:avLst/>
          </a:prstGeom>
          <a:noFill/>
          <a:ln/>
        </p:spPr>
        <p:txBody>
          <a:bodyPr wrap="square" rtlCol="0" anchor="ctr"/>
          <a:lstStyle/>
          <a:p>
            <a:pPr marL="0" indent="0">
              <a:buNone/>
            </a:pPr>
            <a:r>
              <a:rPr lang="en-US" sz="1350" b="1" dirty="0">
                <a:solidFill>
                  <a:srgbClr val="1B1F3B"/>
                </a:solidFill>
                <a:latin typeface="Cambria" pitchFamily="34" charset="0"/>
                <a:ea typeface="Cambria" pitchFamily="34" charset="-122"/>
                <a:cs typeface="Cambria" pitchFamily="34" charset="-120"/>
              </a:rPr>
              <a:t>Why Random Forest?</a:t>
            </a:r>
            <a:endParaRPr lang="en-US" sz="1350" dirty="0"/>
          </a:p>
        </p:txBody>
      </p:sp>
      <p:sp>
        <p:nvSpPr>
          <p:cNvPr id="8" name="Text 4"/>
          <p:cNvSpPr/>
          <p:nvPr/>
        </p:nvSpPr>
        <p:spPr>
          <a:xfrm>
            <a:off x="6949440" y="4370832"/>
            <a:ext cx="4572000" cy="1097280"/>
          </a:xfrm>
          <a:prstGeom prst="rect">
            <a:avLst/>
          </a:prstGeom>
          <a:noFill/>
          <a:ln/>
        </p:spPr>
        <p:txBody>
          <a:bodyPr wrap="square" rtlCol="0" anchor="ctr"/>
          <a:lstStyle/>
          <a:p>
            <a:pPr marL="0" indent="0">
              <a:lnSpc>
                <a:spcPct val="115000"/>
              </a:lnSpc>
              <a:buNone/>
            </a:pPr>
            <a:r>
              <a:rPr lang="en-US" sz="1080" dirty="0">
                <a:solidFill>
                  <a:srgbClr val="6E7488"/>
                </a:solidFill>
                <a:latin typeface="Calibri" pitchFamily="34" charset="0"/>
                <a:ea typeface="Calibri" pitchFamily="34" charset="-122"/>
                <a:cs typeface="Calibri" pitchFamily="34" charset="-120"/>
              </a:rPr>
              <a:t>Highest accuracy and F1-score among five algorithms, robust to noisy features, resistant to overfitting via ensembling, and provides clear feature-importance for explainability.</a:t>
            </a:r>
            <a:endParaRPr lang="en-US" sz="1080" dirty="0"/>
          </a:p>
        </p:txBody>
      </p:sp>
      <p:sp>
        <p:nvSpPr>
          <p:cNvPr id="5" name="Text 5"/>
          <p:cNvSpPr/>
          <p:nvPr/>
        </p:nvSpPr>
        <p:spPr>
          <a:xfrm>
            <a:off x="11475720" y="6510528"/>
            <a:ext cx="548640" cy="274320"/>
          </a:xfrm>
          <a:prstGeom prst="rect">
            <a:avLst/>
          </a:prstGeom>
          <a:noFill/>
          <a:ln/>
        </p:spPr>
        <p:txBody>
          <a:bodyPr wrap="square" rtlCol="0" anchor="ctr"/>
          <a:lstStyle/>
          <a:p>
            <a:pPr marL="0" indent="0" algn="r">
              <a:buNone/>
            </a:pPr>
            <a:r>
              <a:rPr lang="en-US" sz="1000" dirty="0">
                <a:solidFill>
                  <a:srgbClr val="6E7488"/>
                </a:solidFill>
                <a:latin typeface="Calibri" pitchFamily="34" charset="0"/>
                <a:ea typeface="Calibri" pitchFamily="34" charset="-122"/>
                <a:cs typeface="Calibri" pitchFamily="34" charset="-120"/>
              </a:rPr>
              <a:t>08</a:t>
            </a:r>
            <a:endParaRPr lang="en-US" sz="10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6F7FD"/>
        </a:solidFill>
        <a:effectLst/>
      </p:bgPr>
    </p:bg>
    <p:spTree>
      <p:nvGrpSpPr>
        <p:cNvPr id="1" name=""/>
        <p:cNvGrpSpPr/>
        <p:nvPr/>
      </p:nvGrpSpPr>
      <p:grpSpPr>
        <a:xfrm>
          <a:off x="0" y="0"/>
          <a:ext cx="0" cy="0"/>
          <a:chOff x="0" y="0"/>
          <a:chExt cx="0" cy="0"/>
        </a:xfrm>
      </p:grpSpPr>
      <p:sp>
        <p:nvSpPr>
          <p:cNvPr id="2" name="Text 0"/>
          <p:cNvSpPr/>
          <p:nvPr/>
        </p:nvSpPr>
        <p:spPr>
          <a:xfrm>
            <a:off x="548640" y="320040"/>
            <a:ext cx="7315200" cy="320040"/>
          </a:xfrm>
          <a:prstGeom prst="rect">
            <a:avLst/>
          </a:prstGeom>
          <a:noFill/>
          <a:ln/>
        </p:spPr>
        <p:txBody>
          <a:bodyPr wrap="square" rtlCol="0" anchor="ctr"/>
          <a:lstStyle/>
          <a:p>
            <a:pPr marL="0" indent="0">
              <a:buNone/>
            </a:pPr>
            <a:r>
              <a:rPr lang="en-US" sz="1300" b="1" kern="0" spc="200" dirty="0">
                <a:solidFill>
                  <a:srgbClr val="6C3CE9"/>
                </a:solidFill>
                <a:latin typeface="Calibri" pitchFamily="34" charset="0"/>
                <a:ea typeface="Calibri" pitchFamily="34" charset="-122"/>
                <a:cs typeface="Calibri" pitchFamily="34" charset="-120"/>
              </a:rPr>
              <a:t>APPLICATION</a:t>
            </a:r>
            <a:endParaRPr lang="en-US" sz="1300" dirty="0"/>
          </a:p>
        </p:txBody>
      </p:sp>
      <p:sp>
        <p:nvSpPr>
          <p:cNvPr id="3" name="Text 1"/>
          <p:cNvSpPr/>
          <p:nvPr/>
        </p:nvSpPr>
        <p:spPr>
          <a:xfrm>
            <a:off x="548640" y="621792"/>
            <a:ext cx="10515600" cy="685800"/>
          </a:xfrm>
          <a:prstGeom prst="rect">
            <a:avLst/>
          </a:prstGeom>
          <a:noFill/>
          <a:ln/>
        </p:spPr>
        <p:txBody>
          <a:bodyPr wrap="square" rtlCol="0" anchor="ctr"/>
          <a:lstStyle/>
          <a:p>
            <a:pPr marL="0" indent="0">
              <a:buNone/>
            </a:pPr>
            <a:r>
              <a:rPr lang="en-US" sz="3200" b="1" dirty="0">
                <a:solidFill>
                  <a:srgbClr val="1B1F3B"/>
                </a:solidFill>
                <a:latin typeface="Cambria" pitchFamily="34" charset="0"/>
                <a:ea typeface="Cambria" pitchFamily="34" charset="-122"/>
                <a:cs typeface="Cambria" pitchFamily="34" charset="-120"/>
              </a:rPr>
              <a:t>Application Features &amp; Screens</a:t>
            </a:r>
            <a:endParaRPr lang="en-US" sz="3200" dirty="0"/>
          </a:p>
        </p:txBody>
      </p:sp>
      <p:sp>
        <p:nvSpPr>
          <p:cNvPr id="4" name="Shape 2"/>
          <p:cNvSpPr/>
          <p:nvPr/>
        </p:nvSpPr>
        <p:spPr>
          <a:xfrm>
            <a:off x="548640" y="1463040"/>
            <a:ext cx="2670048" cy="1874520"/>
          </a:xfrm>
          <a:prstGeom prst="roundRect">
            <a:avLst>
              <a:gd name="adj" fmla="val 5854"/>
            </a:avLst>
          </a:prstGeom>
          <a:solidFill>
            <a:srgbClr val="FFFFFF"/>
          </a:solidFill>
          <a:ln/>
          <a:effectLst>
            <a:outerShdw blurRad="63500" dist="25400" dir="5400000" algn="bl" rotWithShape="0">
              <a:srgbClr val="1B1F3B">
                <a:alpha val="10000"/>
              </a:srgbClr>
            </a:outerShdw>
          </a:effectLst>
        </p:spPr>
      </p:sp>
      <p:sp>
        <p:nvSpPr>
          <p:cNvPr id="5" name="Shape 3"/>
          <p:cNvSpPr/>
          <p:nvPr/>
        </p:nvSpPr>
        <p:spPr>
          <a:xfrm>
            <a:off x="1600200" y="1664208"/>
            <a:ext cx="566928" cy="566928"/>
          </a:xfrm>
          <a:prstGeom prst="ellipse">
            <a:avLst/>
          </a:prstGeom>
          <a:solidFill>
            <a:srgbClr val="6C3CE9"/>
          </a:solidFill>
          <a:ln/>
        </p:spPr>
      </p:sp>
      <p:pic>
        <p:nvPicPr>
          <p:cNvPr id="6" name="Image 0" descr="preencoded.png"/>
          <p:cNvPicPr>
            <a:picLocks noChangeAspect="1"/>
          </p:cNvPicPr>
          <p:nvPr/>
        </p:nvPicPr>
        <p:blipFill>
          <a:blip r:embed="rId3"/>
          <a:stretch>
            <a:fillRect/>
          </a:stretch>
        </p:blipFill>
        <p:spPr>
          <a:xfrm>
            <a:off x="1747601" y="1811609"/>
            <a:ext cx="272125" cy="272125"/>
          </a:xfrm>
          <a:prstGeom prst="rect">
            <a:avLst/>
          </a:prstGeom>
        </p:spPr>
      </p:pic>
      <p:sp>
        <p:nvSpPr>
          <p:cNvPr id="7" name="Text 4"/>
          <p:cNvSpPr/>
          <p:nvPr/>
        </p:nvSpPr>
        <p:spPr>
          <a:xfrm>
            <a:off x="640080" y="2377440"/>
            <a:ext cx="2487168" cy="320040"/>
          </a:xfrm>
          <a:prstGeom prst="rect">
            <a:avLst/>
          </a:prstGeom>
          <a:noFill/>
          <a:ln/>
        </p:spPr>
        <p:txBody>
          <a:bodyPr wrap="square" rtlCol="0" anchor="ctr"/>
          <a:lstStyle/>
          <a:p>
            <a:pPr marL="0" indent="0" algn="ctr">
              <a:buNone/>
            </a:pPr>
            <a:r>
              <a:rPr lang="en-US" sz="1250" b="1" dirty="0">
                <a:solidFill>
                  <a:srgbClr val="1B1F3B"/>
                </a:solidFill>
                <a:latin typeface="Cambria" pitchFamily="34" charset="0"/>
                <a:ea typeface="Cambria" pitchFamily="34" charset="-122"/>
                <a:cs typeface="Cambria" pitchFamily="34" charset="-120"/>
              </a:rPr>
              <a:t>Home Page</a:t>
            </a:r>
            <a:endParaRPr lang="en-US" sz="1250" dirty="0"/>
          </a:p>
        </p:txBody>
      </p:sp>
      <p:sp>
        <p:nvSpPr>
          <p:cNvPr id="8" name="Text 5"/>
          <p:cNvSpPr/>
          <p:nvPr/>
        </p:nvSpPr>
        <p:spPr>
          <a:xfrm>
            <a:off x="685800" y="2697480"/>
            <a:ext cx="2395728" cy="548640"/>
          </a:xfrm>
          <a:prstGeom prst="rect">
            <a:avLst/>
          </a:prstGeom>
          <a:noFill/>
          <a:ln/>
        </p:spPr>
        <p:txBody>
          <a:bodyPr wrap="square" rtlCol="0" anchor="t"/>
          <a:lstStyle/>
          <a:p>
            <a:pPr marL="0" indent="0" algn="ctr">
              <a:buNone/>
            </a:pPr>
            <a:r>
              <a:rPr lang="en-US" sz="950" dirty="0">
                <a:solidFill>
                  <a:srgbClr val="6E7488"/>
                </a:solidFill>
                <a:latin typeface="Calibri" pitchFamily="34" charset="0"/>
                <a:ea typeface="Calibri" pitchFamily="34" charset="-122"/>
                <a:cs typeface="Calibri" pitchFamily="34" charset="-120"/>
              </a:rPr>
              <a:t>Landing page introducing the system</a:t>
            </a:r>
            <a:endParaRPr lang="en-US" sz="950" dirty="0"/>
          </a:p>
        </p:txBody>
      </p:sp>
      <p:sp>
        <p:nvSpPr>
          <p:cNvPr id="9" name="Shape 6"/>
          <p:cNvSpPr/>
          <p:nvPr/>
        </p:nvSpPr>
        <p:spPr>
          <a:xfrm>
            <a:off x="3355848" y="1463040"/>
            <a:ext cx="2670048" cy="1874520"/>
          </a:xfrm>
          <a:prstGeom prst="roundRect">
            <a:avLst>
              <a:gd name="adj" fmla="val 5854"/>
            </a:avLst>
          </a:prstGeom>
          <a:solidFill>
            <a:srgbClr val="FFFFFF"/>
          </a:solidFill>
          <a:ln/>
          <a:effectLst>
            <a:outerShdw blurRad="63500" dist="25400" dir="5400000" algn="bl" rotWithShape="0">
              <a:srgbClr val="1B1F3B">
                <a:alpha val="10000"/>
              </a:srgbClr>
            </a:outerShdw>
          </a:effectLst>
        </p:spPr>
      </p:sp>
      <p:sp>
        <p:nvSpPr>
          <p:cNvPr id="10" name="Shape 7"/>
          <p:cNvSpPr/>
          <p:nvPr/>
        </p:nvSpPr>
        <p:spPr>
          <a:xfrm>
            <a:off x="4407408" y="1664208"/>
            <a:ext cx="566928" cy="566928"/>
          </a:xfrm>
          <a:prstGeom prst="ellipse">
            <a:avLst/>
          </a:prstGeom>
          <a:solidFill>
            <a:srgbClr val="2F5CFF"/>
          </a:solidFill>
          <a:ln/>
        </p:spPr>
      </p:sp>
      <p:pic>
        <p:nvPicPr>
          <p:cNvPr id="11" name="Image 1" descr="preencoded.png"/>
          <p:cNvPicPr>
            <a:picLocks noChangeAspect="1"/>
          </p:cNvPicPr>
          <p:nvPr/>
        </p:nvPicPr>
        <p:blipFill>
          <a:blip r:embed="rId4"/>
          <a:stretch>
            <a:fillRect/>
          </a:stretch>
        </p:blipFill>
        <p:spPr>
          <a:xfrm>
            <a:off x="4554809" y="1811609"/>
            <a:ext cx="272125" cy="272125"/>
          </a:xfrm>
          <a:prstGeom prst="rect">
            <a:avLst/>
          </a:prstGeom>
        </p:spPr>
      </p:pic>
      <p:sp>
        <p:nvSpPr>
          <p:cNvPr id="12" name="Text 8"/>
          <p:cNvSpPr/>
          <p:nvPr/>
        </p:nvSpPr>
        <p:spPr>
          <a:xfrm>
            <a:off x="3447288" y="2377440"/>
            <a:ext cx="2487168" cy="320040"/>
          </a:xfrm>
          <a:prstGeom prst="rect">
            <a:avLst/>
          </a:prstGeom>
          <a:noFill/>
          <a:ln/>
        </p:spPr>
        <p:txBody>
          <a:bodyPr wrap="square" rtlCol="0" anchor="ctr"/>
          <a:lstStyle/>
          <a:p>
            <a:pPr marL="0" indent="0" algn="ctr">
              <a:buNone/>
            </a:pPr>
            <a:r>
              <a:rPr lang="en-US" sz="1250" b="1" dirty="0">
                <a:solidFill>
                  <a:srgbClr val="1B1F3B"/>
                </a:solidFill>
                <a:latin typeface="Cambria" pitchFamily="34" charset="0"/>
                <a:ea typeface="Cambria" pitchFamily="34" charset="-122"/>
                <a:cs typeface="Cambria" pitchFamily="34" charset="-120"/>
              </a:rPr>
              <a:t>Login / Register</a:t>
            </a:r>
            <a:endParaRPr lang="en-US" sz="1250" dirty="0"/>
          </a:p>
        </p:txBody>
      </p:sp>
      <p:sp>
        <p:nvSpPr>
          <p:cNvPr id="13" name="Text 9"/>
          <p:cNvSpPr/>
          <p:nvPr/>
        </p:nvSpPr>
        <p:spPr>
          <a:xfrm>
            <a:off x="3493008" y="2697480"/>
            <a:ext cx="2395728" cy="548640"/>
          </a:xfrm>
          <a:prstGeom prst="rect">
            <a:avLst/>
          </a:prstGeom>
          <a:noFill/>
          <a:ln/>
        </p:spPr>
        <p:txBody>
          <a:bodyPr wrap="square" rtlCol="0" anchor="t"/>
          <a:lstStyle/>
          <a:p>
            <a:pPr marL="0" indent="0" algn="ctr">
              <a:buNone/>
            </a:pPr>
            <a:r>
              <a:rPr lang="en-US" sz="950" dirty="0">
                <a:solidFill>
                  <a:srgbClr val="6E7488"/>
                </a:solidFill>
                <a:latin typeface="Calibri" pitchFamily="34" charset="0"/>
                <a:ea typeface="Calibri" pitchFamily="34" charset="-122"/>
                <a:cs typeface="Calibri" pitchFamily="34" charset="-120"/>
              </a:rPr>
              <a:t>Secure authentication for users</a:t>
            </a:r>
            <a:endParaRPr lang="en-US" sz="950" dirty="0"/>
          </a:p>
        </p:txBody>
      </p:sp>
      <p:sp>
        <p:nvSpPr>
          <p:cNvPr id="14" name="Shape 10"/>
          <p:cNvSpPr/>
          <p:nvPr/>
        </p:nvSpPr>
        <p:spPr>
          <a:xfrm>
            <a:off x="6163056" y="1463040"/>
            <a:ext cx="2670048" cy="1874520"/>
          </a:xfrm>
          <a:prstGeom prst="roundRect">
            <a:avLst>
              <a:gd name="adj" fmla="val 5854"/>
            </a:avLst>
          </a:prstGeom>
          <a:solidFill>
            <a:srgbClr val="FFFFFF"/>
          </a:solidFill>
          <a:ln/>
          <a:effectLst>
            <a:outerShdw blurRad="63500" dist="25400" dir="5400000" algn="bl" rotWithShape="0">
              <a:srgbClr val="1B1F3B">
                <a:alpha val="10000"/>
              </a:srgbClr>
            </a:outerShdw>
          </a:effectLst>
        </p:spPr>
      </p:sp>
      <p:sp>
        <p:nvSpPr>
          <p:cNvPr id="15" name="Shape 11"/>
          <p:cNvSpPr/>
          <p:nvPr/>
        </p:nvSpPr>
        <p:spPr>
          <a:xfrm>
            <a:off x="7214616" y="1664208"/>
            <a:ext cx="566928" cy="566928"/>
          </a:xfrm>
          <a:prstGeom prst="ellipse">
            <a:avLst/>
          </a:prstGeom>
          <a:solidFill>
            <a:srgbClr val="6C3CE9"/>
          </a:solidFill>
          <a:ln/>
        </p:spPr>
      </p:sp>
      <p:pic>
        <p:nvPicPr>
          <p:cNvPr id="16" name="Image 2" descr="preencoded.png"/>
          <p:cNvPicPr>
            <a:picLocks noChangeAspect="1"/>
          </p:cNvPicPr>
          <p:nvPr/>
        </p:nvPicPr>
        <p:blipFill>
          <a:blip r:embed="rId5"/>
          <a:stretch>
            <a:fillRect/>
          </a:stretch>
        </p:blipFill>
        <p:spPr>
          <a:xfrm>
            <a:off x="7362017" y="1811609"/>
            <a:ext cx="272125" cy="272125"/>
          </a:xfrm>
          <a:prstGeom prst="rect">
            <a:avLst/>
          </a:prstGeom>
        </p:spPr>
      </p:pic>
      <p:sp>
        <p:nvSpPr>
          <p:cNvPr id="17" name="Text 12"/>
          <p:cNvSpPr/>
          <p:nvPr/>
        </p:nvSpPr>
        <p:spPr>
          <a:xfrm>
            <a:off x="6254496" y="2377440"/>
            <a:ext cx="2487168" cy="320040"/>
          </a:xfrm>
          <a:prstGeom prst="rect">
            <a:avLst/>
          </a:prstGeom>
          <a:noFill/>
          <a:ln/>
        </p:spPr>
        <p:txBody>
          <a:bodyPr wrap="square" rtlCol="0" anchor="ctr"/>
          <a:lstStyle/>
          <a:p>
            <a:pPr marL="0" indent="0" algn="ctr">
              <a:buNone/>
            </a:pPr>
            <a:r>
              <a:rPr lang="en-US" sz="1250" b="1" dirty="0">
                <a:solidFill>
                  <a:srgbClr val="1B1F3B"/>
                </a:solidFill>
                <a:latin typeface="Cambria" pitchFamily="34" charset="0"/>
                <a:ea typeface="Cambria" pitchFamily="34" charset="-122"/>
                <a:cs typeface="Cambria" pitchFamily="34" charset="-120"/>
              </a:rPr>
              <a:t>Prediction Form</a:t>
            </a:r>
            <a:endParaRPr lang="en-US" sz="1250" dirty="0"/>
          </a:p>
        </p:txBody>
      </p:sp>
      <p:sp>
        <p:nvSpPr>
          <p:cNvPr id="18" name="Text 13"/>
          <p:cNvSpPr/>
          <p:nvPr/>
        </p:nvSpPr>
        <p:spPr>
          <a:xfrm>
            <a:off x="6300216" y="2697480"/>
            <a:ext cx="2395728" cy="548640"/>
          </a:xfrm>
          <a:prstGeom prst="rect">
            <a:avLst/>
          </a:prstGeom>
          <a:noFill/>
          <a:ln/>
        </p:spPr>
        <p:txBody>
          <a:bodyPr wrap="square" rtlCol="0" anchor="t"/>
          <a:lstStyle/>
          <a:p>
            <a:pPr marL="0" indent="0" algn="ctr">
              <a:buNone/>
            </a:pPr>
            <a:r>
              <a:rPr lang="en-US" sz="950" dirty="0">
                <a:solidFill>
                  <a:srgbClr val="6E7488"/>
                </a:solidFill>
                <a:latin typeface="Calibri" pitchFamily="34" charset="0"/>
                <a:ea typeface="Calibri" pitchFamily="34" charset="-122"/>
                <a:cs typeface="Calibri" pitchFamily="34" charset="-120"/>
              </a:rPr>
              <a:t>Input student details for scoring</a:t>
            </a:r>
            <a:endParaRPr lang="en-US" sz="950" dirty="0"/>
          </a:p>
        </p:txBody>
      </p:sp>
      <p:sp>
        <p:nvSpPr>
          <p:cNvPr id="19" name="Shape 14"/>
          <p:cNvSpPr/>
          <p:nvPr/>
        </p:nvSpPr>
        <p:spPr>
          <a:xfrm>
            <a:off x="8970264" y="1463040"/>
            <a:ext cx="2670048" cy="1874520"/>
          </a:xfrm>
          <a:prstGeom prst="roundRect">
            <a:avLst>
              <a:gd name="adj" fmla="val 5854"/>
            </a:avLst>
          </a:prstGeom>
          <a:solidFill>
            <a:srgbClr val="FFFFFF"/>
          </a:solidFill>
          <a:ln/>
          <a:effectLst>
            <a:outerShdw blurRad="63500" dist="25400" dir="5400000" algn="bl" rotWithShape="0">
              <a:srgbClr val="1B1F3B">
                <a:alpha val="10000"/>
              </a:srgbClr>
            </a:outerShdw>
          </a:effectLst>
        </p:spPr>
      </p:sp>
      <p:sp>
        <p:nvSpPr>
          <p:cNvPr id="20" name="Shape 15"/>
          <p:cNvSpPr/>
          <p:nvPr/>
        </p:nvSpPr>
        <p:spPr>
          <a:xfrm>
            <a:off x="10021824" y="1664208"/>
            <a:ext cx="566928" cy="566928"/>
          </a:xfrm>
          <a:prstGeom prst="ellipse">
            <a:avLst/>
          </a:prstGeom>
          <a:solidFill>
            <a:srgbClr val="2F5CFF"/>
          </a:solidFill>
          <a:ln/>
        </p:spPr>
      </p:sp>
      <p:pic>
        <p:nvPicPr>
          <p:cNvPr id="21" name="Image 3" descr="preencoded.png"/>
          <p:cNvPicPr>
            <a:picLocks noChangeAspect="1"/>
          </p:cNvPicPr>
          <p:nvPr/>
        </p:nvPicPr>
        <p:blipFill>
          <a:blip r:embed="rId6"/>
          <a:stretch>
            <a:fillRect/>
          </a:stretch>
        </p:blipFill>
        <p:spPr>
          <a:xfrm>
            <a:off x="10169225" y="1811609"/>
            <a:ext cx="272125" cy="272125"/>
          </a:xfrm>
          <a:prstGeom prst="rect">
            <a:avLst/>
          </a:prstGeom>
        </p:spPr>
      </p:pic>
      <p:sp>
        <p:nvSpPr>
          <p:cNvPr id="22" name="Text 16"/>
          <p:cNvSpPr/>
          <p:nvPr/>
        </p:nvSpPr>
        <p:spPr>
          <a:xfrm>
            <a:off x="9061704" y="2377440"/>
            <a:ext cx="2487168" cy="320040"/>
          </a:xfrm>
          <a:prstGeom prst="rect">
            <a:avLst/>
          </a:prstGeom>
          <a:noFill/>
          <a:ln/>
        </p:spPr>
        <p:txBody>
          <a:bodyPr wrap="square" rtlCol="0" anchor="ctr"/>
          <a:lstStyle/>
          <a:p>
            <a:pPr marL="0" indent="0" algn="ctr">
              <a:buNone/>
            </a:pPr>
            <a:r>
              <a:rPr lang="en-US" sz="1250" b="1" dirty="0">
                <a:solidFill>
                  <a:srgbClr val="1B1F3B"/>
                </a:solidFill>
                <a:latin typeface="Cambria" pitchFamily="34" charset="0"/>
                <a:ea typeface="Cambria" pitchFamily="34" charset="-122"/>
                <a:cs typeface="Cambria" pitchFamily="34" charset="-120"/>
              </a:rPr>
              <a:t>Dashboard</a:t>
            </a:r>
            <a:endParaRPr lang="en-US" sz="1250" dirty="0"/>
          </a:p>
        </p:txBody>
      </p:sp>
      <p:sp>
        <p:nvSpPr>
          <p:cNvPr id="23" name="Text 17"/>
          <p:cNvSpPr/>
          <p:nvPr/>
        </p:nvSpPr>
        <p:spPr>
          <a:xfrm>
            <a:off x="9107424" y="2697480"/>
            <a:ext cx="2395728" cy="548640"/>
          </a:xfrm>
          <a:prstGeom prst="rect">
            <a:avLst/>
          </a:prstGeom>
          <a:noFill/>
          <a:ln/>
        </p:spPr>
        <p:txBody>
          <a:bodyPr wrap="square" rtlCol="0" anchor="t"/>
          <a:lstStyle/>
          <a:p>
            <a:pPr marL="0" indent="0" algn="ctr">
              <a:buNone/>
            </a:pPr>
            <a:r>
              <a:rPr lang="en-US" sz="950" dirty="0">
                <a:solidFill>
                  <a:srgbClr val="6E7488"/>
                </a:solidFill>
                <a:latin typeface="Calibri" pitchFamily="34" charset="0"/>
                <a:ea typeface="Calibri" pitchFamily="34" charset="-122"/>
                <a:cs typeface="Calibri" pitchFamily="34" charset="-120"/>
              </a:rPr>
              <a:t>Personal performance overview</a:t>
            </a:r>
            <a:endParaRPr lang="en-US" sz="950" dirty="0"/>
          </a:p>
        </p:txBody>
      </p:sp>
      <p:sp>
        <p:nvSpPr>
          <p:cNvPr id="24" name="Shape 18"/>
          <p:cNvSpPr/>
          <p:nvPr/>
        </p:nvSpPr>
        <p:spPr>
          <a:xfrm>
            <a:off x="548640" y="3474720"/>
            <a:ext cx="2670048" cy="1874520"/>
          </a:xfrm>
          <a:prstGeom prst="roundRect">
            <a:avLst>
              <a:gd name="adj" fmla="val 5854"/>
            </a:avLst>
          </a:prstGeom>
          <a:solidFill>
            <a:srgbClr val="FFFFFF"/>
          </a:solidFill>
          <a:ln/>
          <a:effectLst>
            <a:outerShdw blurRad="63500" dist="25400" dir="5400000" algn="bl" rotWithShape="0">
              <a:srgbClr val="1B1F3B">
                <a:alpha val="10000"/>
              </a:srgbClr>
            </a:outerShdw>
          </a:effectLst>
        </p:spPr>
      </p:sp>
      <p:sp>
        <p:nvSpPr>
          <p:cNvPr id="25" name="Shape 19"/>
          <p:cNvSpPr/>
          <p:nvPr/>
        </p:nvSpPr>
        <p:spPr>
          <a:xfrm>
            <a:off x="1600200" y="3675888"/>
            <a:ext cx="566928" cy="566928"/>
          </a:xfrm>
          <a:prstGeom prst="ellipse">
            <a:avLst/>
          </a:prstGeom>
          <a:solidFill>
            <a:srgbClr val="6C3CE9"/>
          </a:solidFill>
          <a:ln/>
        </p:spPr>
      </p:sp>
      <p:pic>
        <p:nvPicPr>
          <p:cNvPr id="26" name="Image 4" descr="preencoded.png"/>
          <p:cNvPicPr>
            <a:picLocks noChangeAspect="1"/>
          </p:cNvPicPr>
          <p:nvPr/>
        </p:nvPicPr>
        <p:blipFill>
          <a:blip r:embed="rId7"/>
          <a:stretch>
            <a:fillRect/>
          </a:stretch>
        </p:blipFill>
        <p:spPr>
          <a:xfrm>
            <a:off x="1747601" y="3823289"/>
            <a:ext cx="272125" cy="272125"/>
          </a:xfrm>
          <a:prstGeom prst="rect">
            <a:avLst/>
          </a:prstGeom>
        </p:spPr>
      </p:pic>
      <p:sp>
        <p:nvSpPr>
          <p:cNvPr id="27" name="Text 20"/>
          <p:cNvSpPr/>
          <p:nvPr/>
        </p:nvSpPr>
        <p:spPr>
          <a:xfrm>
            <a:off x="640080" y="4389120"/>
            <a:ext cx="2487168" cy="320040"/>
          </a:xfrm>
          <a:prstGeom prst="rect">
            <a:avLst/>
          </a:prstGeom>
          <a:noFill/>
          <a:ln/>
        </p:spPr>
        <p:txBody>
          <a:bodyPr wrap="square" rtlCol="0" anchor="ctr"/>
          <a:lstStyle/>
          <a:p>
            <a:pPr marL="0" indent="0" algn="ctr">
              <a:buNone/>
            </a:pPr>
            <a:r>
              <a:rPr lang="en-US" sz="1250" b="1" dirty="0">
                <a:solidFill>
                  <a:srgbClr val="1B1F3B"/>
                </a:solidFill>
                <a:latin typeface="Cambria" pitchFamily="34" charset="0"/>
                <a:ea typeface="Cambria" pitchFamily="34" charset="-122"/>
                <a:cs typeface="Cambria" pitchFamily="34" charset="-120"/>
              </a:rPr>
              <a:t>Analytics</a:t>
            </a:r>
            <a:endParaRPr lang="en-US" sz="1250" dirty="0"/>
          </a:p>
        </p:txBody>
      </p:sp>
      <p:sp>
        <p:nvSpPr>
          <p:cNvPr id="28" name="Text 21"/>
          <p:cNvSpPr/>
          <p:nvPr/>
        </p:nvSpPr>
        <p:spPr>
          <a:xfrm>
            <a:off x="685800" y="4709160"/>
            <a:ext cx="2395728" cy="548640"/>
          </a:xfrm>
          <a:prstGeom prst="rect">
            <a:avLst/>
          </a:prstGeom>
          <a:noFill/>
          <a:ln/>
        </p:spPr>
        <p:txBody>
          <a:bodyPr wrap="square" rtlCol="0" anchor="t"/>
          <a:lstStyle/>
          <a:p>
            <a:pPr marL="0" indent="0" algn="ctr">
              <a:buNone/>
            </a:pPr>
            <a:r>
              <a:rPr lang="en-US" sz="950" dirty="0">
                <a:solidFill>
                  <a:srgbClr val="6E7488"/>
                </a:solidFill>
                <a:latin typeface="Calibri" pitchFamily="34" charset="0"/>
                <a:ea typeface="Calibri" pitchFamily="34" charset="-122"/>
                <a:cs typeface="Calibri" pitchFamily="34" charset="-120"/>
              </a:rPr>
              <a:t>Deeper trend &amp; distribution insights</a:t>
            </a:r>
            <a:endParaRPr lang="en-US" sz="950" dirty="0"/>
          </a:p>
        </p:txBody>
      </p:sp>
      <p:sp>
        <p:nvSpPr>
          <p:cNvPr id="29" name="Shape 22"/>
          <p:cNvSpPr/>
          <p:nvPr/>
        </p:nvSpPr>
        <p:spPr>
          <a:xfrm>
            <a:off x="3355848" y="3474720"/>
            <a:ext cx="2670048" cy="1874520"/>
          </a:xfrm>
          <a:prstGeom prst="roundRect">
            <a:avLst>
              <a:gd name="adj" fmla="val 5854"/>
            </a:avLst>
          </a:prstGeom>
          <a:solidFill>
            <a:srgbClr val="FFFFFF"/>
          </a:solidFill>
          <a:ln/>
          <a:effectLst>
            <a:outerShdw blurRad="63500" dist="25400" dir="5400000" algn="bl" rotWithShape="0">
              <a:srgbClr val="1B1F3B">
                <a:alpha val="10000"/>
              </a:srgbClr>
            </a:outerShdw>
          </a:effectLst>
        </p:spPr>
      </p:sp>
      <p:sp>
        <p:nvSpPr>
          <p:cNvPr id="30" name="Shape 23"/>
          <p:cNvSpPr/>
          <p:nvPr/>
        </p:nvSpPr>
        <p:spPr>
          <a:xfrm>
            <a:off x="4407408" y="3675888"/>
            <a:ext cx="566928" cy="566928"/>
          </a:xfrm>
          <a:prstGeom prst="ellipse">
            <a:avLst/>
          </a:prstGeom>
          <a:solidFill>
            <a:srgbClr val="2F5CFF"/>
          </a:solidFill>
          <a:ln/>
        </p:spPr>
      </p:sp>
      <p:pic>
        <p:nvPicPr>
          <p:cNvPr id="31" name="Image 5" descr="preencoded.png"/>
          <p:cNvPicPr>
            <a:picLocks noChangeAspect="1"/>
          </p:cNvPicPr>
          <p:nvPr/>
        </p:nvPicPr>
        <p:blipFill>
          <a:blip r:embed="rId8"/>
          <a:stretch>
            <a:fillRect/>
          </a:stretch>
        </p:blipFill>
        <p:spPr>
          <a:xfrm>
            <a:off x="4554809" y="3823289"/>
            <a:ext cx="272125" cy="272125"/>
          </a:xfrm>
          <a:prstGeom prst="rect">
            <a:avLst/>
          </a:prstGeom>
        </p:spPr>
      </p:pic>
      <p:sp>
        <p:nvSpPr>
          <p:cNvPr id="32" name="Text 24"/>
          <p:cNvSpPr/>
          <p:nvPr/>
        </p:nvSpPr>
        <p:spPr>
          <a:xfrm>
            <a:off x="3447288" y="4389120"/>
            <a:ext cx="2487168" cy="320040"/>
          </a:xfrm>
          <a:prstGeom prst="rect">
            <a:avLst/>
          </a:prstGeom>
          <a:noFill/>
          <a:ln/>
        </p:spPr>
        <p:txBody>
          <a:bodyPr wrap="square" rtlCol="0" anchor="ctr"/>
          <a:lstStyle/>
          <a:p>
            <a:pPr marL="0" indent="0" algn="ctr">
              <a:buNone/>
            </a:pPr>
            <a:r>
              <a:rPr lang="en-US" sz="1250" b="1" dirty="0">
                <a:solidFill>
                  <a:srgbClr val="1B1F3B"/>
                </a:solidFill>
                <a:latin typeface="Cambria" pitchFamily="34" charset="0"/>
                <a:ea typeface="Cambria" pitchFamily="34" charset="-122"/>
                <a:cs typeface="Cambria" pitchFamily="34" charset="-120"/>
              </a:rPr>
              <a:t>Reports &amp; Export</a:t>
            </a:r>
            <a:endParaRPr lang="en-US" sz="1250" dirty="0"/>
          </a:p>
        </p:txBody>
      </p:sp>
      <p:sp>
        <p:nvSpPr>
          <p:cNvPr id="33" name="Text 25"/>
          <p:cNvSpPr/>
          <p:nvPr/>
        </p:nvSpPr>
        <p:spPr>
          <a:xfrm>
            <a:off x="3493008" y="4709160"/>
            <a:ext cx="2395728" cy="548640"/>
          </a:xfrm>
          <a:prstGeom prst="rect">
            <a:avLst/>
          </a:prstGeom>
          <a:noFill/>
          <a:ln/>
        </p:spPr>
        <p:txBody>
          <a:bodyPr wrap="square" rtlCol="0" anchor="t"/>
          <a:lstStyle/>
          <a:p>
            <a:pPr marL="0" indent="0" algn="ctr">
              <a:buNone/>
            </a:pPr>
            <a:r>
              <a:rPr lang="en-US" sz="950" dirty="0">
                <a:solidFill>
                  <a:srgbClr val="6E7488"/>
                </a:solidFill>
                <a:latin typeface="Calibri" pitchFamily="34" charset="0"/>
                <a:ea typeface="Calibri" pitchFamily="34" charset="-122"/>
                <a:cs typeface="Calibri" pitchFamily="34" charset="-120"/>
              </a:rPr>
              <a:t>Downloadable CSV reports</a:t>
            </a:r>
            <a:endParaRPr lang="en-US" sz="950" dirty="0"/>
          </a:p>
        </p:txBody>
      </p:sp>
      <p:sp>
        <p:nvSpPr>
          <p:cNvPr id="34" name="Shape 26"/>
          <p:cNvSpPr/>
          <p:nvPr/>
        </p:nvSpPr>
        <p:spPr>
          <a:xfrm>
            <a:off x="6163056" y="3474720"/>
            <a:ext cx="2670048" cy="1874520"/>
          </a:xfrm>
          <a:prstGeom prst="roundRect">
            <a:avLst>
              <a:gd name="adj" fmla="val 5854"/>
            </a:avLst>
          </a:prstGeom>
          <a:solidFill>
            <a:srgbClr val="FFFFFF"/>
          </a:solidFill>
          <a:ln/>
          <a:effectLst>
            <a:outerShdw blurRad="63500" dist="25400" dir="5400000" algn="bl" rotWithShape="0">
              <a:srgbClr val="1B1F3B">
                <a:alpha val="10000"/>
              </a:srgbClr>
            </a:outerShdw>
          </a:effectLst>
        </p:spPr>
      </p:sp>
      <p:sp>
        <p:nvSpPr>
          <p:cNvPr id="35" name="Shape 27"/>
          <p:cNvSpPr/>
          <p:nvPr/>
        </p:nvSpPr>
        <p:spPr>
          <a:xfrm>
            <a:off x="7214616" y="3675888"/>
            <a:ext cx="566928" cy="566928"/>
          </a:xfrm>
          <a:prstGeom prst="ellipse">
            <a:avLst/>
          </a:prstGeom>
          <a:solidFill>
            <a:srgbClr val="6C3CE9"/>
          </a:solidFill>
          <a:ln/>
        </p:spPr>
      </p:sp>
      <p:pic>
        <p:nvPicPr>
          <p:cNvPr id="36" name="Image 6" descr="preencoded.png"/>
          <p:cNvPicPr>
            <a:picLocks noChangeAspect="1"/>
          </p:cNvPicPr>
          <p:nvPr/>
        </p:nvPicPr>
        <p:blipFill>
          <a:blip r:embed="rId9"/>
          <a:stretch>
            <a:fillRect/>
          </a:stretch>
        </p:blipFill>
        <p:spPr>
          <a:xfrm>
            <a:off x="7362017" y="3823289"/>
            <a:ext cx="272125" cy="272125"/>
          </a:xfrm>
          <a:prstGeom prst="rect">
            <a:avLst/>
          </a:prstGeom>
        </p:spPr>
      </p:pic>
      <p:sp>
        <p:nvSpPr>
          <p:cNvPr id="37" name="Text 28"/>
          <p:cNvSpPr/>
          <p:nvPr/>
        </p:nvSpPr>
        <p:spPr>
          <a:xfrm>
            <a:off x="6254496" y="4389120"/>
            <a:ext cx="2487168" cy="320040"/>
          </a:xfrm>
          <a:prstGeom prst="rect">
            <a:avLst/>
          </a:prstGeom>
          <a:noFill/>
          <a:ln/>
        </p:spPr>
        <p:txBody>
          <a:bodyPr wrap="square" rtlCol="0" anchor="ctr"/>
          <a:lstStyle/>
          <a:p>
            <a:pPr marL="0" indent="0" algn="ctr">
              <a:buNone/>
            </a:pPr>
            <a:r>
              <a:rPr lang="en-US" sz="1250" b="1" dirty="0">
                <a:solidFill>
                  <a:srgbClr val="1B1F3B"/>
                </a:solidFill>
                <a:latin typeface="Cambria" pitchFamily="34" charset="0"/>
                <a:ea typeface="Cambria" pitchFamily="34" charset="-122"/>
                <a:cs typeface="Cambria" pitchFamily="34" charset="-120"/>
              </a:rPr>
              <a:t>Student Management</a:t>
            </a:r>
            <a:endParaRPr lang="en-US" sz="1250" dirty="0"/>
          </a:p>
        </p:txBody>
      </p:sp>
      <p:sp>
        <p:nvSpPr>
          <p:cNvPr id="38" name="Text 29"/>
          <p:cNvSpPr/>
          <p:nvPr/>
        </p:nvSpPr>
        <p:spPr>
          <a:xfrm>
            <a:off x="6300216" y="4709160"/>
            <a:ext cx="2395728" cy="548640"/>
          </a:xfrm>
          <a:prstGeom prst="rect">
            <a:avLst/>
          </a:prstGeom>
          <a:noFill/>
          <a:ln/>
        </p:spPr>
        <p:txBody>
          <a:bodyPr wrap="square" rtlCol="0" anchor="t"/>
          <a:lstStyle/>
          <a:p>
            <a:pPr marL="0" indent="0" algn="ctr">
              <a:buNone/>
            </a:pPr>
            <a:r>
              <a:rPr lang="en-US" sz="950" dirty="0">
                <a:solidFill>
                  <a:srgbClr val="6E7488"/>
                </a:solidFill>
                <a:latin typeface="Calibri" pitchFamily="34" charset="0"/>
                <a:ea typeface="Calibri" pitchFamily="34" charset="-122"/>
                <a:cs typeface="Calibri" pitchFamily="34" charset="-120"/>
              </a:rPr>
              <a:t>Admin view across all students</a:t>
            </a:r>
            <a:endParaRPr lang="en-US" sz="950" dirty="0"/>
          </a:p>
        </p:txBody>
      </p:sp>
      <p:sp>
        <p:nvSpPr>
          <p:cNvPr id="39" name="Shape 30"/>
          <p:cNvSpPr/>
          <p:nvPr/>
        </p:nvSpPr>
        <p:spPr>
          <a:xfrm>
            <a:off x="8970264" y="3474720"/>
            <a:ext cx="2670048" cy="1874520"/>
          </a:xfrm>
          <a:prstGeom prst="roundRect">
            <a:avLst>
              <a:gd name="adj" fmla="val 5854"/>
            </a:avLst>
          </a:prstGeom>
          <a:solidFill>
            <a:srgbClr val="FFFFFF"/>
          </a:solidFill>
          <a:ln/>
          <a:effectLst>
            <a:outerShdw blurRad="63500" dist="25400" dir="5400000" algn="bl" rotWithShape="0">
              <a:srgbClr val="1B1F3B">
                <a:alpha val="10000"/>
              </a:srgbClr>
            </a:outerShdw>
          </a:effectLst>
        </p:spPr>
      </p:sp>
      <p:sp>
        <p:nvSpPr>
          <p:cNvPr id="40" name="Shape 31"/>
          <p:cNvSpPr/>
          <p:nvPr/>
        </p:nvSpPr>
        <p:spPr>
          <a:xfrm>
            <a:off x="10021824" y="3675888"/>
            <a:ext cx="566928" cy="566928"/>
          </a:xfrm>
          <a:prstGeom prst="ellipse">
            <a:avLst/>
          </a:prstGeom>
          <a:solidFill>
            <a:srgbClr val="2F5CFF"/>
          </a:solidFill>
          <a:ln/>
        </p:spPr>
      </p:sp>
      <p:pic>
        <p:nvPicPr>
          <p:cNvPr id="41" name="Image 7" descr="preencoded.png"/>
          <p:cNvPicPr>
            <a:picLocks noChangeAspect="1"/>
          </p:cNvPicPr>
          <p:nvPr/>
        </p:nvPicPr>
        <p:blipFill>
          <a:blip r:embed="rId10"/>
          <a:stretch>
            <a:fillRect/>
          </a:stretch>
        </p:blipFill>
        <p:spPr>
          <a:xfrm>
            <a:off x="10169225" y="3823289"/>
            <a:ext cx="272125" cy="272125"/>
          </a:xfrm>
          <a:prstGeom prst="rect">
            <a:avLst/>
          </a:prstGeom>
        </p:spPr>
      </p:pic>
      <p:sp>
        <p:nvSpPr>
          <p:cNvPr id="42" name="Text 32"/>
          <p:cNvSpPr/>
          <p:nvPr/>
        </p:nvSpPr>
        <p:spPr>
          <a:xfrm>
            <a:off x="9061704" y="4389120"/>
            <a:ext cx="2487168" cy="320040"/>
          </a:xfrm>
          <a:prstGeom prst="rect">
            <a:avLst/>
          </a:prstGeom>
          <a:noFill/>
          <a:ln/>
        </p:spPr>
        <p:txBody>
          <a:bodyPr wrap="square" rtlCol="0" anchor="ctr"/>
          <a:lstStyle/>
          <a:p>
            <a:pPr marL="0" indent="0" algn="ctr">
              <a:buNone/>
            </a:pPr>
            <a:r>
              <a:rPr lang="en-US" sz="1250" b="1" dirty="0">
                <a:solidFill>
                  <a:srgbClr val="1B1F3B"/>
                </a:solidFill>
                <a:latin typeface="Cambria" pitchFamily="34" charset="0"/>
                <a:ea typeface="Cambria" pitchFamily="34" charset="-122"/>
                <a:cs typeface="Cambria" pitchFamily="34" charset="-120"/>
              </a:rPr>
              <a:t>Prediction Results</a:t>
            </a:r>
            <a:endParaRPr lang="en-US" sz="1250" dirty="0"/>
          </a:p>
        </p:txBody>
      </p:sp>
      <p:sp>
        <p:nvSpPr>
          <p:cNvPr id="43" name="Text 33"/>
          <p:cNvSpPr/>
          <p:nvPr/>
        </p:nvSpPr>
        <p:spPr>
          <a:xfrm>
            <a:off x="9107424" y="4709160"/>
            <a:ext cx="2395728" cy="548640"/>
          </a:xfrm>
          <a:prstGeom prst="rect">
            <a:avLst/>
          </a:prstGeom>
          <a:noFill/>
          <a:ln/>
        </p:spPr>
        <p:txBody>
          <a:bodyPr wrap="square" rtlCol="0" anchor="t"/>
          <a:lstStyle/>
          <a:p>
            <a:pPr marL="0" indent="0" algn="ctr">
              <a:buNone/>
            </a:pPr>
            <a:r>
              <a:rPr lang="en-US" sz="950" dirty="0">
                <a:solidFill>
                  <a:srgbClr val="6E7488"/>
                </a:solidFill>
                <a:latin typeface="Calibri" pitchFamily="34" charset="0"/>
                <a:ea typeface="Calibri" pitchFamily="34" charset="-122"/>
                <a:cs typeface="Calibri" pitchFamily="34" charset="-120"/>
              </a:rPr>
              <a:t>Category, confidence &amp; recommendations</a:t>
            </a:r>
            <a:endParaRPr lang="en-US" sz="950" dirty="0"/>
          </a:p>
        </p:txBody>
      </p:sp>
      <p:sp>
        <p:nvSpPr>
          <p:cNvPr id="44" name="Text 34"/>
          <p:cNvSpPr/>
          <p:nvPr/>
        </p:nvSpPr>
        <p:spPr>
          <a:xfrm>
            <a:off x="548640" y="5532120"/>
            <a:ext cx="11064240" cy="365760"/>
          </a:xfrm>
          <a:prstGeom prst="rect">
            <a:avLst/>
          </a:prstGeom>
          <a:noFill/>
          <a:ln/>
        </p:spPr>
        <p:txBody>
          <a:bodyPr wrap="square" rtlCol="0" anchor="ctr"/>
          <a:lstStyle/>
          <a:p>
            <a:pPr marL="0" indent="0" algn="ctr">
              <a:buNone/>
            </a:pPr>
            <a:r>
              <a:rPr lang="en-US" sz="1200" b="1" dirty="0">
                <a:solidFill>
                  <a:srgbClr val="6C3CE9"/>
                </a:solidFill>
                <a:latin typeface="Calibri" pitchFamily="34" charset="0"/>
                <a:ea typeface="Calibri" pitchFamily="34" charset="-122"/>
                <a:cs typeface="Calibri" pitchFamily="34" charset="-120"/>
              </a:rPr>
              <a:t>Highlights:  Real-time Prediction   •   Recommendation Engine   •   Report Generation   •   History Tracking</a:t>
            </a:r>
            <a:endParaRPr lang="en-US" sz="1200" dirty="0"/>
          </a:p>
        </p:txBody>
      </p:sp>
      <p:sp>
        <p:nvSpPr>
          <p:cNvPr id="45" name="Text 35"/>
          <p:cNvSpPr/>
          <p:nvPr/>
        </p:nvSpPr>
        <p:spPr>
          <a:xfrm>
            <a:off x="11475720" y="6510528"/>
            <a:ext cx="548640" cy="274320"/>
          </a:xfrm>
          <a:prstGeom prst="rect">
            <a:avLst/>
          </a:prstGeom>
          <a:noFill/>
          <a:ln/>
        </p:spPr>
        <p:txBody>
          <a:bodyPr wrap="square" rtlCol="0" anchor="ctr"/>
          <a:lstStyle/>
          <a:p>
            <a:pPr marL="0" indent="0" algn="r">
              <a:buNone/>
            </a:pPr>
            <a:r>
              <a:rPr lang="en-US" sz="1000" dirty="0">
                <a:solidFill>
                  <a:srgbClr val="6E7488"/>
                </a:solidFill>
                <a:latin typeface="Calibri" pitchFamily="34" charset="0"/>
                <a:ea typeface="Calibri" pitchFamily="34" charset="-122"/>
                <a:cs typeface="Calibri" pitchFamily="34" charset="-120"/>
              </a:rPr>
              <a:t>09</a:t>
            </a:r>
            <a:endParaRPr lang="en-US" sz="10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6F7FD"/>
        </a:solidFill>
        <a:effectLst/>
      </p:bgPr>
    </p:bg>
    <p:spTree>
      <p:nvGrpSpPr>
        <p:cNvPr id="1" name=""/>
        <p:cNvGrpSpPr/>
        <p:nvPr/>
      </p:nvGrpSpPr>
      <p:grpSpPr>
        <a:xfrm>
          <a:off x="0" y="0"/>
          <a:ext cx="0" cy="0"/>
          <a:chOff x="0" y="0"/>
          <a:chExt cx="0" cy="0"/>
        </a:xfrm>
      </p:grpSpPr>
      <p:sp>
        <p:nvSpPr>
          <p:cNvPr id="2" name="Text 0"/>
          <p:cNvSpPr/>
          <p:nvPr/>
        </p:nvSpPr>
        <p:spPr>
          <a:xfrm>
            <a:off x="548640" y="320040"/>
            <a:ext cx="7315200" cy="320040"/>
          </a:xfrm>
          <a:prstGeom prst="rect">
            <a:avLst/>
          </a:prstGeom>
          <a:noFill/>
          <a:ln/>
        </p:spPr>
        <p:txBody>
          <a:bodyPr wrap="square" rtlCol="0" anchor="ctr"/>
          <a:lstStyle/>
          <a:p>
            <a:pPr marL="0" indent="0">
              <a:buNone/>
            </a:pPr>
            <a:r>
              <a:rPr lang="en-US" sz="1300" b="1" kern="0" spc="200" dirty="0">
                <a:solidFill>
                  <a:srgbClr val="6C3CE9"/>
                </a:solidFill>
                <a:latin typeface="Calibri" pitchFamily="34" charset="0"/>
                <a:ea typeface="Calibri" pitchFamily="34" charset="-122"/>
                <a:cs typeface="Calibri" pitchFamily="34" charset="-120"/>
              </a:rPr>
              <a:t>RESULTS</a:t>
            </a:r>
            <a:endParaRPr lang="en-US" sz="1300" dirty="0"/>
          </a:p>
        </p:txBody>
      </p:sp>
      <p:sp>
        <p:nvSpPr>
          <p:cNvPr id="3" name="Text 1"/>
          <p:cNvSpPr/>
          <p:nvPr/>
        </p:nvSpPr>
        <p:spPr>
          <a:xfrm>
            <a:off x="548640" y="621792"/>
            <a:ext cx="10515600" cy="685800"/>
          </a:xfrm>
          <a:prstGeom prst="rect">
            <a:avLst/>
          </a:prstGeom>
          <a:noFill/>
          <a:ln/>
        </p:spPr>
        <p:txBody>
          <a:bodyPr wrap="square" rtlCol="0" anchor="ctr"/>
          <a:lstStyle/>
          <a:p>
            <a:pPr marL="0" indent="0">
              <a:buNone/>
            </a:pPr>
            <a:r>
              <a:rPr lang="en-US" sz="3200" b="1" dirty="0">
                <a:solidFill>
                  <a:srgbClr val="1B1F3B"/>
                </a:solidFill>
                <a:latin typeface="Cambria" pitchFamily="34" charset="0"/>
                <a:ea typeface="Cambria" pitchFamily="34" charset="-122"/>
                <a:cs typeface="Cambria" pitchFamily="34" charset="-120"/>
              </a:rPr>
              <a:t>Results &amp; Performance</a:t>
            </a:r>
            <a:endParaRPr lang="en-US" sz="3200" dirty="0"/>
          </a:p>
        </p:txBody>
      </p:sp>
      <p:sp>
        <p:nvSpPr>
          <p:cNvPr id="4" name="Shape 2"/>
          <p:cNvSpPr/>
          <p:nvPr/>
        </p:nvSpPr>
        <p:spPr>
          <a:xfrm>
            <a:off x="548640" y="1417320"/>
            <a:ext cx="2651760" cy="1051560"/>
          </a:xfrm>
          <a:prstGeom prst="roundRect">
            <a:avLst>
              <a:gd name="adj" fmla="val 8696"/>
            </a:avLst>
          </a:prstGeom>
          <a:solidFill>
            <a:srgbClr val="6C3CE9"/>
          </a:solidFill>
          <a:ln/>
        </p:spPr>
      </p:sp>
      <p:sp>
        <p:nvSpPr>
          <p:cNvPr id="5" name="Text 3"/>
          <p:cNvSpPr/>
          <p:nvPr/>
        </p:nvSpPr>
        <p:spPr>
          <a:xfrm>
            <a:off x="548640" y="1527048"/>
            <a:ext cx="2651760" cy="502920"/>
          </a:xfrm>
          <a:prstGeom prst="rect">
            <a:avLst/>
          </a:prstGeom>
          <a:noFill/>
          <a:ln/>
        </p:spPr>
        <p:txBody>
          <a:bodyPr wrap="square" rtlCol="0" anchor="ctr"/>
          <a:lstStyle/>
          <a:p>
            <a:pPr marL="0" indent="0" algn="ctr">
              <a:buNone/>
            </a:pPr>
            <a:r>
              <a:rPr lang="en-US" sz="2600" b="1" dirty="0">
                <a:solidFill>
                  <a:srgbClr val="FFFFFF"/>
                </a:solidFill>
                <a:latin typeface="Cambria" pitchFamily="34" charset="0"/>
                <a:ea typeface="Cambria" pitchFamily="34" charset="-122"/>
                <a:cs typeface="Cambria" pitchFamily="34" charset="-120"/>
              </a:rPr>
              <a:t>92.5%</a:t>
            </a:r>
            <a:endParaRPr lang="en-US" sz="2600" dirty="0"/>
          </a:p>
        </p:txBody>
      </p:sp>
      <p:sp>
        <p:nvSpPr>
          <p:cNvPr id="6" name="Text 4"/>
          <p:cNvSpPr/>
          <p:nvPr/>
        </p:nvSpPr>
        <p:spPr>
          <a:xfrm>
            <a:off x="548640" y="2039112"/>
            <a:ext cx="2651760" cy="365760"/>
          </a:xfrm>
          <a:prstGeom prst="rect">
            <a:avLst/>
          </a:prstGeom>
          <a:noFill/>
          <a:ln/>
        </p:spPr>
        <p:txBody>
          <a:bodyPr wrap="square" rtlCol="0" anchor="ctr"/>
          <a:lstStyle/>
          <a:p>
            <a:pPr marL="0" indent="0" algn="ctr">
              <a:buNone/>
            </a:pPr>
            <a:r>
              <a:rPr lang="en-US" sz="1000" dirty="0">
                <a:solidFill>
                  <a:srgbClr val="D8DBF7"/>
                </a:solidFill>
                <a:latin typeface="Calibri" pitchFamily="34" charset="0"/>
                <a:ea typeface="Calibri" pitchFamily="34" charset="-122"/>
                <a:cs typeface="Calibri" pitchFamily="34" charset="-120"/>
              </a:rPr>
              <a:t>Best Model</a:t>
            </a:r>
            <a:endParaRPr lang="en-US" sz="1000" dirty="0"/>
          </a:p>
          <a:p>
            <a:pPr marL="0" indent="0" algn="ctr">
              <a:buNone/>
            </a:pPr>
            <a:r>
              <a:rPr lang="en-US" sz="1000" dirty="0">
                <a:solidFill>
                  <a:srgbClr val="D8DBF7"/>
                </a:solidFill>
                <a:latin typeface="Calibri" pitchFamily="34" charset="0"/>
                <a:ea typeface="Calibri" pitchFamily="34" charset="-122"/>
                <a:cs typeface="Calibri" pitchFamily="34" charset="-120"/>
              </a:rPr>
              <a:t>Accuracy</a:t>
            </a:r>
            <a:endParaRPr lang="en-US" sz="1000" dirty="0"/>
          </a:p>
        </p:txBody>
      </p:sp>
      <p:sp>
        <p:nvSpPr>
          <p:cNvPr id="7" name="Shape 5"/>
          <p:cNvSpPr/>
          <p:nvPr/>
        </p:nvSpPr>
        <p:spPr>
          <a:xfrm>
            <a:off x="3364992" y="1417320"/>
            <a:ext cx="2651760" cy="1051560"/>
          </a:xfrm>
          <a:prstGeom prst="roundRect">
            <a:avLst>
              <a:gd name="adj" fmla="val 8696"/>
            </a:avLst>
          </a:prstGeom>
          <a:solidFill>
            <a:srgbClr val="141A45"/>
          </a:solidFill>
          <a:ln/>
        </p:spPr>
      </p:sp>
      <p:sp>
        <p:nvSpPr>
          <p:cNvPr id="8" name="Text 6"/>
          <p:cNvSpPr/>
          <p:nvPr/>
        </p:nvSpPr>
        <p:spPr>
          <a:xfrm>
            <a:off x="3364992" y="1527048"/>
            <a:ext cx="2651760" cy="502920"/>
          </a:xfrm>
          <a:prstGeom prst="rect">
            <a:avLst/>
          </a:prstGeom>
          <a:noFill/>
          <a:ln/>
        </p:spPr>
        <p:txBody>
          <a:bodyPr wrap="square" rtlCol="0" anchor="ctr"/>
          <a:lstStyle/>
          <a:p>
            <a:pPr marL="0" indent="0" algn="ctr">
              <a:buNone/>
            </a:pPr>
            <a:r>
              <a:rPr lang="en-US" sz="2600" b="1" dirty="0">
                <a:solidFill>
                  <a:srgbClr val="FFFFFF"/>
                </a:solidFill>
                <a:latin typeface="Cambria" pitchFamily="34" charset="0"/>
                <a:ea typeface="Cambria" pitchFamily="34" charset="-122"/>
                <a:cs typeface="Cambria" pitchFamily="34" charset="-120"/>
              </a:rPr>
              <a:t>91.0%</a:t>
            </a:r>
            <a:endParaRPr lang="en-US" sz="2600" dirty="0"/>
          </a:p>
        </p:txBody>
      </p:sp>
      <p:sp>
        <p:nvSpPr>
          <p:cNvPr id="9" name="Text 7"/>
          <p:cNvSpPr/>
          <p:nvPr/>
        </p:nvSpPr>
        <p:spPr>
          <a:xfrm>
            <a:off x="3364992" y="2039112"/>
            <a:ext cx="2651760" cy="365760"/>
          </a:xfrm>
          <a:prstGeom prst="rect">
            <a:avLst/>
          </a:prstGeom>
          <a:noFill/>
          <a:ln/>
        </p:spPr>
        <p:txBody>
          <a:bodyPr wrap="square" rtlCol="0" anchor="ctr"/>
          <a:lstStyle/>
          <a:p>
            <a:pPr marL="0" indent="0" algn="ctr">
              <a:buNone/>
            </a:pPr>
            <a:r>
              <a:rPr lang="en-US" sz="1000" dirty="0">
                <a:solidFill>
                  <a:srgbClr val="D8DBF7"/>
                </a:solidFill>
                <a:latin typeface="Calibri" pitchFamily="34" charset="0"/>
                <a:ea typeface="Calibri" pitchFamily="34" charset="-122"/>
                <a:cs typeface="Calibri" pitchFamily="34" charset="-120"/>
              </a:rPr>
              <a:t>F1-Score</a:t>
            </a:r>
            <a:endParaRPr lang="en-US" sz="1000" dirty="0"/>
          </a:p>
        </p:txBody>
      </p:sp>
      <p:sp>
        <p:nvSpPr>
          <p:cNvPr id="10" name="Shape 8"/>
          <p:cNvSpPr/>
          <p:nvPr/>
        </p:nvSpPr>
        <p:spPr>
          <a:xfrm>
            <a:off x="6181344" y="1417320"/>
            <a:ext cx="2651760" cy="1051560"/>
          </a:xfrm>
          <a:prstGeom prst="roundRect">
            <a:avLst>
              <a:gd name="adj" fmla="val 8696"/>
            </a:avLst>
          </a:prstGeom>
          <a:solidFill>
            <a:srgbClr val="141A45"/>
          </a:solidFill>
          <a:ln/>
        </p:spPr>
      </p:sp>
      <p:sp>
        <p:nvSpPr>
          <p:cNvPr id="11" name="Text 9"/>
          <p:cNvSpPr/>
          <p:nvPr/>
        </p:nvSpPr>
        <p:spPr>
          <a:xfrm>
            <a:off x="6181344" y="1527048"/>
            <a:ext cx="2651760" cy="502920"/>
          </a:xfrm>
          <a:prstGeom prst="rect">
            <a:avLst/>
          </a:prstGeom>
          <a:noFill/>
          <a:ln/>
        </p:spPr>
        <p:txBody>
          <a:bodyPr wrap="square" rtlCol="0" anchor="ctr"/>
          <a:lstStyle/>
          <a:p>
            <a:pPr marL="0" indent="0" algn="ctr">
              <a:buNone/>
            </a:pPr>
            <a:r>
              <a:rPr lang="en-US" sz="2600" b="1" dirty="0">
                <a:solidFill>
                  <a:srgbClr val="FFFFFF"/>
                </a:solidFill>
                <a:latin typeface="Cambria" pitchFamily="34" charset="0"/>
                <a:ea typeface="Cambria" pitchFamily="34" charset="-122"/>
                <a:cs typeface="Cambria" pitchFamily="34" charset="-120"/>
              </a:rPr>
              <a:t>0.953</a:t>
            </a:r>
            <a:endParaRPr lang="en-US" sz="2600" dirty="0"/>
          </a:p>
        </p:txBody>
      </p:sp>
      <p:sp>
        <p:nvSpPr>
          <p:cNvPr id="12" name="Text 10"/>
          <p:cNvSpPr/>
          <p:nvPr/>
        </p:nvSpPr>
        <p:spPr>
          <a:xfrm>
            <a:off x="6181344" y="2039112"/>
            <a:ext cx="2651760" cy="365760"/>
          </a:xfrm>
          <a:prstGeom prst="rect">
            <a:avLst/>
          </a:prstGeom>
          <a:noFill/>
          <a:ln/>
        </p:spPr>
        <p:txBody>
          <a:bodyPr wrap="square" rtlCol="0" anchor="ctr"/>
          <a:lstStyle/>
          <a:p>
            <a:pPr marL="0" indent="0" algn="ctr">
              <a:buNone/>
            </a:pPr>
            <a:r>
              <a:rPr lang="en-US" sz="1000" dirty="0">
                <a:solidFill>
                  <a:srgbClr val="D8DBF7"/>
                </a:solidFill>
                <a:latin typeface="Calibri" pitchFamily="34" charset="0"/>
                <a:ea typeface="Calibri" pitchFamily="34" charset="-122"/>
                <a:cs typeface="Calibri" pitchFamily="34" charset="-120"/>
              </a:rPr>
              <a:t>ROC-AUC</a:t>
            </a:r>
            <a:endParaRPr lang="en-US" sz="1000" dirty="0"/>
          </a:p>
        </p:txBody>
      </p:sp>
      <p:sp>
        <p:nvSpPr>
          <p:cNvPr id="13" name="Shape 11"/>
          <p:cNvSpPr/>
          <p:nvPr/>
        </p:nvSpPr>
        <p:spPr>
          <a:xfrm>
            <a:off x="8997696" y="1417320"/>
            <a:ext cx="2651760" cy="1051560"/>
          </a:xfrm>
          <a:prstGeom prst="roundRect">
            <a:avLst>
              <a:gd name="adj" fmla="val 8696"/>
            </a:avLst>
          </a:prstGeom>
          <a:solidFill>
            <a:srgbClr val="141A45"/>
          </a:solidFill>
          <a:ln/>
        </p:spPr>
      </p:sp>
      <p:sp>
        <p:nvSpPr>
          <p:cNvPr id="14" name="Text 12"/>
          <p:cNvSpPr/>
          <p:nvPr/>
        </p:nvSpPr>
        <p:spPr>
          <a:xfrm>
            <a:off x="8997696" y="1527048"/>
            <a:ext cx="2651760" cy="502920"/>
          </a:xfrm>
          <a:prstGeom prst="rect">
            <a:avLst/>
          </a:prstGeom>
          <a:noFill/>
          <a:ln/>
        </p:spPr>
        <p:txBody>
          <a:bodyPr wrap="square" rtlCol="0" anchor="ctr"/>
          <a:lstStyle/>
          <a:p>
            <a:pPr marL="0" indent="0" algn="ctr">
              <a:buNone/>
            </a:pPr>
            <a:r>
              <a:rPr lang="en-US" sz="2600" b="1" dirty="0">
                <a:solidFill>
                  <a:srgbClr val="FFFFFF"/>
                </a:solidFill>
                <a:latin typeface="Cambria" pitchFamily="34" charset="0"/>
                <a:ea typeface="Cambria" pitchFamily="34" charset="-122"/>
                <a:cs typeface="Cambria" pitchFamily="34" charset="-120"/>
              </a:rPr>
              <a:t>10,000+</a:t>
            </a:r>
            <a:endParaRPr lang="en-US" sz="2600" dirty="0"/>
          </a:p>
        </p:txBody>
      </p:sp>
      <p:sp>
        <p:nvSpPr>
          <p:cNvPr id="15" name="Text 13"/>
          <p:cNvSpPr/>
          <p:nvPr/>
        </p:nvSpPr>
        <p:spPr>
          <a:xfrm>
            <a:off x="8997696" y="2039112"/>
            <a:ext cx="2651760" cy="365760"/>
          </a:xfrm>
          <a:prstGeom prst="rect">
            <a:avLst/>
          </a:prstGeom>
          <a:noFill/>
          <a:ln/>
        </p:spPr>
        <p:txBody>
          <a:bodyPr wrap="square" rtlCol="0" anchor="ctr"/>
          <a:lstStyle/>
          <a:p>
            <a:pPr marL="0" indent="0" algn="ctr">
              <a:buNone/>
            </a:pPr>
            <a:r>
              <a:rPr lang="en-US" sz="1000" dirty="0">
                <a:solidFill>
                  <a:srgbClr val="D8DBF7"/>
                </a:solidFill>
                <a:latin typeface="Calibri" pitchFamily="34" charset="0"/>
                <a:ea typeface="Calibri" pitchFamily="34" charset="-122"/>
                <a:cs typeface="Calibri" pitchFamily="34" charset="-120"/>
              </a:rPr>
              <a:t>Training</a:t>
            </a:r>
            <a:endParaRPr lang="en-US" sz="1000" dirty="0"/>
          </a:p>
          <a:p>
            <a:pPr marL="0" indent="0" algn="ctr">
              <a:buNone/>
            </a:pPr>
            <a:r>
              <a:rPr lang="en-US" sz="1000" dirty="0">
                <a:solidFill>
                  <a:srgbClr val="D8DBF7"/>
                </a:solidFill>
                <a:latin typeface="Calibri" pitchFamily="34" charset="0"/>
                <a:ea typeface="Calibri" pitchFamily="34" charset="-122"/>
                <a:cs typeface="Calibri" pitchFamily="34" charset="-120"/>
              </a:rPr>
              <a:t>Records</a:t>
            </a:r>
            <a:endParaRPr lang="en-US" sz="1000" dirty="0"/>
          </a:p>
        </p:txBody>
      </p:sp>
      <p:graphicFrame>
        <p:nvGraphicFramePr>
          <p:cNvPr id="16" name="Chart 0"/>
          <p:cNvGraphicFramePr/>
          <p:nvPr/>
        </p:nvGraphicFramePr>
        <p:xfrm>
          <a:off x="502920" y="2743200"/>
          <a:ext cx="5577840" cy="2788920"/>
        </p:xfrm>
        <a:graphic>
          <a:graphicData uri="http://schemas.openxmlformats.org/drawingml/2006/chart">
            <c:chart xmlns:c="http://schemas.openxmlformats.org/drawingml/2006/chart" xmlns:r="http://schemas.openxmlformats.org/officeDocument/2006/relationships" r:id="rId3"/>
          </a:graphicData>
        </a:graphic>
      </p:graphicFrame>
      <p:sp>
        <p:nvSpPr>
          <p:cNvPr id="17" name="Text 14"/>
          <p:cNvSpPr/>
          <p:nvPr/>
        </p:nvSpPr>
        <p:spPr>
          <a:xfrm>
            <a:off x="6355080" y="2743200"/>
            <a:ext cx="5303520" cy="274320"/>
          </a:xfrm>
          <a:prstGeom prst="rect">
            <a:avLst/>
          </a:prstGeom>
          <a:noFill/>
          <a:ln/>
        </p:spPr>
        <p:txBody>
          <a:bodyPr wrap="square" rtlCol="0" anchor="ctr"/>
          <a:lstStyle/>
          <a:p>
            <a:pPr marL="0" indent="0">
              <a:buNone/>
            </a:pPr>
            <a:r>
              <a:rPr lang="en-US" sz="1200" b="1" dirty="0">
                <a:solidFill>
                  <a:srgbClr val="1B1F3B"/>
                </a:solidFill>
                <a:latin typeface="Cambria" pitchFamily="34" charset="0"/>
                <a:ea typeface="Cambria" pitchFamily="34" charset="-122"/>
                <a:cs typeface="Cambria" pitchFamily="34" charset="-120"/>
              </a:rPr>
              <a:t>Confusion Matrix (Illustrative)</a:t>
            </a:r>
            <a:endParaRPr lang="en-US" sz="1200" dirty="0"/>
          </a:p>
        </p:txBody>
      </p:sp>
      <p:sp>
        <p:nvSpPr>
          <p:cNvPr id="18" name="Text 15"/>
          <p:cNvSpPr/>
          <p:nvPr/>
        </p:nvSpPr>
        <p:spPr>
          <a:xfrm>
            <a:off x="7635240" y="2788920"/>
            <a:ext cx="1234440" cy="320040"/>
          </a:xfrm>
          <a:prstGeom prst="rect">
            <a:avLst/>
          </a:prstGeom>
          <a:noFill/>
          <a:ln/>
        </p:spPr>
        <p:txBody>
          <a:bodyPr wrap="square" rtlCol="0" anchor="ctr"/>
          <a:lstStyle/>
          <a:p>
            <a:pPr marL="0" indent="0" algn="ctr">
              <a:buNone/>
            </a:pPr>
            <a:r>
              <a:rPr lang="en-US" sz="850" b="1" dirty="0">
                <a:solidFill>
                  <a:srgbClr val="6E7488"/>
                </a:solidFill>
                <a:latin typeface="Calibri" pitchFamily="34" charset="0"/>
                <a:ea typeface="Calibri" pitchFamily="34" charset="-122"/>
                <a:cs typeface="Calibri" pitchFamily="34" charset="-120"/>
              </a:rPr>
              <a:t>Excellent</a:t>
            </a:r>
            <a:endParaRPr lang="en-US" sz="850" dirty="0"/>
          </a:p>
        </p:txBody>
      </p:sp>
      <p:sp>
        <p:nvSpPr>
          <p:cNvPr id="19" name="Text 16"/>
          <p:cNvSpPr/>
          <p:nvPr/>
        </p:nvSpPr>
        <p:spPr>
          <a:xfrm>
            <a:off x="8869680" y="2788920"/>
            <a:ext cx="1234440" cy="320040"/>
          </a:xfrm>
          <a:prstGeom prst="rect">
            <a:avLst/>
          </a:prstGeom>
          <a:noFill/>
          <a:ln/>
        </p:spPr>
        <p:txBody>
          <a:bodyPr wrap="square" rtlCol="0" anchor="ctr"/>
          <a:lstStyle/>
          <a:p>
            <a:pPr marL="0" indent="0" algn="ctr">
              <a:buNone/>
            </a:pPr>
            <a:r>
              <a:rPr lang="en-US" sz="850" b="1" dirty="0">
                <a:solidFill>
                  <a:srgbClr val="6E7488"/>
                </a:solidFill>
                <a:latin typeface="Calibri" pitchFamily="34" charset="0"/>
                <a:ea typeface="Calibri" pitchFamily="34" charset="-122"/>
                <a:cs typeface="Calibri" pitchFamily="34" charset="-120"/>
              </a:rPr>
              <a:t>Average</a:t>
            </a:r>
            <a:endParaRPr lang="en-US" sz="850" dirty="0"/>
          </a:p>
        </p:txBody>
      </p:sp>
      <p:sp>
        <p:nvSpPr>
          <p:cNvPr id="20" name="Text 17"/>
          <p:cNvSpPr/>
          <p:nvPr/>
        </p:nvSpPr>
        <p:spPr>
          <a:xfrm>
            <a:off x="10104120" y="2788920"/>
            <a:ext cx="1234440" cy="320040"/>
          </a:xfrm>
          <a:prstGeom prst="rect">
            <a:avLst/>
          </a:prstGeom>
          <a:noFill/>
          <a:ln/>
        </p:spPr>
        <p:txBody>
          <a:bodyPr wrap="square" rtlCol="0" anchor="ctr"/>
          <a:lstStyle/>
          <a:p>
            <a:pPr marL="0" indent="0" algn="ctr">
              <a:buNone/>
            </a:pPr>
            <a:r>
              <a:rPr lang="en-US" sz="850" b="1" dirty="0">
                <a:solidFill>
                  <a:srgbClr val="6E7488"/>
                </a:solidFill>
                <a:latin typeface="Calibri" pitchFamily="34" charset="0"/>
                <a:ea typeface="Calibri" pitchFamily="34" charset="-122"/>
                <a:cs typeface="Calibri" pitchFamily="34" charset="-120"/>
              </a:rPr>
              <a:t>At Risk</a:t>
            </a:r>
            <a:endParaRPr lang="en-US" sz="850" dirty="0"/>
          </a:p>
        </p:txBody>
      </p:sp>
      <p:sp>
        <p:nvSpPr>
          <p:cNvPr id="21" name="Text 18"/>
          <p:cNvSpPr/>
          <p:nvPr/>
        </p:nvSpPr>
        <p:spPr>
          <a:xfrm>
            <a:off x="6217920" y="3200400"/>
            <a:ext cx="1325880" cy="502920"/>
          </a:xfrm>
          <a:prstGeom prst="rect">
            <a:avLst/>
          </a:prstGeom>
          <a:noFill/>
          <a:ln/>
        </p:spPr>
        <p:txBody>
          <a:bodyPr wrap="square" rtlCol="0" anchor="ctr"/>
          <a:lstStyle/>
          <a:p>
            <a:pPr marL="0" indent="0" algn="r">
              <a:buNone/>
            </a:pPr>
            <a:r>
              <a:rPr lang="en-US" sz="850" b="1" dirty="0">
                <a:solidFill>
                  <a:srgbClr val="6E7488"/>
                </a:solidFill>
                <a:latin typeface="Calibri" pitchFamily="34" charset="0"/>
                <a:ea typeface="Calibri" pitchFamily="34" charset="-122"/>
                <a:cs typeface="Calibri" pitchFamily="34" charset="-120"/>
              </a:rPr>
              <a:t>Excellent</a:t>
            </a:r>
            <a:endParaRPr lang="en-US" sz="850" dirty="0"/>
          </a:p>
        </p:txBody>
      </p:sp>
      <p:sp>
        <p:nvSpPr>
          <p:cNvPr id="22" name="Text 19"/>
          <p:cNvSpPr/>
          <p:nvPr/>
        </p:nvSpPr>
        <p:spPr>
          <a:xfrm>
            <a:off x="6217920" y="3703320"/>
            <a:ext cx="1325880" cy="502920"/>
          </a:xfrm>
          <a:prstGeom prst="rect">
            <a:avLst/>
          </a:prstGeom>
          <a:noFill/>
          <a:ln/>
        </p:spPr>
        <p:txBody>
          <a:bodyPr wrap="square" rtlCol="0" anchor="ctr"/>
          <a:lstStyle/>
          <a:p>
            <a:pPr marL="0" indent="0" algn="r">
              <a:buNone/>
            </a:pPr>
            <a:r>
              <a:rPr lang="en-US" sz="850" b="1" dirty="0">
                <a:solidFill>
                  <a:srgbClr val="6E7488"/>
                </a:solidFill>
                <a:latin typeface="Calibri" pitchFamily="34" charset="0"/>
                <a:ea typeface="Calibri" pitchFamily="34" charset="-122"/>
                <a:cs typeface="Calibri" pitchFamily="34" charset="-120"/>
              </a:rPr>
              <a:t>Average</a:t>
            </a:r>
            <a:endParaRPr lang="en-US" sz="850" dirty="0"/>
          </a:p>
        </p:txBody>
      </p:sp>
      <p:sp>
        <p:nvSpPr>
          <p:cNvPr id="23" name="Text 20"/>
          <p:cNvSpPr/>
          <p:nvPr/>
        </p:nvSpPr>
        <p:spPr>
          <a:xfrm>
            <a:off x="6217920" y="4206240"/>
            <a:ext cx="1325880" cy="502920"/>
          </a:xfrm>
          <a:prstGeom prst="rect">
            <a:avLst/>
          </a:prstGeom>
          <a:noFill/>
          <a:ln/>
        </p:spPr>
        <p:txBody>
          <a:bodyPr wrap="square" rtlCol="0" anchor="ctr"/>
          <a:lstStyle/>
          <a:p>
            <a:pPr marL="0" indent="0" algn="r">
              <a:buNone/>
            </a:pPr>
            <a:r>
              <a:rPr lang="en-US" sz="850" b="1" dirty="0">
                <a:solidFill>
                  <a:srgbClr val="6E7488"/>
                </a:solidFill>
                <a:latin typeface="Calibri" pitchFamily="34" charset="0"/>
                <a:ea typeface="Calibri" pitchFamily="34" charset="-122"/>
                <a:cs typeface="Calibri" pitchFamily="34" charset="-120"/>
              </a:rPr>
              <a:t>At Risk</a:t>
            </a:r>
            <a:endParaRPr lang="en-US" sz="850" dirty="0"/>
          </a:p>
        </p:txBody>
      </p:sp>
      <p:sp>
        <p:nvSpPr>
          <p:cNvPr id="24" name="Shape 21"/>
          <p:cNvSpPr/>
          <p:nvPr/>
        </p:nvSpPr>
        <p:spPr>
          <a:xfrm>
            <a:off x="7635240" y="3154680"/>
            <a:ext cx="1197864" cy="466344"/>
          </a:xfrm>
          <a:prstGeom prst="rect">
            <a:avLst/>
          </a:prstGeom>
          <a:solidFill>
            <a:srgbClr val="6C3CE9"/>
          </a:solidFill>
          <a:ln w="12700">
            <a:solidFill>
              <a:srgbClr val="FFFFFF"/>
            </a:solidFill>
            <a:prstDash val="solid"/>
          </a:ln>
        </p:spPr>
      </p:sp>
      <p:sp>
        <p:nvSpPr>
          <p:cNvPr id="25" name="Text 22"/>
          <p:cNvSpPr/>
          <p:nvPr/>
        </p:nvSpPr>
        <p:spPr>
          <a:xfrm>
            <a:off x="7635240" y="3154680"/>
            <a:ext cx="1197864" cy="466344"/>
          </a:xfrm>
          <a:prstGeom prst="rect">
            <a:avLst/>
          </a:prstGeom>
          <a:noFill/>
          <a:ln/>
        </p:spPr>
        <p:txBody>
          <a:bodyPr wrap="square"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46</a:t>
            </a:r>
            <a:endParaRPr lang="en-US" sz="1300" dirty="0"/>
          </a:p>
        </p:txBody>
      </p:sp>
      <p:sp>
        <p:nvSpPr>
          <p:cNvPr id="26" name="Shape 23"/>
          <p:cNvSpPr/>
          <p:nvPr/>
        </p:nvSpPr>
        <p:spPr>
          <a:xfrm>
            <a:off x="8869680" y="3154680"/>
            <a:ext cx="1197864" cy="466344"/>
          </a:xfrm>
          <a:prstGeom prst="rect">
            <a:avLst/>
          </a:prstGeom>
          <a:solidFill>
            <a:srgbClr val="EEF0FB"/>
          </a:solidFill>
          <a:ln w="12700">
            <a:solidFill>
              <a:srgbClr val="FFFFFF"/>
            </a:solidFill>
            <a:prstDash val="solid"/>
          </a:ln>
        </p:spPr>
      </p:sp>
      <p:sp>
        <p:nvSpPr>
          <p:cNvPr id="27" name="Text 24"/>
          <p:cNvSpPr/>
          <p:nvPr/>
        </p:nvSpPr>
        <p:spPr>
          <a:xfrm>
            <a:off x="8869680" y="3154680"/>
            <a:ext cx="1197864" cy="466344"/>
          </a:xfrm>
          <a:prstGeom prst="rect">
            <a:avLst/>
          </a:prstGeom>
          <a:noFill/>
          <a:ln/>
        </p:spPr>
        <p:txBody>
          <a:bodyPr wrap="square" rtlCol="0" anchor="ctr"/>
          <a:lstStyle/>
          <a:p>
            <a:pPr marL="0" indent="0" algn="ctr">
              <a:buNone/>
            </a:pPr>
            <a:r>
              <a:rPr lang="en-US" sz="1300" b="1" dirty="0">
                <a:solidFill>
                  <a:srgbClr val="1B1F3B"/>
                </a:solidFill>
                <a:latin typeface="Calibri" pitchFamily="34" charset="0"/>
                <a:ea typeface="Calibri" pitchFamily="34" charset="-122"/>
                <a:cs typeface="Calibri" pitchFamily="34" charset="-120"/>
              </a:rPr>
              <a:t>3</a:t>
            </a:r>
            <a:endParaRPr lang="en-US" sz="1300" dirty="0"/>
          </a:p>
        </p:txBody>
      </p:sp>
      <p:sp>
        <p:nvSpPr>
          <p:cNvPr id="28" name="Shape 25"/>
          <p:cNvSpPr/>
          <p:nvPr/>
        </p:nvSpPr>
        <p:spPr>
          <a:xfrm>
            <a:off x="10104120" y="3154680"/>
            <a:ext cx="1197864" cy="466344"/>
          </a:xfrm>
          <a:prstGeom prst="rect">
            <a:avLst/>
          </a:prstGeom>
          <a:solidFill>
            <a:srgbClr val="EEF0FB"/>
          </a:solidFill>
          <a:ln w="12700">
            <a:solidFill>
              <a:srgbClr val="FFFFFF"/>
            </a:solidFill>
            <a:prstDash val="solid"/>
          </a:ln>
        </p:spPr>
      </p:sp>
      <p:sp>
        <p:nvSpPr>
          <p:cNvPr id="29" name="Text 26"/>
          <p:cNvSpPr/>
          <p:nvPr/>
        </p:nvSpPr>
        <p:spPr>
          <a:xfrm>
            <a:off x="10104120" y="3154680"/>
            <a:ext cx="1197864" cy="466344"/>
          </a:xfrm>
          <a:prstGeom prst="rect">
            <a:avLst/>
          </a:prstGeom>
          <a:noFill/>
          <a:ln/>
        </p:spPr>
        <p:txBody>
          <a:bodyPr wrap="square" rtlCol="0" anchor="ctr"/>
          <a:lstStyle/>
          <a:p>
            <a:pPr marL="0" indent="0" algn="ctr">
              <a:buNone/>
            </a:pPr>
            <a:r>
              <a:rPr lang="en-US" sz="1300" b="1" dirty="0">
                <a:solidFill>
                  <a:srgbClr val="1B1F3B"/>
                </a:solidFill>
                <a:latin typeface="Calibri" pitchFamily="34" charset="0"/>
                <a:ea typeface="Calibri" pitchFamily="34" charset="-122"/>
                <a:cs typeface="Calibri" pitchFamily="34" charset="-120"/>
              </a:rPr>
              <a:t>0</a:t>
            </a:r>
            <a:endParaRPr lang="en-US" sz="1300" dirty="0"/>
          </a:p>
        </p:txBody>
      </p:sp>
      <p:sp>
        <p:nvSpPr>
          <p:cNvPr id="30" name="Shape 27"/>
          <p:cNvSpPr/>
          <p:nvPr/>
        </p:nvSpPr>
        <p:spPr>
          <a:xfrm>
            <a:off x="7635240" y="3657600"/>
            <a:ext cx="1197864" cy="466344"/>
          </a:xfrm>
          <a:prstGeom prst="rect">
            <a:avLst/>
          </a:prstGeom>
          <a:solidFill>
            <a:srgbClr val="EEF0FB"/>
          </a:solidFill>
          <a:ln w="12700">
            <a:solidFill>
              <a:srgbClr val="FFFFFF"/>
            </a:solidFill>
            <a:prstDash val="solid"/>
          </a:ln>
        </p:spPr>
      </p:sp>
      <p:sp>
        <p:nvSpPr>
          <p:cNvPr id="31" name="Text 28"/>
          <p:cNvSpPr/>
          <p:nvPr/>
        </p:nvSpPr>
        <p:spPr>
          <a:xfrm>
            <a:off x="7635240" y="3657600"/>
            <a:ext cx="1197864" cy="466344"/>
          </a:xfrm>
          <a:prstGeom prst="rect">
            <a:avLst/>
          </a:prstGeom>
          <a:noFill/>
          <a:ln/>
        </p:spPr>
        <p:txBody>
          <a:bodyPr wrap="square" rtlCol="0" anchor="ctr"/>
          <a:lstStyle/>
          <a:p>
            <a:pPr marL="0" indent="0" algn="ctr">
              <a:buNone/>
            </a:pPr>
            <a:r>
              <a:rPr lang="en-US" sz="1300" b="1" dirty="0">
                <a:solidFill>
                  <a:srgbClr val="1B1F3B"/>
                </a:solidFill>
                <a:latin typeface="Calibri" pitchFamily="34" charset="0"/>
                <a:ea typeface="Calibri" pitchFamily="34" charset="-122"/>
                <a:cs typeface="Calibri" pitchFamily="34" charset="-120"/>
              </a:rPr>
              <a:t>2</a:t>
            </a:r>
            <a:endParaRPr lang="en-US" sz="1300" dirty="0"/>
          </a:p>
        </p:txBody>
      </p:sp>
      <p:sp>
        <p:nvSpPr>
          <p:cNvPr id="32" name="Shape 29"/>
          <p:cNvSpPr/>
          <p:nvPr/>
        </p:nvSpPr>
        <p:spPr>
          <a:xfrm>
            <a:off x="8869680" y="3657600"/>
            <a:ext cx="1197864" cy="466344"/>
          </a:xfrm>
          <a:prstGeom prst="rect">
            <a:avLst/>
          </a:prstGeom>
          <a:solidFill>
            <a:srgbClr val="6C3CE9"/>
          </a:solidFill>
          <a:ln w="12700">
            <a:solidFill>
              <a:srgbClr val="FFFFFF"/>
            </a:solidFill>
            <a:prstDash val="solid"/>
          </a:ln>
        </p:spPr>
      </p:sp>
      <p:sp>
        <p:nvSpPr>
          <p:cNvPr id="33" name="Text 30"/>
          <p:cNvSpPr/>
          <p:nvPr/>
        </p:nvSpPr>
        <p:spPr>
          <a:xfrm>
            <a:off x="8869680" y="3657600"/>
            <a:ext cx="1197864" cy="466344"/>
          </a:xfrm>
          <a:prstGeom prst="rect">
            <a:avLst/>
          </a:prstGeom>
          <a:noFill/>
          <a:ln/>
        </p:spPr>
        <p:txBody>
          <a:bodyPr wrap="square"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41</a:t>
            </a:r>
            <a:endParaRPr lang="en-US" sz="1300" dirty="0"/>
          </a:p>
        </p:txBody>
      </p:sp>
      <p:sp>
        <p:nvSpPr>
          <p:cNvPr id="34" name="Shape 31"/>
          <p:cNvSpPr/>
          <p:nvPr/>
        </p:nvSpPr>
        <p:spPr>
          <a:xfrm>
            <a:off x="10104120" y="3657600"/>
            <a:ext cx="1197864" cy="466344"/>
          </a:xfrm>
          <a:prstGeom prst="rect">
            <a:avLst/>
          </a:prstGeom>
          <a:solidFill>
            <a:srgbClr val="EEF0FB"/>
          </a:solidFill>
          <a:ln w="12700">
            <a:solidFill>
              <a:srgbClr val="FFFFFF"/>
            </a:solidFill>
            <a:prstDash val="solid"/>
          </a:ln>
        </p:spPr>
      </p:sp>
      <p:sp>
        <p:nvSpPr>
          <p:cNvPr id="35" name="Text 32"/>
          <p:cNvSpPr/>
          <p:nvPr/>
        </p:nvSpPr>
        <p:spPr>
          <a:xfrm>
            <a:off x="10104120" y="3657600"/>
            <a:ext cx="1197864" cy="466344"/>
          </a:xfrm>
          <a:prstGeom prst="rect">
            <a:avLst/>
          </a:prstGeom>
          <a:noFill/>
          <a:ln/>
        </p:spPr>
        <p:txBody>
          <a:bodyPr wrap="square" rtlCol="0" anchor="ctr"/>
          <a:lstStyle/>
          <a:p>
            <a:pPr marL="0" indent="0" algn="ctr">
              <a:buNone/>
            </a:pPr>
            <a:r>
              <a:rPr lang="en-US" sz="1300" b="1" dirty="0">
                <a:solidFill>
                  <a:srgbClr val="1B1F3B"/>
                </a:solidFill>
                <a:latin typeface="Calibri" pitchFamily="34" charset="0"/>
                <a:ea typeface="Calibri" pitchFamily="34" charset="-122"/>
                <a:cs typeface="Calibri" pitchFamily="34" charset="-120"/>
              </a:rPr>
              <a:t>3</a:t>
            </a:r>
            <a:endParaRPr lang="en-US" sz="1300" dirty="0"/>
          </a:p>
        </p:txBody>
      </p:sp>
      <p:sp>
        <p:nvSpPr>
          <p:cNvPr id="36" name="Shape 33"/>
          <p:cNvSpPr/>
          <p:nvPr/>
        </p:nvSpPr>
        <p:spPr>
          <a:xfrm>
            <a:off x="7635240" y="4160520"/>
            <a:ext cx="1197864" cy="466344"/>
          </a:xfrm>
          <a:prstGeom prst="rect">
            <a:avLst/>
          </a:prstGeom>
          <a:solidFill>
            <a:srgbClr val="EEF0FB"/>
          </a:solidFill>
          <a:ln w="12700">
            <a:solidFill>
              <a:srgbClr val="FFFFFF"/>
            </a:solidFill>
            <a:prstDash val="solid"/>
          </a:ln>
        </p:spPr>
      </p:sp>
      <p:sp>
        <p:nvSpPr>
          <p:cNvPr id="37" name="Text 34"/>
          <p:cNvSpPr/>
          <p:nvPr/>
        </p:nvSpPr>
        <p:spPr>
          <a:xfrm>
            <a:off x="7635240" y="4160520"/>
            <a:ext cx="1197864" cy="466344"/>
          </a:xfrm>
          <a:prstGeom prst="rect">
            <a:avLst/>
          </a:prstGeom>
          <a:noFill/>
          <a:ln/>
        </p:spPr>
        <p:txBody>
          <a:bodyPr wrap="square" rtlCol="0" anchor="ctr"/>
          <a:lstStyle/>
          <a:p>
            <a:pPr marL="0" indent="0" algn="ctr">
              <a:buNone/>
            </a:pPr>
            <a:r>
              <a:rPr lang="en-US" sz="1300" b="1" dirty="0">
                <a:solidFill>
                  <a:srgbClr val="1B1F3B"/>
                </a:solidFill>
                <a:latin typeface="Calibri" pitchFamily="34" charset="0"/>
                <a:ea typeface="Calibri" pitchFamily="34" charset="-122"/>
                <a:cs typeface="Calibri" pitchFamily="34" charset="-120"/>
              </a:rPr>
              <a:t>0</a:t>
            </a:r>
            <a:endParaRPr lang="en-US" sz="1300" dirty="0"/>
          </a:p>
        </p:txBody>
      </p:sp>
      <p:sp>
        <p:nvSpPr>
          <p:cNvPr id="38" name="Shape 35"/>
          <p:cNvSpPr/>
          <p:nvPr/>
        </p:nvSpPr>
        <p:spPr>
          <a:xfrm>
            <a:off x="8869680" y="4160520"/>
            <a:ext cx="1197864" cy="466344"/>
          </a:xfrm>
          <a:prstGeom prst="rect">
            <a:avLst/>
          </a:prstGeom>
          <a:solidFill>
            <a:srgbClr val="EEF0FB"/>
          </a:solidFill>
          <a:ln w="12700">
            <a:solidFill>
              <a:srgbClr val="FFFFFF"/>
            </a:solidFill>
            <a:prstDash val="solid"/>
          </a:ln>
        </p:spPr>
      </p:sp>
      <p:sp>
        <p:nvSpPr>
          <p:cNvPr id="39" name="Text 36"/>
          <p:cNvSpPr/>
          <p:nvPr/>
        </p:nvSpPr>
        <p:spPr>
          <a:xfrm>
            <a:off x="8869680" y="4160520"/>
            <a:ext cx="1197864" cy="466344"/>
          </a:xfrm>
          <a:prstGeom prst="rect">
            <a:avLst/>
          </a:prstGeom>
          <a:noFill/>
          <a:ln/>
        </p:spPr>
        <p:txBody>
          <a:bodyPr wrap="square" rtlCol="0" anchor="ctr"/>
          <a:lstStyle/>
          <a:p>
            <a:pPr marL="0" indent="0" algn="ctr">
              <a:buNone/>
            </a:pPr>
            <a:r>
              <a:rPr lang="en-US" sz="1300" b="1" dirty="0">
                <a:solidFill>
                  <a:srgbClr val="1B1F3B"/>
                </a:solidFill>
                <a:latin typeface="Calibri" pitchFamily="34" charset="0"/>
                <a:ea typeface="Calibri" pitchFamily="34" charset="-122"/>
                <a:cs typeface="Calibri" pitchFamily="34" charset="-120"/>
              </a:rPr>
              <a:t>4</a:t>
            </a:r>
            <a:endParaRPr lang="en-US" sz="1300" dirty="0"/>
          </a:p>
        </p:txBody>
      </p:sp>
      <p:sp>
        <p:nvSpPr>
          <p:cNvPr id="40" name="Shape 37"/>
          <p:cNvSpPr/>
          <p:nvPr/>
        </p:nvSpPr>
        <p:spPr>
          <a:xfrm>
            <a:off x="10104120" y="4160520"/>
            <a:ext cx="1197864" cy="466344"/>
          </a:xfrm>
          <a:prstGeom prst="rect">
            <a:avLst/>
          </a:prstGeom>
          <a:solidFill>
            <a:srgbClr val="6C3CE9"/>
          </a:solidFill>
          <a:ln w="12700">
            <a:solidFill>
              <a:srgbClr val="FFFFFF"/>
            </a:solidFill>
            <a:prstDash val="solid"/>
          </a:ln>
        </p:spPr>
      </p:sp>
      <p:sp>
        <p:nvSpPr>
          <p:cNvPr id="41" name="Text 38"/>
          <p:cNvSpPr/>
          <p:nvPr/>
        </p:nvSpPr>
        <p:spPr>
          <a:xfrm>
            <a:off x="10104120" y="4160520"/>
            <a:ext cx="1197864" cy="466344"/>
          </a:xfrm>
          <a:prstGeom prst="rect">
            <a:avLst/>
          </a:prstGeom>
          <a:noFill/>
          <a:ln/>
        </p:spPr>
        <p:txBody>
          <a:bodyPr wrap="square"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44</a:t>
            </a:r>
            <a:endParaRPr lang="en-US" sz="1300" dirty="0"/>
          </a:p>
        </p:txBody>
      </p:sp>
      <p:sp>
        <p:nvSpPr>
          <p:cNvPr id="42" name="Text 39"/>
          <p:cNvSpPr/>
          <p:nvPr/>
        </p:nvSpPr>
        <p:spPr>
          <a:xfrm>
            <a:off x="6217920" y="4800600"/>
            <a:ext cx="5303520" cy="274320"/>
          </a:xfrm>
          <a:prstGeom prst="rect">
            <a:avLst/>
          </a:prstGeom>
          <a:noFill/>
          <a:ln/>
        </p:spPr>
        <p:txBody>
          <a:bodyPr wrap="square" rtlCol="0" anchor="ctr"/>
          <a:lstStyle/>
          <a:p>
            <a:pPr marL="0" indent="0">
              <a:buNone/>
            </a:pPr>
            <a:r>
              <a:rPr lang="en-US" sz="900" i="1" dirty="0">
                <a:solidFill>
                  <a:srgbClr val="6E7488"/>
                </a:solidFill>
                <a:latin typeface="Calibri" pitchFamily="34" charset="0"/>
                <a:ea typeface="Calibri" pitchFamily="34" charset="-122"/>
                <a:cs typeface="Calibri" pitchFamily="34" charset="-120"/>
              </a:rPr>
              <a:t>Rows = Actual  •  Columns = Predicted</a:t>
            </a:r>
            <a:endParaRPr lang="en-US" sz="900" dirty="0"/>
          </a:p>
        </p:txBody>
      </p:sp>
      <p:sp>
        <p:nvSpPr>
          <p:cNvPr id="43" name="Text 40"/>
          <p:cNvSpPr/>
          <p:nvPr/>
        </p:nvSpPr>
        <p:spPr>
          <a:xfrm>
            <a:off x="11475720" y="6510528"/>
            <a:ext cx="548640" cy="274320"/>
          </a:xfrm>
          <a:prstGeom prst="rect">
            <a:avLst/>
          </a:prstGeom>
          <a:noFill/>
          <a:ln/>
        </p:spPr>
        <p:txBody>
          <a:bodyPr wrap="square" rtlCol="0" anchor="ctr"/>
          <a:lstStyle/>
          <a:p>
            <a:pPr marL="0" indent="0" algn="r">
              <a:buNone/>
            </a:pPr>
            <a:r>
              <a:rPr lang="en-US" sz="1000" dirty="0">
                <a:solidFill>
                  <a:srgbClr val="6E7488"/>
                </a:solidFill>
                <a:latin typeface="Calibri" pitchFamily="34" charset="0"/>
                <a:ea typeface="Calibri" pitchFamily="34" charset="-122"/>
                <a:cs typeface="Calibri" pitchFamily="34" charset="-120"/>
              </a:rPr>
              <a:t>10</a:t>
            </a:r>
            <a:endParaRPr lang="en-US" sz="10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6F7FD"/>
        </a:solidFill>
        <a:effectLst/>
      </p:bgPr>
    </p:bg>
    <p:spTree>
      <p:nvGrpSpPr>
        <p:cNvPr id="1" name=""/>
        <p:cNvGrpSpPr/>
        <p:nvPr/>
      </p:nvGrpSpPr>
      <p:grpSpPr>
        <a:xfrm>
          <a:off x="0" y="0"/>
          <a:ext cx="0" cy="0"/>
          <a:chOff x="0" y="0"/>
          <a:chExt cx="0" cy="0"/>
        </a:xfrm>
      </p:grpSpPr>
      <p:sp>
        <p:nvSpPr>
          <p:cNvPr id="2" name="Text 0"/>
          <p:cNvSpPr/>
          <p:nvPr/>
        </p:nvSpPr>
        <p:spPr>
          <a:xfrm>
            <a:off x="548640" y="320040"/>
            <a:ext cx="7315200" cy="320040"/>
          </a:xfrm>
          <a:prstGeom prst="rect">
            <a:avLst/>
          </a:prstGeom>
          <a:noFill/>
          <a:ln/>
        </p:spPr>
        <p:txBody>
          <a:bodyPr wrap="square" rtlCol="0" anchor="ctr"/>
          <a:lstStyle/>
          <a:p>
            <a:pPr marL="0" indent="0">
              <a:buNone/>
            </a:pPr>
            <a:r>
              <a:rPr lang="en-US" sz="1300" b="1" kern="0" spc="200" dirty="0">
                <a:solidFill>
                  <a:srgbClr val="6C3CE9"/>
                </a:solidFill>
                <a:latin typeface="Calibri" pitchFamily="34" charset="0"/>
                <a:ea typeface="Calibri" pitchFamily="34" charset="-122"/>
                <a:cs typeface="Calibri" pitchFamily="34" charset="-120"/>
              </a:rPr>
              <a:t>ACHIEVEMENTS</a:t>
            </a:r>
            <a:endParaRPr lang="en-US" sz="1300" dirty="0"/>
          </a:p>
        </p:txBody>
      </p:sp>
      <p:sp>
        <p:nvSpPr>
          <p:cNvPr id="3" name="Text 1"/>
          <p:cNvSpPr/>
          <p:nvPr/>
        </p:nvSpPr>
        <p:spPr>
          <a:xfrm>
            <a:off x="548640" y="621792"/>
            <a:ext cx="10515600" cy="685800"/>
          </a:xfrm>
          <a:prstGeom prst="rect">
            <a:avLst/>
          </a:prstGeom>
          <a:noFill/>
          <a:ln/>
        </p:spPr>
        <p:txBody>
          <a:bodyPr wrap="square" rtlCol="0" anchor="ctr"/>
          <a:lstStyle/>
          <a:p>
            <a:pPr marL="0" indent="0">
              <a:buNone/>
            </a:pPr>
            <a:r>
              <a:rPr lang="en-US" sz="3200" b="1" dirty="0">
                <a:solidFill>
                  <a:srgbClr val="1B1F3B"/>
                </a:solidFill>
                <a:latin typeface="Cambria" pitchFamily="34" charset="0"/>
                <a:ea typeface="Cambria" pitchFamily="34" charset="-122"/>
                <a:cs typeface="Cambria" pitchFamily="34" charset="-120"/>
              </a:rPr>
              <a:t>Key Features &amp; Achievements</a:t>
            </a:r>
            <a:endParaRPr lang="en-US" sz="3200" dirty="0"/>
          </a:p>
        </p:txBody>
      </p:sp>
      <p:sp>
        <p:nvSpPr>
          <p:cNvPr id="4" name="Shape 2"/>
          <p:cNvSpPr/>
          <p:nvPr/>
        </p:nvSpPr>
        <p:spPr>
          <a:xfrm>
            <a:off x="548640" y="1554480"/>
            <a:ext cx="2121408" cy="1737360"/>
          </a:xfrm>
          <a:prstGeom prst="roundRect">
            <a:avLst>
              <a:gd name="adj" fmla="val 6316"/>
            </a:avLst>
          </a:prstGeom>
          <a:solidFill>
            <a:srgbClr val="FFFFFF"/>
          </a:solidFill>
          <a:ln/>
          <a:effectLst>
            <a:outerShdw blurRad="63500" dist="25400" dir="5400000" algn="bl" rotWithShape="0">
              <a:srgbClr val="1B1F3B">
                <a:alpha val="10000"/>
              </a:srgbClr>
            </a:outerShdw>
          </a:effectLst>
        </p:spPr>
      </p:sp>
      <p:sp>
        <p:nvSpPr>
          <p:cNvPr id="5" name="Shape 3"/>
          <p:cNvSpPr/>
          <p:nvPr/>
        </p:nvSpPr>
        <p:spPr>
          <a:xfrm>
            <a:off x="1335024" y="1810512"/>
            <a:ext cx="548640" cy="548640"/>
          </a:xfrm>
          <a:prstGeom prst="ellipse">
            <a:avLst/>
          </a:prstGeom>
          <a:solidFill>
            <a:srgbClr val="6C3CE9"/>
          </a:solidFill>
          <a:ln/>
        </p:spPr>
      </p:sp>
      <p:pic>
        <p:nvPicPr>
          <p:cNvPr id="6" name="Image 0" descr="preencoded.png"/>
          <p:cNvPicPr>
            <a:picLocks noChangeAspect="1"/>
          </p:cNvPicPr>
          <p:nvPr/>
        </p:nvPicPr>
        <p:blipFill>
          <a:blip r:embed="rId3"/>
          <a:stretch>
            <a:fillRect/>
          </a:stretch>
        </p:blipFill>
        <p:spPr>
          <a:xfrm>
            <a:off x="1477670" y="1953158"/>
            <a:ext cx="263347" cy="263347"/>
          </a:xfrm>
          <a:prstGeom prst="rect">
            <a:avLst/>
          </a:prstGeom>
        </p:spPr>
      </p:pic>
      <p:sp>
        <p:nvSpPr>
          <p:cNvPr id="7" name="Text 4"/>
          <p:cNvSpPr/>
          <p:nvPr/>
        </p:nvSpPr>
        <p:spPr>
          <a:xfrm>
            <a:off x="640080" y="2514600"/>
            <a:ext cx="1938528" cy="640080"/>
          </a:xfrm>
          <a:prstGeom prst="rect">
            <a:avLst/>
          </a:prstGeom>
          <a:noFill/>
          <a:ln/>
        </p:spPr>
        <p:txBody>
          <a:bodyPr wrap="square" rtlCol="0" anchor="t"/>
          <a:lstStyle/>
          <a:p>
            <a:pPr marL="0" indent="0" algn="ctr">
              <a:buNone/>
            </a:pPr>
            <a:r>
              <a:rPr lang="en-US" sz="1150" b="1" dirty="0">
                <a:solidFill>
                  <a:srgbClr val="1B1F3B"/>
                </a:solidFill>
                <a:latin typeface="Cambria" pitchFamily="34" charset="0"/>
                <a:ea typeface="Cambria" pitchFamily="34" charset="-122"/>
                <a:cs typeface="Cambria" pitchFamily="34" charset="-120"/>
              </a:rPr>
              <a:t>AI-Based Prediction</a:t>
            </a:r>
            <a:endParaRPr lang="en-US" sz="1150" dirty="0"/>
          </a:p>
        </p:txBody>
      </p:sp>
      <p:sp>
        <p:nvSpPr>
          <p:cNvPr id="8" name="Shape 5"/>
          <p:cNvSpPr/>
          <p:nvPr/>
        </p:nvSpPr>
        <p:spPr>
          <a:xfrm>
            <a:off x="2788920" y="1554480"/>
            <a:ext cx="2121408" cy="1737360"/>
          </a:xfrm>
          <a:prstGeom prst="roundRect">
            <a:avLst>
              <a:gd name="adj" fmla="val 6316"/>
            </a:avLst>
          </a:prstGeom>
          <a:solidFill>
            <a:srgbClr val="FFFFFF"/>
          </a:solidFill>
          <a:ln/>
          <a:effectLst>
            <a:outerShdw blurRad="63500" dist="25400" dir="5400000" algn="bl" rotWithShape="0">
              <a:srgbClr val="1B1F3B">
                <a:alpha val="10000"/>
              </a:srgbClr>
            </a:outerShdw>
          </a:effectLst>
        </p:spPr>
      </p:sp>
      <p:sp>
        <p:nvSpPr>
          <p:cNvPr id="9" name="Shape 6"/>
          <p:cNvSpPr/>
          <p:nvPr/>
        </p:nvSpPr>
        <p:spPr>
          <a:xfrm>
            <a:off x="3575304" y="1810512"/>
            <a:ext cx="548640" cy="548640"/>
          </a:xfrm>
          <a:prstGeom prst="ellipse">
            <a:avLst/>
          </a:prstGeom>
          <a:solidFill>
            <a:srgbClr val="2F5CFF"/>
          </a:solidFill>
          <a:ln/>
        </p:spPr>
      </p:sp>
      <p:pic>
        <p:nvPicPr>
          <p:cNvPr id="10" name="Image 1" descr="preencoded.png"/>
          <p:cNvPicPr>
            <a:picLocks noChangeAspect="1"/>
          </p:cNvPicPr>
          <p:nvPr/>
        </p:nvPicPr>
        <p:blipFill>
          <a:blip r:embed="rId4"/>
          <a:stretch>
            <a:fillRect/>
          </a:stretch>
        </p:blipFill>
        <p:spPr>
          <a:xfrm>
            <a:off x="3717950" y="1953158"/>
            <a:ext cx="263347" cy="263347"/>
          </a:xfrm>
          <a:prstGeom prst="rect">
            <a:avLst/>
          </a:prstGeom>
        </p:spPr>
      </p:pic>
      <p:sp>
        <p:nvSpPr>
          <p:cNvPr id="11" name="Text 7"/>
          <p:cNvSpPr/>
          <p:nvPr/>
        </p:nvSpPr>
        <p:spPr>
          <a:xfrm>
            <a:off x="2880360" y="2514600"/>
            <a:ext cx="1938528" cy="640080"/>
          </a:xfrm>
          <a:prstGeom prst="rect">
            <a:avLst/>
          </a:prstGeom>
          <a:noFill/>
          <a:ln/>
        </p:spPr>
        <p:txBody>
          <a:bodyPr wrap="square" rtlCol="0" anchor="t"/>
          <a:lstStyle/>
          <a:p>
            <a:pPr marL="0" indent="0" algn="ctr">
              <a:buNone/>
            </a:pPr>
            <a:r>
              <a:rPr lang="en-US" sz="1150" b="1" dirty="0">
                <a:solidFill>
                  <a:srgbClr val="1B1F3B"/>
                </a:solidFill>
                <a:latin typeface="Cambria" pitchFamily="34" charset="0"/>
                <a:ea typeface="Cambria" pitchFamily="34" charset="-122"/>
                <a:cs typeface="Cambria" pitchFamily="34" charset="-120"/>
              </a:rPr>
              <a:t>Risk Analysis</a:t>
            </a:r>
            <a:endParaRPr lang="en-US" sz="1150" dirty="0"/>
          </a:p>
        </p:txBody>
      </p:sp>
      <p:sp>
        <p:nvSpPr>
          <p:cNvPr id="12" name="Shape 8"/>
          <p:cNvSpPr/>
          <p:nvPr/>
        </p:nvSpPr>
        <p:spPr>
          <a:xfrm>
            <a:off x="5029200" y="1554480"/>
            <a:ext cx="2121408" cy="1737360"/>
          </a:xfrm>
          <a:prstGeom prst="roundRect">
            <a:avLst>
              <a:gd name="adj" fmla="val 6316"/>
            </a:avLst>
          </a:prstGeom>
          <a:solidFill>
            <a:srgbClr val="FFFFFF"/>
          </a:solidFill>
          <a:ln/>
          <a:effectLst>
            <a:outerShdw blurRad="63500" dist="25400" dir="5400000" algn="bl" rotWithShape="0">
              <a:srgbClr val="1B1F3B">
                <a:alpha val="10000"/>
              </a:srgbClr>
            </a:outerShdw>
          </a:effectLst>
        </p:spPr>
      </p:sp>
      <p:sp>
        <p:nvSpPr>
          <p:cNvPr id="13" name="Shape 9"/>
          <p:cNvSpPr/>
          <p:nvPr/>
        </p:nvSpPr>
        <p:spPr>
          <a:xfrm>
            <a:off x="5815584" y="1810512"/>
            <a:ext cx="548640" cy="548640"/>
          </a:xfrm>
          <a:prstGeom prst="ellipse">
            <a:avLst/>
          </a:prstGeom>
          <a:solidFill>
            <a:srgbClr val="6C3CE9"/>
          </a:solidFill>
          <a:ln/>
        </p:spPr>
      </p:sp>
      <p:pic>
        <p:nvPicPr>
          <p:cNvPr id="14" name="Image 2" descr="preencoded.png"/>
          <p:cNvPicPr>
            <a:picLocks noChangeAspect="1"/>
          </p:cNvPicPr>
          <p:nvPr/>
        </p:nvPicPr>
        <p:blipFill>
          <a:blip r:embed="rId5"/>
          <a:stretch>
            <a:fillRect/>
          </a:stretch>
        </p:blipFill>
        <p:spPr>
          <a:xfrm>
            <a:off x="5958230" y="1953158"/>
            <a:ext cx="263347" cy="263347"/>
          </a:xfrm>
          <a:prstGeom prst="rect">
            <a:avLst/>
          </a:prstGeom>
        </p:spPr>
      </p:pic>
      <p:sp>
        <p:nvSpPr>
          <p:cNvPr id="15" name="Text 10"/>
          <p:cNvSpPr/>
          <p:nvPr/>
        </p:nvSpPr>
        <p:spPr>
          <a:xfrm>
            <a:off x="5120640" y="2514600"/>
            <a:ext cx="1938528" cy="640080"/>
          </a:xfrm>
          <a:prstGeom prst="rect">
            <a:avLst/>
          </a:prstGeom>
          <a:noFill/>
          <a:ln/>
        </p:spPr>
        <p:txBody>
          <a:bodyPr wrap="square" rtlCol="0" anchor="t"/>
          <a:lstStyle/>
          <a:p>
            <a:pPr marL="0" indent="0" algn="ctr">
              <a:buNone/>
            </a:pPr>
            <a:r>
              <a:rPr lang="en-US" sz="1150" b="1" dirty="0">
                <a:solidFill>
                  <a:srgbClr val="1B1F3B"/>
                </a:solidFill>
                <a:latin typeface="Cambria" pitchFamily="34" charset="0"/>
                <a:ea typeface="Cambria" pitchFamily="34" charset="-122"/>
                <a:cs typeface="Cambria" pitchFamily="34" charset="-120"/>
              </a:rPr>
              <a:t>Recommendation Engine</a:t>
            </a:r>
            <a:endParaRPr lang="en-US" sz="1150" dirty="0"/>
          </a:p>
        </p:txBody>
      </p:sp>
      <p:sp>
        <p:nvSpPr>
          <p:cNvPr id="16" name="Shape 11"/>
          <p:cNvSpPr/>
          <p:nvPr/>
        </p:nvSpPr>
        <p:spPr>
          <a:xfrm>
            <a:off x="7269480" y="1554480"/>
            <a:ext cx="2121408" cy="1737360"/>
          </a:xfrm>
          <a:prstGeom prst="roundRect">
            <a:avLst>
              <a:gd name="adj" fmla="val 6316"/>
            </a:avLst>
          </a:prstGeom>
          <a:solidFill>
            <a:srgbClr val="FFFFFF"/>
          </a:solidFill>
          <a:ln/>
          <a:effectLst>
            <a:outerShdw blurRad="63500" dist="25400" dir="5400000" algn="bl" rotWithShape="0">
              <a:srgbClr val="1B1F3B">
                <a:alpha val="10000"/>
              </a:srgbClr>
            </a:outerShdw>
          </a:effectLst>
        </p:spPr>
      </p:sp>
      <p:sp>
        <p:nvSpPr>
          <p:cNvPr id="17" name="Shape 12"/>
          <p:cNvSpPr/>
          <p:nvPr/>
        </p:nvSpPr>
        <p:spPr>
          <a:xfrm>
            <a:off x="8055864" y="1810512"/>
            <a:ext cx="548640" cy="548640"/>
          </a:xfrm>
          <a:prstGeom prst="ellipse">
            <a:avLst/>
          </a:prstGeom>
          <a:solidFill>
            <a:srgbClr val="2F5CFF"/>
          </a:solidFill>
          <a:ln/>
        </p:spPr>
      </p:sp>
      <p:pic>
        <p:nvPicPr>
          <p:cNvPr id="18" name="Image 3" descr="preencoded.png"/>
          <p:cNvPicPr>
            <a:picLocks noChangeAspect="1"/>
          </p:cNvPicPr>
          <p:nvPr/>
        </p:nvPicPr>
        <p:blipFill>
          <a:blip r:embed="rId6"/>
          <a:stretch>
            <a:fillRect/>
          </a:stretch>
        </p:blipFill>
        <p:spPr>
          <a:xfrm>
            <a:off x="8198510" y="1953158"/>
            <a:ext cx="263347" cy="263347"/>
          </a:xfrm>
          <a:prstGeom prst="rect">
            <a:avLst/>
          </a:prstGeom>
        </p:spPr>
      </p:pic>
      <p:sp>
        <p:nvSpPr>
          <p:cNvPr id="19" name="Text 13"/>
          <p:cNvSpPr/>
          <p:nvPr/>
        </p:nvSpPr>
        <p:spPr>
          <a:xfrm>
            <a:off x="7360920" y="2514600"/>
            <a:ext cx="1938528" cy="640080"/>
          </a:xfrm>
          <a:prstGeom prst="rect">
            <a:avLst/>
          </a:prstGeom>
          <a:noFill/>
          <a:ln/>
        </p:spPr>
        <p:txBody>
          <a:bodyPr wrap="square" rtlCol="0" anchor="t"/>
          <a:lstStyle/>
          <a:p>
            <a:pPr marL="0" indent="0" algn="ctr">
              <a:buNone/>
            </a:pPr>
            <a:r>
              <a:rPr lang="en-US" sz="1150" b="1" dirty="0">
                <a:solidFill>
                  <a:srgbClr val="1B1F3B"/>
                </a:solidFill>
                <a:latin typeface="Cambria" pitchFamily="34" charset="0"/>
                <a:ea typeface="Cambria" pitchFamily="34" charset="-122"/>
                <a:cs typeface="Cambria" pitchFamily="34" charset="-120"/>
              </a:rPr>
              <a:t>Analytics Dashboard</a:t>
            </a:r>
            <a:endParaRPr lang="en-US" sz="1150" dirty="0"/>
          </a:p>
        </p:txBody>
      </p:sp>
      <p:sp>
        <p:nvSpPr>
          <p:cNvPr id="20" name="Shape 14"/>
          <p:cNvSpPr/>
          <p:nvPr/>
        </p:nvSpPr>
        <p:spPr>
          <a:xfrm>
            <a:off x="9509760" y="1554480"/>
            <a:ext cx="2121408" cy="1737360"/>
          </a:xfrm>
          <a:prstGeom prst="roundRect">
            <a:avLst>
              <a:gd name="adj" fmla="val 6316"/>
            </a:avLst>
          </a:prstGeom>
          <a:solidFill>
            <a:srgbClr val="FFFFFF"/>
          </a:solidFill>
          <a:ln/>
          <a:effectLst>
            <a:outerShdw blurRad="63500" dist="25400" dir="5400000" algn="bl" rotWithShape="0">
              <a:srgbClr val="1B1F3B">
                <a:alpha val="10000"/>
              </a:srgbClr>
            </a:outerShdw>
          </a:effectLst>
        </p:spPr>
      </p:sp>
      <p:sp>
        <p:nvSpPr>
          <p:cNvPr id="21" name="Shape 15"/>
          <p:cNvSpPr/>
          <p:nvPr/>
        </p:nvSpPr>
        <p:spPr>
          <a:xfrm>
            <a:off x="10296144" y="1810512"/>
            <a:ext cx="548640" cy="548640"/>
          </a:xfrm>
          <a:prstGeom prst="ellipse">
            <a:avLst/>
          </a:prstGeom>
          <a:solidFill>
            <a:srgbClr val="6C3CE9"/>
          </a:solidFill>
          <a:ln/>
        </p:spPr>
      </p:sp>
      <p:pic>
        <p:nvPicPr>
          <p:cNvPr id="22" name="Image 4" descr="preencoded.png"/>
          <p:cNvPicPr>
            <a:picLocks noChangeAspect="1"/>
          </p:cNvPicPr>
          <p:nvPr/>
        </p:nvPicPr>
        <p:blipFill>
          <a:blip r:embed="rId7"/>
          <a:stretch>
            <a:fillRect/>
          </a:stretch>
        </p:blipFill>
        <p:spPr>
          <a:xfrm>
            <a:off x="10438790" y="1953158"/>
            <a:ext cx="263347" cy="263347"/>
          </a:xfrm>
          <a:prstGeom prst="rect">
            <a:avLst/>
          </a:prstGeom>
        </p:spPr>
      </p:pic>
      <p:sp>
        <p:nvSpPr>
          <p:cNvPr id="23" name="Text 16"/>
          <p:cNvSpPr/>
          <p:nvPr/>
        </p:nvSpPr>
        <p:spPr>
          <a:xfrm>
            <a:off x="9601200" y="2514600"/>
            <a:ext cx="1938528" cy="640080"/>
          </a:xfrm>
          <a:prstGeom prst="rect">
            <a:avLst/>
          </a:prstGeom>
          <a:noFill/>
          <a:ln/>
        </p:spPr>
        <p:txBody>
          <a:bodyPr wrap="square" rtlCol="0" anchor="t"/>
          <a:lstStyle/>
          <a:p>
            <a:pPr marL="0" indent="0" algn="ctr">
              <a:buNone/>
            </a:pPr>
            <a:r>
              <a:rPr lang="en-US" sz="1150" b="1" dirty="0">
                <a:solidFill>
                  <a:srgbClr val="1B1F3B"/>
                </a:solidFill>
                <a:latin typeface="Cambria" pitchFamily="34" charset="0"/>
                <a:ea typeface="Cambria" pitchFamily="34" charset="-122"/>
                <a:cs typeface="Cambria" pitchFamily="34" charset="-120"/>
              </a:rPr>
              <a:t>Data Visualization</a:t>
            </a:r>
            <a:endParaRPr lang="en-US" sz="1150" dirty="0"/>
          </a:p>
        </p:txBody>
      </p:sp>
      <p:sp>
        <p:nvSpPr>
          <p:cNvPr id="24" name="Shape 17"/>
          <p:cNvSpPr/>
          <p:nvPr/>
        </p:nvSpPr>
        <p:spPr>
          <a:xfrm>
            <a:off x="548640" y="3474720"/>
            <a:ext cx="2121408" cy="1737360"/>
          </a:xfrm>
          <a:prstGeom prst="roundRect">
            <a:avLst>
              <a:gd name="adj" fmla="val 6316"/>
            </a:avLst>
          </a:prstGeom>
          <a:solidFill>
            <a:srgbClr val="FFFFFF"/>
          </a:solidFill>
          <a:ln/>
          <a:effectLst>
            <a:outerShdw blurRad="63500" dist="25400" dir="5400000" algn="bl" rotWithShape="0">
              <a:srgbClr val="1B1F3B">
                <a:alpha val="10000"/>
              </a:srgbClr>
            </a:outerShdw>
          </a:effectLst>
        </p:spPr>
      </p:sp>
      <p:sp>
        <p:nvSpPr>
          <p:cNvPr id="25" name="Shape 18"/>
          <p:cNvSpPr/>
          <p:nvPr/>
        </p:nvSpPr>
        <p:spPr>
          <a:xfrm>
            <a:off x="1335024" y="3730752"/>
            <a:ext cx="548640" cy="548640"/>
          </a:xfrm>
          <a:prstGeom prst="ellipse">
            <a:avLst/>
          </a:prstGeom>
          <a:solidFill>
            <a:srgbClr val="2F5CFF"/>
          </a:solidFill>
          <a:ln/>
        </p:spPr>
      </p:sp>
      <p:pic>
        <p:nvPicPr>
          <p:cNvPr id="26" name="Image 5" descr="preencoded.png"/>
          <p:cNvPicPr>
            <a:picLocks noChangeAspect="1"/>
          </p:cNvPicPr>
          <p:nvPr/>
        </p:nvPicPr>
        <p:blipFill>
          <a:blip r:embed="rId8"/>
          <a:stretch>
            <a:fillRect/>
          </a:stretch>
        </p:blipFill>
        <p:spPr>
          <a:xfrm>
            <a:off x="1477670" y="3873398"/>
            <a:ext cx="263347" cy="263347"/>
          </a:xfrm>
          <a:prstGeom prst="rect">
            <a:avLst/>
          </a:prstGeom>
        </p:spPr>
      </p:pic>
      <p:sp>
        <p:nvSpPr>
          <p:cNvPr id="27" name="Text 19"/>
          <p:cNvSpPr/>
          <p:nvPr/>
        </p:nvSpPr>
        <p:spPr>
          <a:xfrm>
            <a:off x="640080" y="4434840"/>
            <a:ext cx="1938528" cy="640080"/>
          </a:xfrm>
          <a:prstGeom prst="rect">
            <a:avLst/>
          </a:prstGeom>
          <a:noFill/>
          <a:ln/>
        </p:spPr>
        <p:txBody>
          <a:bodyPr wrap="square" rtlCol="0" anchor="t"/>
          <a:lstStyle/>
          <a:p>
            <a:pPr marL="0" indent="0" algn="ctr">
              <a:buNone/>
            </a:pPr>
            <a:r>
              <a:rPr lang="en-US" sz="1150" b="1" dirty="0">
                <a:solidFill>
                  <a:srgbClr val="1B1F3B"/>
                </a:solidFill>
                <a:latin typeface="Cambria" pitchFamily="34" charset="0"/>
                <a:ea typeface="Cambria" pitchFamily="34" charset="-122"/>
                <a:cs typeface="Cambria" pitchFamily="34" charset="-120"/>
              </a:rPr>
              <a:t>Prediction History</a:t>
            </a:r>
            <a:endParaRPr lang="en-US" sz="1150" dirty="0"/>
          </a:p>
        </p:txBody>
      </p:sp>
      <p:sp>
        <p:nvSpPr>
          <p:cNvPr id="28" name="Shape 20"/>
          <p:cNvSpPr/>
          <p:nvPr/>
        </p:nvSpPr>
        <p:spPr>
          <a:xfrm>
            <a:off x="2788920" y="3474720"/>
            <a:ext cx="2121408" cy="1737360"/>
          </a:xfrm>
          <a:prstGeom prst="roundRect">
            <a:avLst>
              <a:gd name="adj" fmla="val 6316"/>
            </a:avLst>
          </a:prstGeom>
          <a:solidFill>
            <a:srgbClr val="FFFFFF"/>
          </a:solidFill>
          <a:ln/>
          <a:effectLst>
            <a:outerShdw blurRad="63500" dist="25400" dir="5400000" algn="bl" rotWithShape="0">
              <a:srgbClr val="1B1F3B">
                <a:alpha val="10000"/>
              </a:srgbClr>
            </a:outerShdw>
          </a:effectLst>
        </p:spPr>
      </p:sp>
      <p:sp>
        <p:nvSpPr>
          <p:cNvPr id="29" name="Shape 21"/>
          <p:cNvSpPr/>
          <p:nvPr/>
        </p:nvSpPr>
        <p:spPr>
          <a:xfrm>
            <a:off x="3575304" y="3730752"/>
            <a:ext cx="548640" cy="548640"/>
          </a:xfrm>
          <a:prstGeom prst="ellipse">
            <a:avLst/>
          </a:prstGeom>
          <a:solidFill>
            <a:srgbClr val="6C3CE9"/>
          </a:solidFill>
          <a:ln/>
        </p:spPr>
      </p:sp>
      <p:pic>
        <p:nvPicPr>
          <p:cNvPr id="30" name="Image 6" descr="preencoded.png"/>
          <p:cNvPicPr>
            <a:picLocks noChangeAspect="1"/>
          </p:cNvPicPr>
          <p:nvPr/>
        </p:nvPicPr>
        <p:blipFill>
          <a:blip r:embed="rId9"/>
          <a:stretch>
            <a:fillRect/>
          </a:stretch>
        </p:blipFill>
        <p:spPr>
          <a:xfrm>
            <a:off x="3717950" y="3873398"/>
            <a:ext cx="263347" cy="263347"/>
          </a:xfrm>
          <a:prstGeom prst="rect">
            <a:avLst/>
          </a:prstGeom>
        </p:spPr>
      </p:pic>
      <p:sp>
        <p:nvSpPr>
          <p:cNvPr id="31" name="Text 22"/>
          <p:cNvSpPr/>
          <p:nvPr/>
        </p:nvSpPr>
        <p:spPr>
          <a:xfrm>
            <a:off x="2880360" y="4434840"/>
            <a:ext cx="1938528" cy="640080"/>
          </a:xfrm>
          <a:prstGeom prst="rect">
            <a:avLst/>
          </a:prstGeom>
          <a:noFill/>
          <a:ln/>
        </p:spPr>
        <p:txBody>
          <a:bodyPr wrap="square" rtlCol="0" anchor="t"/>
          <a:lstStyle/>
          <a:p>
            <a:pPr marL="0" indent="0" algn="ctr">
              <a:buNone/>
            </a:pPr>
            <a:r>
              <a:rPr lang="en-US" sz="1150" b="1" dirty="0">
                <a:solidFill>
                  <a:srgbClr val="1B1F3B"/>
                </a:solidFill>
                <a:latin typeface="Cambria" pitchFamily="34" charset="0"/>
                <a:ea typeface="Cambria" pitchFamily="34" charset="-122"/>
                <a:cs typeface="Cambria" pitchFamily="34" charset="-120"/>
              </a:rPr>
              <a:t>Responsive UI</a:t>
            </a:r>
            <a:endParaRPr lang="en-US" sz="1150" dirty="0"/>
          </a:p>
        </p:txBody>
      </p:sp>
      <p:sp>
        <p:nvSpPr>
          <p:cNvPr id="32" name="Shape 23"/>
          <p:cNvSpPr/>
          <p:nvPr/>
        </p:nvSpPr>
        <p:spPr>
          <a:xfrm>
            <a:off x="5029200" y="3474720"/>
            <a:ext cx="2121408" cy="1737360"/>
          </a:xfrm>
          <a:prstGeom prst="roundRect">
            <a:avLst>
              <a:gd name="adj" fmla="val 6316"/>
            </a:avLst>
          </a:prstGeom>
          <a:solidFill>
            <a:srgbClr val="FFFFFF"/>
          </a:solidFill>
          <a:ln/>
          <a:effectLst>
            <a:outerShdw blurRad="63500" dist="25400" dir="5400000" algn="bl" rotWithShape="0">
              <a:srgbClr val="1B1F3B">
                <a:alpha val="10000"/>
              </a:srgbClr>
            </a:outerShdw>
          </a:effectLst>
        </p:spPr>
      </p:sp>
      <p:sp>
        <p:nvSpPr>
          <p:cNvPr id="33" name="Shape 24"/>
          <p:cNvSpPr/>
          <p:nvPr/>
        </p:nvSpPr>
        <p:spPr>
          <a:xfrm>
            <a:off x="5815584" y="3730752"/>
            <a:ext cx="548640" cy="548640"/>
          </a:xfrm>
          <a:prstGeom prst="ellipse">
            <a:avLst/>
          </a:prstGeom>
          <a:solidFill>
            <a:srgbClr val="2F5CFF"/>
          </a:solidFill>
          <a:ln/>
        </p:spPr>
      </p:sp>
      <p:pic>
        <p:nvPicPr>
          <p:cNvPr id="34" name="Image 7" descr="preencoded.png"/>
          <p:cNvPicPr>
            <a:picLocks noChangeAspect="1"/>
          </p:cNvPicPr>
          <p:nvPr/>
        </p:nvPicPr>
        <p:blipFill>
          <a:blip r:embed="rId10"/>
          <a:stretch>
            <a:fillRect/>
          </a:stretch>
        </p:blipFill>
        <p:spPr>
          <a:xfrm>
            <a:off x="5958230" y="3873398"/>
            <a:ext cx="263347" cy="263347"/>
          </a:xfrm>
          <a:prstGeom prst="rect">
            <a:avLst/>
          </a:prstGeom>
        </p:spPr>
      </p:pic>
      <p:sp>
        <p:nvSpPr>
          <p:cNvPr id="35" name="Text 25"/>
          <p:cNvSpPr/>
          <p:nvPr/>
        </p:nvSpPr>
        <p:spPr>
          <a:xfrm>
            <a:off x="5120640" y="4434840"/>
            <a:ext cx="1938528" cy="640080"/>
          </a:xfrm>
          <a:prstGeom prst="rect">
            <a:avLst/>
          </a:prstGeom>
          <a:noFill/>
          <a:ln/>
        </p:spPr>
        <p:txBody>
          <a:bodyPr wrap="square" rtlCol="0" anchor="t"/>
          <a:lstStyle/>
          <a:p>
            <a:pPr marL="0" indent="0" algn="ctr">
              <a:buNone/>
            </a:pPr>
            <a:r>
              <a:rPr lang="en-US" sz="1150" b="1" dirty="0">
                <a:solidFill>
                  <a:srgbClr val="1B1F3B"/>
                </a:solidFill>
                <a:latin typeface="Cambria" pitchFamily="34" charset="0"/>
                <a:ea typeface="Cambria" pitchFamily="34" charset="-122"/>
                <a:cs typeface="Cambria" pitchFamily="34" charset="-120"/>
              </a:rPr>
              <a:t>Database Integration</a:t>
            </a:r>
            <a:endParaRPr lang="en-US" sz="1150" dirty="0"/>
          </a:p>
        </p:txBody>
      </p:sp>
      <p:sp>
        <p:nvSpPr>
          <p:cNvPr id="36" name="Shape 26"/>
          <p:cNvSpPr/>
          <p:nvPr/>
        </p:nvSpPr>
        <p:spPr>
          <a:xfrm>
            <a:off x="7269480" y="3474720"/>
            <a:ext cx="2121408" cy="1737360"/>
          </a:xfrm>
          <a:prstGeom prst="roundRect">
            <a:avLst>
              <a:gd name="adj" fmla="val 6316"/>
            </a:avLst>
          </a:prstGeom>
          <a:solidFill>
            <a:srgbClr val="FFFFFF"/>
          </a:solidFill>
          <a:ln/>
          <a:effectLst>
            <a:outerShdw blurRad="63500" dist="25400" dir="5400000" algn="bl" rotWithShape="0">
              <a:srgbClr val="1B1F3B">
                <a:alpha val="10000"/>
              </a:srgbClr>
            </a:outerShdw>
          </a:effectLst>
        </p:spPr>
      </p:sp>
      <p:sp>
        <p:nvSpPr>
          <p:cNvPr id="37" name="Shape 27"/>
          <p:cNvSpPr/>
          <p:nvPr/>
        </p:nvSpPr>
        <p:spPr>
          <a:xfrm>
            <a:off x="8055864" y="3730752"/>
            <a:ext cx="548640" cy="548640"/>
          </a:xfrm>
          <a:prstGeom prst="ellipse">
            <a:avLst/>
          </a:prstGeom>
          <a:solidFill>
            <a:srgbClr val="6C3CE9"/>
          </a:solidFill>
          <a:ln/>
        </p:spPr>
      </p:sp>
      <p:pic>
        <p:nvPicPr>
          <p:cNvPr id="38" name="Image 8" descr="preencoded.png"/>
          <p:cNvPicPr>
            <a:picLocks noChangeAspect="1"/>
          </p:cNvPicPr>
          <p:nvPr/>
        </p:nvPicPr>
        <p:blipFill>
          <a:blip r:embed="rId11"/>
          <a:stretch>
            <a:fillRect/>
          </a:stretch>
        </p:blipFill>
        <p:spPr>
          <a:xfrm>
            <a:off x="8198510" y="3873398"/>
            <a:ext cx="263347" cy="263347"/>
          </a:xfrm>
          <a:prstGeom prst="rect">
            <a:avLst/>
          </a:prstGeom>
        </p:spPr>
      </p:pic>
      <p:sp>
        <p:nvSpPr>
          <p:cNvPr id="39" name="Text 28"/>
          <p:cNvSpPr/>
          <p:nvPr/>
        </p:nvSpPr>
        <p:spPr>
          <a:xfrm>
            <a:off x="7360920" y="4434840"/>
            <a:ext cx="1938528" cy="640080"/>
          </a:xfrm>
          <a:prstGeom prst="rect">
            <a:avLst/>
          </a:prstGeom>
          <a:noFill/>
          <a:ln/>
        </p:spPr>
        <p:txBody>
          <a:bodyPr wrap="square" rtlCol="0" anchor="t"/>
          <a:lstStyle/>
          <a:p>
            <a:pPr marL="0" indent="0" algn="ctr">
              <a:buNone/>
            </a:pPr>
            <a:r>
              <a:rPr lang="en-US" sz="1150" b="1" dirty="0">
                <a:solidFill>
                  <a:srgbClr val="1B1F3B"/>
                </a:solidFill>
                <a:latin typeface="Cambria" pitchFamily="34" charset="0"/>
                <a:ea typeface="Cambria" pitchFamily="34" charset="-122"/>
                <a:cs typeface="Cambria" pitchFamily="34" charset="-120"/>
              </a:rPr>
              <a:t>Report Export</a:t>
            </a:r>
            <a:endParaRPr lang="en-US" sz="1150" dirty="0"/>
          </a:p>
        </p:txBody>
      </p:sp>
      <p:sp>
        <p:nvSpPr>
          <p:cNvPr id="40" name="Shape 29"/>
          <p:cNvSpPr/>
          <p:nvPr/>
        </p:nvSpPr>
        <p:spPr>
          <a:xfrm>
            <a:off x="9509760" y="3474720"/>
            <a:ext cx="2121408" cy="1737360"/>
          </a:xfrm>
          <a:prstGeom prst="roundRect">
            <a:avLst>
              <a:gd name="adj" fmla="val 6316"/>
            </a:avLst>
          </a:prstGeom>
          <a:solidFill>
            <a:srgbClr val="FFFFFF"/>
          </a:solidFill>
          <a:ln/>
          <a:effectLst>
            <a:outerShdw blurRad="63500" dist="25400" dir="5400000" algn="bl" rotWithShape="0">
              <a:srgbClr val="1B1F3B">
                <a:alpha val="10000"/>
              </a:srgbClr>
            </a:outerShdw>
          </a:effectLst>
        </p:spPr>
      </p:sp>
      <p:sp>
        <p:nvSpPr>
          <p:cNvPr id="41" name="Shape 30"/>
          <p:cNvSpPr/>
          <p:nvPr/>
        </p:nvSpPr>
        <p:spPr>
          <a:xfrm>
            <a:off x="10296144" y="3730752"/>
            <a:ext cx="548640" cy="548640"/>
          </a:xfrm>
          <a:prstGeom prst="ellipse">
            <a:avLst/>
          </a:prstGeom>
          <a:solidFill>
            <a:srgbClr val="2F5CFF"/>
          </a:solidFill>
          <a:ln/>
        </p:spPr>
      </p:sp>
      <p:pic>
        <p:nvPicPr>
          <p:cNvPr id="42" name="Image 9" descr="preencoded.png"/>
          <p:cNvPicPr>
            <a:picLocks noChangeAspect="1"/>
          </p:cNvPicPr>
          <p:nvPr/>
        </p:nvPicPr>
        <p:blipFill>
          <a:blip r:embed="rId12"/>
          <a:stretch>
            <a:fillRect/>
          </a:stretch>
        </p:blipFill>
        <p:spPr>
          <a:xfrm>
            <a:off x="10438790" y="3873398"/>
            <a:ext cx="263347" cy="263347"/>
          </a:xfrm>
          <a:prstGeom prst="rect">
            <a:avLst/>
          </a:prstGeom>
        </p:spPr>
      </p:pic>
      <p:sp>
        <p:nvSpPr>
          <p:cNvPr id="43" name="Text 31"/>
          <p:cNvSpPr/>
          <p:nvPr/>
        </p:nvSpPr>
        <p:spPr>
          <a:xfrm>
            <a:off x="9601200" y="4434840"/>
            <a:ext cx="1938528" cy="640080"/>
          </a:xfrm>
          <a:prstGeom prst="rect">
            <a:avLst/>
          </a:prstGeom>
          <a:noFill/>
          <a:ln/>
        </p:spPr>
        <p:txBody>
          <a:bodyPr wrap="square" rtlCol="0" anchor="t"/>
          <a:lstStyle/>
          <a:p>
            <a:pPr marL="0" indent="0" algn="ctr">
              <a:buNone/>
            </a:pPr>
            <a:r>
              <a:rPr lang="en-US" sz="1150" b="1" dirty="0">
                <a:solidFill>
                  <a:srgbClr val="1B1F3B"/>
                </a:solidFill>
                <a:latin typeface="Cambria" pitchFamily="34" charset="0"/>
                <a:ea typeface="Cambria" pitchFamily="34" charset="-122"/>
                <a:cs typeface="Cambria" pitchFamily="34" charset="-120"/>
              </a:rPr>
              <a:t>User Authentication</a:t>
            </a:r>
            <a:endParaRPr lang="en-US" sz="1150" dirty="0"/>
          </a:p>
        </p:txBody>
      </p:sp>
      <p:sp>
        <p:nvSpPr>
          <p:cNvPr id="44" name="Text 32"/>
          <p:cNvSpPr/>
          <p:nvPr/>
        </p:nvSpPr>
        <p:spPr>
          <a:xfrm>
            <a:off x="11475720" y="6510528"/>
            <a:ext cx="548640" cy="274320"/>
          </a:xfrm>
          <a:prstGeom prst="rect">
            <a:avLst/>
          </a:prstGeom>
          <a:noFill/>
          <a:ln/>
        </p:spPr>
        <p:txBody>
          <a:bodyPr wrap="square" rtlCol="0" anchor="ctr"/>
          <a:lstStyle/>
          <a:p>
            <a:pPr marL="0" indent="0" algn="r">
              <a:buNone/>
            </a:pPr>
            <a:r>
              <a:rPr lang="en-US" sz="1000" dirty="0">
                <a:solidFill>
                  <a:srgbClr val="6E7488"/>
                </a:solidFill>
                <a:latin typeface="Calibri" pitchFamily="34" charset="0"/>
                <a:ea typeface="Calibri" pitchFamily="34" charset="-122"/>
                <a:cs typeface="Calibri" pitchFamily="34" charset="-120"/>
              </a:rPr>
              <a:t>11</a:t>
            </a:r>
            <a:endParaRPr lang="en-US" sz="10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6F7FD"/>
        </a:solidFill>
        <a:effectLst/>
      </p:bgPr>
    </p:bg>
    <p:spTree>
      <p:nvGrpSpPr>
        <p:cNvPr id="1" name=""/>
        <p:cNvGrpSpPr/>
        <p:nvPr/>
      </p:nvGrpSpPr>
      <p:grpSpPr>
        <a:xfrm>
          <a:off x="0" y="0"/>
          <a:ext cx="0" cy="0"/>
          <a:chOff x="0" y="0"/>
          <a:chExt cx="0" cy="0"/>
        </a:xfrm>
      </p:grpSpPr>
      <p:sp>
        <p:nvSpPr>
          <p:cNvPr id="2" name="Text 0"/>
          <p:cNvSpPr/>
          <p:nvPr/>
        </p:nvSpPr>
        <p:spPr>
          <a:xfrm>
            <a:off x="548640" y="320040"/>
            <a:ext cx="7315200" cy="320040"/>
          </a:xfrm>
          <a:prstGeom prst="rect">
            <a:avLst/>
          </a:prstGeom>
          <a:noFill/>
          <a:ln/>
        </p:spPr>
        <p:txBody>
          <a:bodyPr wrap="square" rtlCol="0" anchor="ctr"/>
          <a:lstStyle/>
          <a:p>
            <a:pPr marL="0" indent="0">
              <a:buNone/>
            </a:pPr>
            <a:r>
              <a:rPr lang="en-US" sz="1300" b="1" kern="0" spc="200" dirty="0">
                <a:solidFill>
                  <a:srgbClr val="6C3CE9"/>
                </a:solidFill>
                <a:latin typeface="Calibri" pitchFamily="34" charset="0"/>
                <a:ea typeface="Calibri" pitchFamily="34" charset="-122"/>
                <a:cs typeface="Calibri" pitchFamily="34" charset="-120"/>
              </a:rPr>
              <a:t>ENGINEERING</a:t>
            </a:r>
            <a:endParaRPr lang="en-US" sz="1300" dirty="0"/>
          </a:p>
        </p:txBody>
      </p:sp>
      <p:sp>
        <p:nvSpPr>
          <p:cNvPr id="3" name="Text 1"/>
          <p:cNvSpPr/>
          <p:nvPr/>
        </p:nvSpPr>
        <p:spPr>
          <a:xfrm>
            <a:off x="548640" y="621792"/>
            <a:ext cx="10515600" cy="685800"/>
          </a:xfrm>
          <a:prstGeom prst="rect">
            <a:avLst/>
          </a:prstGeom>
          <a:noFill/>
          <a:ln/>
        </p:spPr>
        <p:txBody>
          <a:bodyPr wrap="square" rtlCol="0" anchor="ctr"/>
          <a:lstStyle/>
          <a:p>
            <a:pPr marL="0" indent="0">
              <a:buNone/>
            </a:pPr>
            <a:r>
              <a:rPr lang="en-US" sz="3200" b="1" dirty="0">
                <a:solidFill>
                  <a:srgbClr val="1B1F3B"/>
                </a:solidFill>
                <a:latin typeface="Cambria" pitchFamily="34" charset="0"/>
                <a:ea typeface="Cambria" pitchFamily="34" charset="-122"/>
                <a:cs typeface="Cambria" pitchFamily="34" charset="-120"/>
              </a:rPr>
              <a:t>Challenges &amp; Solutions</a:t>
            </a:r>
            <a:endParaRPr lang="en-US" sz="3200" dirty="0"/>
          </a:p>
        </p:txBody>
      </p:sp>
      <p:sp>
        <p:nvSpPr>
          <p:cNvPr id="4" name="Shape 2"/>
          <p:cNvSpPr/>
          <p:nvPr/>
        </p:nvSpPr>
        <p:spPr>
          <a:xfrm>
            <a:off x="548640" y="1508760"/>
            <a:ext cx="5394960" cy="502920"/>
          </a:xfrm>
          <a:prstGeom prst="roundRect">
            <a:avLst>
              <a:gd name="adj" fmla="val 14545"/>
            </a:avLst>
          </a:prstGeom>
          <a:solidFill>
            <a:srgbClr val="141A45"/>
          </a:solidFill>
          <a:ln/>
        </p:spPr>
      </p:sp>
      <p:sp>
        <p:nvSpPr>
          <p:cNvPr id="5" name="Text 3"/>
          <p:cNvSpPr/>
          <p:nvPr/>
        </p:nvSpPr>
        <p:spPr>
          <a:xfrm>
            <a:off x="548640" y="1508760"/>
            <a:ext cx="5394960" cy="502920"/>
          </a:xfrm>
          <a:prstGeom prst="rect">
            <a:avLst/>
          </a:prstGeom>
          <a:noFill/>
          <a:ln/>
        </p:spPr>
        <p:txBody>
          <a:bodyPr wrap="square" rtlCol="0" anchor="ctr"/>
          <a:lstStyle/>
          <a:p>
            <a:pPr marL="0" indent="0" algn="ctr">
              <a:buNone/>
            </a:pPr>
            <a:r>
              <a:rPr lang="en-US" sz="1500" b="1" dirty="0">
                <a:solidFill>
                  <a:srgbClr val="FFFFFF"/>
                </a:solidFill>
                <a:latin typeface="Cambria" pitchFamily="34" charset="0"/>
                <a:ea typeface="Cambria" pitchFamily="34" charset="-122"/>
                <a:cs typeface="Cambria" pitchFamily="34" charset="-120"/>
              </a:rPr>
              <a:t>Challenge</a:t>
            </a:r>
            <a:endParaRPr lang="en-US" sz="1500" dirty="0"/>
          </a:p>
        </p:txBody>
      </p:sp>
      <p:sp>
        <p:nvSpPr>
          <p:cNvPr id="6" name="Shape 4"/>
          <p:cNvSpPr/>
          <p:nvPr/>
        </p:nvSpPr>
        <p:spPr>
          <a:xfrm>
            <a:off x="6172200" y="1508760"/>
            <a:ext cx="5440680" cy="502920"/>
          </a:xfrm>
          <a:prstGeom prst="roundRect">
            <a:avLst>
              <a:gd name="adj" fmla="val 14545"/>
            </a:avLst>
          </a:prstGeom>
          <a:solidFill>
            <a:srgbClr val="6C3CE9"/>
          </a:solidFill>
          <a:ln/>
        </p:spPr>
      </p:sp>
      <p:sp>
        <p:nvSpPr>
          <p:cNvPr id="7" name="Text 5"/>
          <p:cNvSpPr/>
          <p:nvPr/>
        </p:nvSpPr>
        <p:spPr>
          <a:xfrm>
            <a:off x="6172200" y="1508760"/>
            <a:ext cx="5440680" cy="502920"/>
          </a:xfrm>
          <a:prstGeom prst="rect">
            <a:avLst/>
          </a:prstGeom>
          <a:noFill/>
          <a:ln/>
        </p:spPr>
        <p:txBody>
          <a:bodyPr wrap="square" rtlCol="0" anchor="ctr"/>
          <a:lstStyle/>
          <a:p>
            <a:pPr marL="0" indent="0" algn="ctr">
              <a:buNone/>
            </a:pPr>
            <a:r>
              <a:rPr lang="en-US" sz="1500" b="1" dirty="0">
                <a:solidFill>
                  <a:srgbClr val="FFFFFF"/>
                </a:solidFill>
                <a:latin typeface="Cambria" pitchFamily="34" charset="0"/>
                <a:ea typeface="Cambria" pitchFamily="34" charset="-122"/>
                <a:cs typeface="Cambria" pitchFamily="34" charset="-120"/>
              </a:rPr>
              <a:t>Solution</a:t>
            </a:r>
            <a:endParaRPr lang="en-US" sz="1500" dirty="0"/>
          </a:p>
        </p:txBody>
      </p:sp>
      <p:sp>
        <p:nvSpPr>
          <p:cNvPr id="8" name="Shape 6"/>
          <p:cNvSpPr/>
          <p:nvPr/>
        </p:nvSpPr>
        <p:spPr>
          <a:xfrm>
            <a:off x="548640" y="2130552"/>
            <a:ext cx="5394960" cy="786384"/>
          </a:xfrm>
          <a:prstGeom prst="rect">
            <a:avLst/>
          </a:prstGeom>
          <a:solidFill>
            <a:srgbClr val="FFFFFF"/>
          </a:solidFill>
          <a:ln/>
        </p:spPr>
      </p:sp>
      <p:sp>
        <p:nvSpPr>
          <p:cNvPr id="9" name="Text 7"/>
          <p:cNvSpPr/>
          <p:nvPr/>
        </p:nvSpPr>
        <p:spPr>
          <a:xfrm>
            <a:off x="777240" y="2130552"/>
            <a:ext cx="5029200" cy="786384"/>
          </a:xfrm>
          <a:prstGeom prst="rect">
            <a:avLst/>
          </a:prstGeom>
          <a:noFill/>
          <a:ln/>
        </p:spPr>
        <p:txBody>
          <a:bodyPr wrap="square" rtlCol="0" anchor="ctr"/>
          <a:lstStyle/>
          <a:p>
            <a:pPr marL="0" indent="0">
              <a:buNone/>
            </a:pPr>
            <a:r>
              <a:rPr lang="en-US" sz="1300" b="1" dirty="0">
                <a:solidFill>
                  <a:srgbClr val="1B1F3B"/>
                </a:solidFill>
                <a:latin typeface="Cambria" pitchFamily="34" charset="0"/>
                <a:ea typeface="Cambria" pitchFamily="34" charset="-122"/>
                <a:cs typeface="Cambria" pitchFamily="34" charset="-120"/>
              </a:rPr>
              <a:t>Data Cleaning</a:t>
            </a:r>
            <a:endParaRPr lang="en-US" sz="1300" dirty="0"/>
          </a:p>
        </p:txBody>
      </p:sp>
      <p:sp>
        <p:nvSpPr>
          <p:cNvPr id="10" name="Shape 8"/>
          <p:cNvSpPr/>
          <p:nvPr/>
        </p:nvSpPr>
        <p:spPr>
          <a:xfrm>
            <a:off x="6172200" y="2130552"/>
            <a:ext cx="5440680" cy="786384"/>
          </a:xfrm>
          <a:prstGeom prst="rect">
            <a:avLst/>
          </a:prstGeom>
          <a:solidFill>
            <a:srgbClr val="FFFFFF"/>
          </a:solidFill>
          <a:ln/>
        </p:spPr>
      </p:sp>
      <p:sp>
        <p:nvSpPr>
          <p:cNvPr id="11" name="Text 9"/>
          <p:cNvSpPr/>
          <p:nvPr/>
        </p:nvSpPr>
        <p:spPr>
          <a:xfrm>
            <a:off x="6400800" y="2130552"/>
            <a:ext cx="5029200" cy="786384"/>
          </a:xfrm>
          <a:prstGeom prst="rect">
            <a:avLst/>
          </a:prstGeom>
          <a:noFill/>
          <a:ln/>
        </p:spPr>
        <p:txBody>
          <a:bodyPr wrap="square" rtlCol="0" anchor="ctr"/>
          <a:lstStyle/>
          <a:p>
            <a:pPr marL="0" indent="0">
              <a:lnSpc>
                <a:spcPct val="110000"/>
              </a:lnSpc>
              <a:buNone/>
            </a:pPr>
            <a:r>
              <a:rPr lang="en-US" sz="1100" dirty="0">
                <a:solidFill>
                  <a:srgbClr val="6E7488"/>
                </a:solidFill>
                <a:latin typeface="Calibri" pitchFamily="34" charset="0"/>
                <a:ea typeface="Calibri" pitchFamily="34" charset="-122"/>
                <a:cs typeface="Calibri" pitchFamily="34" charset="-120"/>
              </a:rPr>
              <a:t>Automated pipeline for missing values, duplicates &amp; IQR-based outlier removal.</a:t>
            </a:r>
            <a:endParaRPr lang="en-US" sz="1100" dirty="0"/>
          </a:p>
        </p:txBody>
      </p:sp>
      <p:sp>
        <p:nvSpPr>
          <p:cNvPr id="12" name="Shape 10"/>
          <p:cNvSpPr/>
          <p:nvPr/>
        </p:nvSpPr>
        <p:spPr>
          <a:xfrm>
            <a:off x="548640" y="2916936"/>
            <a:ext cx="5394960" cy="786384"/>
          </a:xfrm>
          <a:prstGeom prst="rect">
            <a:avLst/>
          </a:prstGeom>
          <a:solidFill>
            <a:srgbClr val="EEF0FB"/>
          </a:solidFill>
          <a:ln/>
        </p:spPr>
      </p:sp>
      <p:sp>
        <p:nvSpPr>
          <p:cNvPr id="13" name="Text 11"/>
          <p:cNvSpPr/>
          <p:nvPr/>
        </p:nvSpPr>
        <p:spPr>
          <a:xfrm>
            <a:off x="777240" y="2916936"/>
            <a:ext cx="5029200" cy="786384"/>
          </a:xfrm>
          <a:prstGeom prst="rect">
            <a:avLst/>
          </a:prstGeom>
          <a:noFill/>
          <a:ln/>
        </p:spPr>
        <p:txBody>
          <a:bodyPr wrap="square" rtlCol="0" anchor="ctr"/>
          <a:lstStyle/>
          <a:p>
            <a:pPr marL="0" indent="0">
              <a:buNone/>
            </a:pPr>
            <a:r>
              <a:rPr lang="en-US" sz="1300" b="1" dirty="0">
                <a:solidFill>
                  <a:srgbClr val="1B1F3B"/>
                </a:solidFill>
                <a:latin typeface="Cambria" pitchFamily="34" charset="0"/>
                <a:ea typeface="Cambria" pitchFamily="34" charset="-122"/>
                <a:cs typeface="Cambria" pitchFamily="34" charset="-120"/>
              </a:rPr>
              <a:t>Model Selection</a:t>
            </a:r>
            <a:endParaRPr lang="en-US" sz="1300" dirty="0"/>
          </a:p>
        </p:txBody>
      </p:sp>
      <p:sp>
        <p:nvSpPr>
          <p:cNvPr id="14" name="Shape 12"/>
          <p:cNvSpPr/>
          <p:nvPr/>
        </p:nvSpPr>
        <p:spPr>
          <a:xfrm>
            <a:off x="6172200" y="2916936"/>
            <a:ext cx="5440680" cy="786384"/>
          </a:xfrm>
          <a:prstGeom prst="rect">
            <a:avLst/>
          </a:prstGeom>
          <a:solidFill>
            <a:srgbClr val="EEF0FB"/>
          </a:solidFill>
          <a:ln/>
        </p:spPr>
      </p:sp>
      <p:sp>
        <p:nvSpPr>
          <p:cNvPr id="15" name="Text 13"/>
          <p:cNvSpPr/>
          <p:nvPr/>
        </p:nvSpPr>
        <p:spPr>
          <a:xfrm>
            <a:off x="6400800" y="2916936"/>
            <a:ext cx="5029200" cy="786384"/>
          </a:xfrm>
          <a:prstGeom prst="rect">
            <a:avLst/>
          </a:prstGeom>
          <a:noFill/>
          <a:ln/>
        </p:spPr>
        <p:txBody>
          <a:bodyPr wrap="square" rtlCol="0" anchor="ctr"/>
          <a:lstStyle/>
          <a:p>
            <a:pPr marL="0" indent="0">
              <a:lnSpc>
                <a:spcPct val="110000"/>
              </a:lnSpc>
              <a:buNone/>
            </a:pPr>
            <a:r>
              <a:rPr lang="en-US" sz="1100" dirty="0">
                <a:solidFill>
                  <a:srgbClr val="6E7488"/>
                </a:solidFill>
                <a:latin typeface="Calibri" pitchFamily="34" charset="0"/>
                <a:ea typeface="Calibri" pitchFamily="34" charset="-122"/>
                <a:cs typeface="Calibri" pitchFamily="34" charset="-120"/>
              </a:rPr>
              <a:t>Benchmarked 5 algorithms on identical splits; chose by weighted F1 &amp; accuracy.</a:t>
            </a:r>
            <a:endParaRPr lang="en-US" sz="1100" dirty="0"/>
          </a:p>
        </p:txBody>
      </p:sp>
      <p:sp>
        <p:nvSpPr>
          <p:cNvPr id="16" name="Shape 14"/>
          <p:cNvSpPr/>
          <p:nvPr/>
        </p:nvSpPr>
        <p:spPr>
          <a:xfrm>
            <a:off x="548640" y="3703320"/>
            <a:ext cx="5394960" cy="786384"/>
          </a:xfrm>
          <a:prstGeom prst="rect">
            <a:avLst/>
          </a:prstGeom>
          <a:solidFill>
            <a:srgbClr val="FFFFFF"/>
          </a:solidFill>
          <a:ln/>
        </p:spPr>
      </p:sp>
      <p:sp>
        <p:nvSpPr>
          <p:cNvPr id="17" name="Text 15"/>
          <p:cNvSpPr/>
          <p:nvPr/>
        </p:nvSpPr>
        <p:spPr>
          <a:xfrm>
            <a:off x="777240" y="3703320"/>
            <a:ext cx="5029200" cy="786384"/>
          </a:xfrm>
          <a:prstGeom prst="rect">
            <a:avLst/>
          </a:prstGeom>
          <a:noFill/>
          <a:ln/>
        </p:spPr>
        <p:txBody>
          <a:bodyPr wrap="square" rtlCol="0" anchor="ctr"/>
          <a:lstStyle/>
          <a:p>
            <a:pPr marL="0" indent="0">
              <a:buNone/>
            </a:pPr>
            <a:r>
              <a:rPr lang="en-US" sz="1300" b="1" dirty="0">
                <a:solidFill>
                  <a:srgbClr val="1B1F3B"/>
                </a:solidFill>
                <a:latin typeface="Cambria" pitchFamily="34" charset="0"/>
                <a:ea typeface="Cambria" pitchFamily="34" charset="-122"/>
                <a:cs typeface="Cambria" pitchFamily="34" charset="-120"/>
              </a:rPr>
              <a:t>Feature Engineering</a:t>
            </a:r>
            <a:endParaRPr lang="en-US" sz="1300" dirty="0"/>
          </a:p>
        </p:txBody>
      </p:sp>
      <p:sp>
        <p:nvSpPr>
          <p:cNvPr id="18" name="Shape 16"/>
          <p:cNvSpPr/>
          <p:nvPr/>
        </p:nvSpPr>
        <p:spPr>
          <a:xfrm>
            <a:off x="6172200" y="3703320"/>
            <a:ext cx="5440680" cy="786384"/>
          </a:xfrm>
          <a:prstGeom prst="rect">
            <a:avLst/>
          </a:prstGeom>
          <a:solidFill>
            <a:srgbClr val="FFFFFF"/>
          </a:solidFill>
          <a:ln/>
        </p:spPr>
      </p:sp>
      <p:sp>
        <p:nvSpPr>
          <p:cNvPr id="19" name="Text 17"/>
          <p:cNvSpPr/>
          <p:nvPr/>
        </p:nvSpPr>
        <p:spPr>
          <a:xfrm>
            <a:off x="6400800" y="3703320"/>
            <a:ext cx="5029200" cy="786384"/>
          </a:xfrm>
          <a:prstGeom prst="rect">
            <a:avLst/>
          </a:prstGeom>
          <a:noFill/>
          <a:ln/>
        </p:spPr>
        <p:txBody>
          <a:bodyPr wrap="square" rtlCol="0" anchor="ctr"/>
          <a:lstStyle/>
          <a:p>
            <a:pPr marL="0" indent="0">
              <a:lnSpc>
                <a:spcPct val="110000"/>
              </a:lnSpc>
              <a:buNone/>
            </a:pPr>
            <a:r>
              <a:rPr lang="en-US" sz="1100" dirty="0">
                <a:solidFill>
                  <a:srgbClr val="6E7488"/>
                </a:solidFill>
                <a:latin typeface="Calibri" pitchFamily="34" charset="0"/>
                <a:ea typeface="Calibri" pitchFamily="34" charset="-122"/>
                <a:cs typeface="Calibri" pitchFamily="34" charset="-120"/>
              </a:rPr>
              <a:t>Correlation analysis &amp; domain knowledge to pick the most predictive fields.</a:t>
            </a:r>
            <a:endParaRPr lang="en-US" sz="1100" dirty="0"/>
          </a:p>
        </p:txBody>
      </p:sp>
      <p:sp>
        <p:nvSpPr>
          <p:cNvPr id="20" name="Shape 18"/>
          <p:cNvSpPr/>
          <p:nvPr/>
        </p:nvSpPr>
        <p:spPr>
          <a:xfrm>
            <a:off x="548640" y="4489704"/>
            <a:ext cx="5394960" cy="786384"/>
          </a:xfrm>
          <a:prstGeom prst="rect">
            <a:avLst/>
          </a:prstGeom>
          <a:solidFill>
            <a:srgbClr val="EEF0FB"/>
          </a:solidFill>
          <a:ln/>
        </p:spPr>
      </p:sp>
      <p:sp>
        <p:nvSpPr>
          <p:cNvPr id="21" name="Text 19"/>
          <p:cNvSpPr/>
          <p:nvPr/>
        </p:nvSpPr>
        <p:spPr>
          <a:xfrm>
            <a:off x="777240" y="4489704"/>
            <a:ext cx="5029200" cy="786384"/>
          </a:xfrm>
          <a:prstGeom prst="rect">
            <a:avLst/>
          </a:prstGeom>
          <a:noFill/>
          <a:ln/>
        </p:spPr>
        <p:txBody>
          <a:bodyPr wrap="square" rtlCol="0" anchor="ctr"/>
          <a:lstStyle/>
          <a:p>
            <a:pPr marL="0" indent="0">
              <a:buNone/>
            </a:pPr>
            <a:r>
              <a:rPr lang="en-US" sz="1300" b="1" dirty="0">
                <a:solidFill>
                  <a:srgbClr val="1B1F3B"/>
                </a:solidFill>
                <a:latin typeface="Cambria" pitchFamily="34" charset="0"/>
                <a:ea typeface="Cambria" pitchFamily="34" charset="-122"/>
                <a:cs typeface="Cambria" pitchFamily="34" charset="-120"/>
              </a:rPr>
              <a:t>Model Accuracy</a:t>
            </a:r>
            <a:endParaRPr lang="en-US" sz="1300" dirty="0"/>
          </a:p>
        </p:txBody>
      </p:sp>
      <p:sp>
        <p:nvSpPr>
          <p:cNvPr id="22" name="Shape 20"/>
          <p:cNvSpPr/>
          <p:nvPr/>
        </p:nvSpPr>
        <p:spPr>
          <a:xfrm>
            <a:off x="6172200" y="4489704"/>
            <a:ext cx="5440680" cy="786384"/>
          </a:xfrm>
          <a:prstGeom prst="rect">
            <a:avLst/>
          </a:prstGeom>
          <a:solidFill>
            <a:srgbClr val="EEF0FB"/>
          </a:solidFill>
          <a:ln/>
        </p:spPr>
      </p:sp>
      <p:sp>
        <p:nvSpPr>
          <p:cNvPr id="23" name="Text 21"/>
          <p:cNvSpPr/>
          <p:nvPr/>
        </p:nvSpPr>
        <p:spPr>
          <a:xfrm>
            <a:off x="6400800" y="4489704"/>
            <a:ext cx="5029200" cy="786384"/>
          </a:xfrm>
          <a:prstGeom prst="rect">
            <a:avLst/>
          </a:prstGeom>
          <a:noFill/>
          <a:ln/>
        </p:spPr>
        <p:txBody>
          <a:bodyPr wrap="square" rtlCol="0" anchor="ctr"/>
          <a:lstStyle/>
          <a:p>
            <a:pPr marL="0" indent="0">
              <a:lnSpc>
                <a:spcPct val="110000"/>
              </a:lnSpc>
              <a:buNone/>
            </a:pPr>
            <a:r>
              <a:rPr lang="en-US" sz="1100" dirty="0">
                <a:solidFill>
                  <a:srgbClr val="6E7488"/>
                </a:solidFill>
                <a:latin typeface="Calibri" pitchFamily="34" charset="0"/>
                <a:ea typeface="Calibri" pitchFamily="34" charset="-122"/>
                <a:cs typeface="Calibri" pitchFamily="34" charset="-120"/>
              </a:rPr>
              <a:t>Hyperparameter tuning and ensembling (200 trees, depth 20) to reduce variance.</a:t>
            </a:r>
            <a:endParaRPr lang="en-US" sz="1100" dirty="0"/>
          </a:p>
        </p:txBody>
      </p:sp>
      <p:sp>
        <p:nvSpPr>
          <p:cNvPr id="24" name="Shape 22"/>
          <p:cNvSpPr/>
          <p:nvPr/>
        </p:nvSpPr>
        <p:spPr>
          <a:xfrm>
            <a:off x="548640" y="5276088"/>
            <a:ext cx="5394960" cy="786384"/>
          </a:xfrm>
          <a:prstGeom prst="rect">
            <a:avLst/>
          </a:prstGeom>
          <a:solidFill>
            <a:srgbClr val="FFFFFF"/>
          </a:solidFill>
          <a:ln/>
        </p:spPr>
      </p:sp>
      <p:sp>
        <p:nvSpPr>
          <p:cNvPr id="25" name="Text 23"/>
          <p:cNvSpPr/>
          <p:nvPr/>
        </p:nvSpPr>
        <p:spPr>
          <a:xfrm>
            <a:off x="777240" y="5276088"/>
            <a:ext cx="5029200" cy="786384"/>
          </a:xfrm>
          <a:prstGeom prst="rect">
            <a:avLst/>
          </a:prstGeom>
          <a:noFill/>
          <a:ln/>
        </p:spPr>
        <p:txBody>
          <a:bodyPr wrap="square" rtlCol="0" anchor="ctr"/>
          <a:lstStyle/>
          <a:p>
            <a:pPr marL="0" indent="0">
              <a:buNone/>
            </a:pPr>
            <a:r>
              <a:rPr lang="en-US" sz="1300" b="1" dirty="0">
                <a:solidFill>
                  <a:srgbClr val="1B1F3B"/>
                </a:solidFill>
                <a:latin typeface="Cambria" pitchFamily="34" charset="0"/>
                <a:ea typeface="Cambria" pitchFamily="34" charset="-122"/>
                <a:cs typeface="Cambria" pitchFamily="34" charset="-120"/>
              </a:rPr>
              <a:t>UI Development</a:t>
            </a:r>
            <a:endParaRPr lang="en-US" sz="1300" dirty="0"/>
          </a:p>
        </p:txBody>
      </p:sp>
      <p:sp>
        <p:nvSpPr>
          <p:cNvPr id="26" name="Shape 24"/>
          <p:cNvSpPr/>
          <p:nvPr/>
        </p:nvSpPr>
        <p:spPr>
          <a:xfrm>
            <a:off x="6172200" y="5276088"/>
            <a:ext cx="5440680" cy="786384"/>
          </a:xfrm>
          <a:prstGeom prst="rect">
            <a:avLst/>
          </a:prstGeom>
          <a:solidFill>
            <a:srgbClr val="FFFFFF"/>
          </a:solidFill>
          <a:ln/>
        </p:spPr>
      </p:sp>
      <p:sp>
        <p:nvSpPr>
          <p:cNvPr id="27" name="Text 25"/>
          <p:cNvSpPr/>
          <p:nvPr/>
        </p:nvSpPr>
        <p:spPr>
          <a:xfrm>
            <a:off x="6400800" y="5276088"/>
            <a:ext cx="5029200" cy="786384"/>
          </a:xfrm>
          <a:prstGeom prst="rect">
            <a:avLst/>
          </a:prstGeom>
          <a:noFill/>
          <a:ln/>
        </p:spPr>
        <p:txBody>
          <a:bodyPr wrap="square" rtlCol="0" anchor="ctr"/>
          <a:lstStyle/>
          <a:p>
            <a:pPr marL="0" indent="0">
              <a:lnSpc>
                <a:spcPct val="110000"/>
              </a:lnSpc>
              <a:buNone/>
            </a:pPr>
            <a:r>
              <a:rPr lang="en-US" sz="1100" dirty="0">
                <a:solidFill>
                  <a:srgbClr val="6E7488"/>
                </a:solidFill>
                <a:latin typeface="Calibri" pitchFamily="34" charset="0"/>
                <a:ea typeface="Calibri" pitchFamily="34" charset="-122"/>
                <a:cs typeface="Calibri" pitchFamily="34" charset="-120"/>
              </a:rPr>
              <a:t>Adopted Bootstrap 5 with a component-based template structure for consistency.</a:t>
            </a:r>
            <a:endParaRPr lang="en-US" sz="1100" dirty="0"/>
          </a:p>
        </p:txBody>
      </p:sp>
      <p:sp>
        <p:nvSpPr>
          <p:cNvPr id="28" name="Text 26"/>
          <p:cNvSpPr/>
          <p:nvPr/>
        </p:nvSpPr>
        <p:spPr>
          <a:xfrm>
            <a:off x="11475720" y="6510528"/>
            <a:ext cx="548640" cy="274320"/>
          </a:xfrm>
          <a:prstGeom prst="rect">
            <a:avLst/>
          </a:prstGeom>
          <a:noFill/>
          <a:ln/>
        </p:spPr>
        <p:txBody>
          <a:bodyPr wrap="square" rtlCol="0" anchor="ctr"/>
          <a:lstStyle/>
          <a:p>
            <a:pPr marL="0" indent="0" algn="r">
              <a:buNone/>
            </a:pPr>
            <a:r>
              <a:rPr lang="en-US" sz="1000" dirty="0">
                <a:solidFill>
                  <a:srgbClr val="6E7488"/>
                </a:solidFill>
                <a:latin typeface="Calibri" pitchFamily="34" charset="0"/>
                <a:ea typeface="Calibri" pitchFamily="34" charset="-122"/>
                <a:cs typeface="Calibri" pitchFamily="34" charset="-120"/>
              </a:rPr>
              <a:t>12</a:t>
            </a:r>
            <a:endParaRPr lang="en-US" sz="10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6F7FD"/>
        </a:solidFill>
        <a:effectLst/>
      </p:bgPr>
    </p:bg>
    <p:spTree>
      <p:nvGrpSpPr>
        <p:cNvPr id="1" name=""/>
        <p:cNvGrpSpPr/>
        <p:nvPr/>
      </p:nvGrpSpPr>
      <p:grpSpPr>
        <a:xfrm>
          <a:off x="0" y="0"/>
          <a:ext cx="0" cy="0"/>
          <a:chOff x="0" y="0"/>
          <a:chExt cx="0" cy="0"/>
        </a:xfrm>
      </p:grpSpPr>
      <p:sp>
        <p:nvSpPr>
          <p:cNvPr id="2" name="Text 0"/>
          <p:cNvSpPr/>
          <p:nvPr/>
        </p:nvSpPr>
        <p:spPr>
          <a:xfrm>
            <a:off x="548640" y="320040"/>
            <a:ext cx="7315200" cy="320040"/>
          </a:xfrm>
          <a:prstGeom prst="rect">
            <a:avLst/>
          </a:prstGeom>
          <a:noFill/>
          <a:ln/>
        </p:spPr>
        <p:txBody>
          <a:bodyPr wrap="square" rtlCol="0" anchor="ctr"/>
          <a:lstStyle/>
          <a:p>
            <a:pPr marL="0" indent="0">
              <a:buNone/>
            </a:pPr>
            <a:r>
              <a:rPr lang="en-US" sz="1300" b="1" kern="0" spc="200" dirty="0">
                <a:solidFill>
                  <a:srgbClr val="6C3CE9"/>
                </a:solidFill>
                <a:latin typeface="Calibri" pitchFamily="34" charset="0"/>
                <a:ea typeface="Calibri" pitchFamily="34" charset="-122"/>
                <a:cs typeface="Calibri" pitchFamily="34" charset="-120"/>
              </a:rPr>
              <a:t>ROADMAP</a:t>
            </a:r>
            <a:endParaRPr lang="en-US" sz="1300" dirty="0"/>
          </a:p>
        </p:txBody>
      </p:sp>
      <p:sp>
        <p:nvSpPr>
          <p:cNvPr id="3" name="Text 1"/>
          <p:cNvSpPr/>
          <p:nvPr/>
        </p:nvSpPr>
        <p:spPr>
          <a:xfrm>
            <a:off x="548640" y="621792"/>
            <a:ext cx="10515600" cy="685800"/>
          </a:xfrm>
          <a:prstGeom prst="rect">
            <a:avLst/>
          </a:prstGeom>
          <a:noFill/>
          <a:ln/>
        </p:spPr>
        <p:txBody>
          <a:bodyPr wrap="square" rtlCol="0" anchor="ctr"/>
          <a:lstStyle/>
          <a:p>
            <a:pPr marL="0" indent="0">
              <a:buNone/>
            </a:pPr>
            <a:r>
              <a:rPr lang="en-US" sz="3200" b="1" dirty="0">
                <a:solidFill>
                  <a:srgbClr val="1B1F3B"/>
                </a:solidFill>
                <a:latin typeface="Cambria" pitchFamily="34" charset="0"/>
                <a:ea typeface="Cambria" pitchFamily="34" charset="-122"/>
                <a:cs typeface="Cambria" pitchFamily="34" charset="-120"/>
              </a:rPr>
              <a:t>Future Enhancements</a:t>
            </a:r>
            <a:endParaRPr lang="en-US" sz="3200" dirty="0"/>
          </a:p>
        </p:txBody>
      </p:sp>
      <p:sp>
        <p:nvSpPr>
          <p:cNvPr id="4" name="Shape 2"/>
          <p:cNvSpPr/>
          <p:nvPr/>
        </p:nvSpPr>
        <p:spPr>
          <a:xfrm>
            <a:off x="548640" y="1600200"/>
            <a:ext cx="3584448" cy="1417320"/>
          </a:xfrm>
          <a:prstGeom prst="roundRect">
            <a:avLst>
              <a:gd name="adj" fmla="val 7742"/>
            </a:avLst>
          </a:prstGeom>
          <a:solidFill>
            <a:srgbClr val="FFFFFF"/>
          </a:solidFill>
          <a:ln/>
          <a:effectLst>
            <a:outerShdw blurRad="63500" dist="25400" dir="5400000" algn="bl" rotWithShape="0">
              <a:srgbClr val="1B1F3B">
                <a:alpha val="10000"/>
              </a:srgbClr>
            </a:outerShdw>
          </a:effectLst>
        </p:spPr>
      </p:sp>
      <p:sp>
        <p:nvSpPr>
          <p:cNvPr id="5" name="Shape 3"/>
          <p:cNvSpPr/>
          <p:nvPr/>
        </p:nvSpPr>
        <p:spPr>
          <a:xfrm>
            <a:off x="777240" y="2025396"/>
            <a:ext cx="566928" cy="566928"/>
          </a:xfrm>
          <a:prstGeom prst="ellipse">
            <a:avLst/>
          </a:prstGeom>
          <a:solidFill>
            <a:srgbClr val="2F5CFF"/>
          </a:solidFill>
          <a:ln/>
        </p:spPr>
      </p:sp>
      <p:pic>
        <p:nvPicPr>
          <p:cNvPr id="6" name="Image 0" descr="preencoded.png"/>
          <p:cNvPicPr>
            <a:picLocks noChangeAspect="1"/>
          </p:cNvPicPr>
          <p:nvPr/>
        </p:nvPicPr>
        <p:blipFill>
          <a:blip r:embed="rId3"/>
          <a:stretch>
            <a:fillRect/>
          </a:stretch>
        </p:blipFill>
        <p:spPr>
          <a:xfrm>
            <a:off x="924641" y="2172797"/>
            <a:ext cx="272125" cy="272125"/>
          </a:xfrm>
          <a:prstGeom prst="rect">
            <a:avLst/>
          </a:prstGeom>
        </p:spPr>
      </p:pic>
      <p:sp>
        <p:nvSpPr>
          <p:cNvPr id="7" name="Text 4"/>
          <p:cNvSpPr/>
          <p:nvPr/>
        </p:nvSpPr>
        <p:spPr>
          <a:xfrm>
            <a:off x="1508760" y="1600200"/>
            <a:ext cx="2487168" cy="1417320"/>
          </a:xfrm>
          <a:prstGeom prst="rect">
            <a:avLst/>
          </a:prstGeom>
          <a:noFill/>
          <a:ln/>
        </p:spPr>
        <p:txBody>
          <a:bodyPr wrap="square" rtlCol="0" anchor="ctr"/>
          <a:lstStyle/>
          <a:p>
            <a:pPr marL="0" indent="0">
              <a:buNone/>
            </a:pPr>
            <a:r>
              <a:rPr lang="en-US" sz="1400" b="1" dirty="0">
                <a:solidFill>
                  <a:srgbClr val="1B1F3B"/>
                </a:solidFill>
                <a:latin typeface="Cambria" pitchFamily="34" charset="0"/>
                <a:ea typeface="Cambria" pitchFamily="34" charset="-122"/>
                <a:cs typeface="Cambria" pitchFamily="34" charset="-120"/>
              </a:rPr>
              <a:t>Deep Learning Models</a:t>
            </a:r>
            <a:endParaRPr lang="en-US" sz="1400" dirty="0"/>
          </a:p>
        </p:txBody>
      </p:sp>
      <p:sp>
        <p:nvSpPr>
          <p:cNvPr id="8" name="Shape 5"/>
          <p:cNvSpPr/>
          <p:nvPr/>
        </p:nvSpPr>
        <p:spPr>
          <a:xfrm>
            <a:off x="4297680" y="1600200"/>
            <a:ext cx="3584448" cy="1417320"/>
          </a:xfrm>
          <a:prstGeom prst="roundRect">
            <a:avLst>
              <a:gd name="adj" fmla="val 7742"/>
            </a:avLst>
          </a:prstGeom>
          <a:solidFill>
            <a:srgbClr val="FFFFFF"/>
          </a:solidFill>
          <a:ln/>
          <a:effectLst>
            <a:outerShdw blurRad="63500" dist="25400" dir="5400000" algn="bl" rotWithShape="0">
              <a:srgbClr val="1B1F3B">
                <a:alpha val="10000"/>
              </a:srgbClr>
            </a:outerShdw>
          </a:effectLst>
        </p:spPr>
      </p:sp>
      <p:sp>
        <p:nvSpPr>
          <p:cNvPr id="9" name="Shape 6"/>
          <p:cNvSpPr/>
          <p:nvPr/>
        </p:nvSpPr>
        <p:spPr>
          <a:xfrm>
            <a:off x="4526280" y="2025396"/>
            <a:ext cx="566928" cy="566928"/>
          </a:xfrm>
          <a:prstGeom prst="ellipse">
            <a:avLst/>
          </a:prstGeom>
          <a:solidFill>
            <a:srgbClr val="6C3CE9"/>
          </a:solidFill>
          <a:ln/>
        </p:spPr>
      </p:sp>
      <p:pic>
        <p:nvPicPr>
          <p:cNvPr id="10" name="Image 1" descr="preencoded.png"/>
          <p:cNvPicPr>
            <a:picLocks noChangeAspect="1"/>
          </p:cNvPicPr>
          <p:nvPr/>
        </p:nvPicPr>
        <p:blipFill>
          <a:blip r:embed="rId4"/>
          <a:stretch>
            <a:fillRect/>
          </a:stretch>
        </p:blipFill>
        <p:spPr>
          <a:xfrm>
            <a:off x="4673681" y="2172797"/>
            <a:ext cx="272125" cy="272125"/>
          </a:xfrm>
          <a:prstGeom prst="rect">
            <a:avLst/>
          </a:prstGeom>
        </p:spPr>
      </p:pic>
      <p:sp>
        <p:nvSpPr>
          <p:cNvPr id="11" name="Text 7"/>
          <p:cNvSpPr/>
          <p:nvPr/>
        </p:nvSpPr>
        <p:spPr>
          <a:xfrm>
            <a:off x="5257800" y="1600200"/>
            <a:ext cx="2487168" cy="1417320"/>
          </a:xfrm>
          <a:prstGeom prst="rect">
            <a:avLst/>
          </a:prstGeom>
          <a:noFill/>
          <a:ln/>
        </p:spPr>
        <p:txBody>
          <a:bodyPr wrap="square" rtlCol="0" anchor="ctr"/>
          <a:lstStyle/>
          <a:p>
            <a:pPr marL="0" indent="0">
              <a:buNone/>
            </a:pPr>
            <a:r>
              <a:rPr lang="en-US" sz="1400" b="1" dirty="0">
                <a:solidFill>
                  <a:srgbClr val="1B1F3B"/>
                </a:solidFill>
                <a:latin typeface="Cambria" pitchFamily="34" charset="0"/>
                <a:ea typeface="Cambria" pitchFamily="34" charset="-122"/>
                <a:cs typeface="Cambria" pitchFamily="34" charset="-120"/>
              </a:rPr>
              <a:t>Cloud Deployment</a:t>
            </a:r>
            <a:endParaRPr lang="en-US" sz="1400" dirty="0"/>
          </a:p>
        </p:txBody>
      </p:sp>
      <p:sp>
        <p:nvSpPr>
          <p:cNvPr id="12" name="Shape 8"/>
          <p:cNvSpPr/>
          <p:nvPr/>
        </p:nvSpPr>
        <p:spPr>
          <a:xfrm>
            <a:off x="8046720" y="1600200"/>
            <a:ext cx="3584448" cy="1417320"/>
          </a:xfrm>
          <a:prstGeom prst="roundRect">
            <a:avLst>
              <a:gd name="adj" fmla="val 7742"/>
            </a:avLst>
          </a:prstGeom>
          <a:solidFill>
            <a:srgbClr val="FFFFFF"/>
          </a:solidFill>
          <a:ln/>
          <a:effectLst>
            <a:outerShdw blurRad="63500" dist="25400" dir="5400000" algn="bl" rotWithShape="0">
              <a:srgbClr val="1B1F3B">
                <a:alpha val="10000"/>
              </a:srgbClr>
            </a:outerShdw>
          </a:effectLst>
        </p:spPr>
      </p:sp>
      <p:sp>
        <p:nvSpPr>
          <p:cNvPr id="13" name="Shape 9"/>
          <p:cNvSpPr/>
          <p:nvPr/>
        </p:nvSpPr>
        <p:spPr>
          <a:xfrm>
            <a:off x="8275320" y="2025396"/>
            <a:ext cx="566928" cy="566928"/>
          </a:xfrm>
          <a:prstGeom prst="ellipse">
            <a:avLst/>
          </a:prstGeom>
          <a:solidFill>
            <a:srgbClr val="2F5CFF"/>
          </a:solidFill>
          <a:ln/>
        </p:spPr>
      </p:sp>
      <p:pic>
        <p:nvPicPr>
          <p:cNvPr id="14" name="Image 2" descr="preencoded.png"/>
          <p:cNvPicPr>
            <a:picLocks noChangeAspect="1"/>
          </p:cNvPicPr>
          <p:nvPr/>
        </p:nvPicPr>
        <p:blipFill>
          <a:blip r:embed="rId5"/>
          <a:stretch>
            <a:fillRect/>
          </a:stretch>
        </p:blipFill>
        <p:spPr>
          <a:xfrm>
            <a:off x="8422721" y="2172797"/>
            <a:ext cx="272125" cy="272125"/>
          </a:xfrm>
          <a:prstGeom prst="rect">
            <a:avLst/>
          </a:prstGeom>
        </p:spPr>
      </p:pic>
      <p:sp>
        <p:nvSpPr>
          <p:cNvPr id="15" name="Text 10"/>
          <p:cNvSpPr/>
          <p:nvPr/>
        </p:nvSpPr>
        <p:spPr>
          <a:xfrm>
            <a:off x="9006840" y="1600200"/>
            <a:ext cx="2487168" cy="1417320"/>
          </a:xfrm>
          <a:prstGeom prst="rect">
            <a:avLst/>
          </a:prstGeom>
          <a:noFill/>
          <a:ln/>
        </p:spPr>
        <p:txBody>
          <a:bodyPr wrap="square" rtlCol="0" anchor="ctr"/>
          <a:lstStyle/>
          <a:p>
            <a:pPr marL="0" indent="0">
              <a:buNone/>
            </a:pPr>
            <a:r>
              <a:rPr lang="en-US" sz="1400" b="1" dirty="0">
                <a:solidFill>
                  <a:srgbClr val="1B1F3B"/>
                </a:solidFill>
                <a:latin typeface="Cambria" pitchFamily="34" charset="0"/>
                <a:ea typeface="Cambria" pitchFamily="34" charset="-122"/>
                <a:cs typeface="Cambria" pitchFamily="34" charset="-120"/>
              </a:rPr>
              <a:t>Mobile Application</a:t>
            </a:r>
            <a:endParaRPr lang="en-US" sz="1400" dirty="0"/>
          </a:p>
        </p:txBody>
      </p:sp>
      <p:sp>
        <p:nvSpPr>
          <p:cNvPr id="16" name="Shape 11"/>
          <p:cNvSpPr/>
          <p:nvPr/>
        </p:nvSpPr>
        <p:spPr>
          <a:xfrm>
            <a:off x="548640" y="3200400"/>
            <a:ext cx="3584448" cy="1417320"/>
          </a:xfrm>
          <a:prstGeom prst="roundRect">
            <a:avLst>
              <a:gd name="adj" fmla="val 7742"/>
            </a:avLst>
          </a:prstGeom>
          <a:solidFill>
            <a:srgbClr val="FFFFFF"/>
          </a:solidFill>
          <a:ln/>
          <a:effectLst>
            <a:outerShdw blurRad="63500" dist="25400" dir="5400000" algn="bl" rotWithShape="0">
              <a:srgbClr val="1B1F3B">
                <a:alpha val="10000"/>
              </a:srgbClr>
            </a:outerShdw>
          </a:effectLst>
        </p:spPr>
      </p:sp>
      <p:sp>
        <p:nvSpPr>
          <p:cNvPr id="17" name="Shape 12"/>
          <p:cNvSpPr/>
          <p:nvPr/>
        </p:nvSpPr>
        <p:spPr>
          <a:xfrm>
            <a:off x="777240" y="3625596"/>
            <a:ext cx="566928" cy="566928"/>
          </a:xfrm>
          <a:prstGeom prst="ellipse">
            <a:avLst/>
          </a:prstGeom>
          <a:solidFill>
            <a:srgbClr val="6C3CE9"/>
          </a:solidFill>
          <a:ln/>
        </p:spPr>
      </p:sp>
      <p:pic>
        <p:nvPicPr>
          <p:cNvPr id="18" name="Image 3" descr="preencoded.png"/>
          <p:cNvPicPr>
            <a:picLocks noChangeAspect="1"/>
          </p:cNvPicPr>
          <p:nvPr/>
        </p:nvPicPr>
        <p:blipFill>
          <a:blip r:embed="rId6"/>
          <a:stretch>
            <a:fillRect/>
          </a:stretch>
        </p:blipFill>
        <p:spPr>
          <a:xfrm>
            <a:off x="924641" y="3772997"/>
            <a:ext cx="272125" cy="272125"/>
          </a:xfrm>
          <a:prstGeom prst="rect">
            <a:avLst/>
          </a:prstGeom>
        </p:spPr>
      </p:pic>
      <p:sp>
        <p:nvSpPr>
          <p:cNvPr id="19" name="Text 13"/>
          <p:cNvSpPr/>
          <p:nvPr/>
        </p:nvSpPr>
        <p:spPr>
          <a:xfrm>
            <a:off x="1508760" y="3200400"/>
            <a:ext cx="2487168" cy="1417320"/>
          </a:xfrm>
          <a:prstGeom prst="rect">
            <a:avLst/>
          </a:prstGeom>
          <a:noFill/>
          <a:ln/>
        </p:spPr>
        <p:txBody>
          <a:bodyPr wrap="square" rtlCol="0" anchor="ctr"/>
          <a:lstStyle/>
          <a:p>
            <a:pPr marL="0" indent="0">
              <a:buNone/>
            </a:pPr>
            <a:r>
              <a:rPr lang="en-US" sz="1400" b="1" dirty="0">
                <a:solidFill>
                  <a:srgbClr val="1B1F3B"/>
                </a:solidFill>
                <a:latin typeface="Cambria" pitchFamily="34" charset="0"/>
                <a:ea typeface="Cambria" pitchFamily="34" charset="-122"/>
                <a:cs typeface="Cambria" pitchFamily="34" charset="-120"/>
              </a:rPr>
              <a:t>Teacher Portal</a:t>
            </a:r>
            <a:endParaRPr lang="en-US" sz="1400" dirty="0"/>
          </a:p>
        </p:txBody>
      </p:sp>
      <p:sp>
        <p:nvSpPr>
          <p:cNvPr id="20" name="Shape 14"/>
          <p:cNvSpPr/>
          <p:nvPr/>
        </p:nvSpPr>
        <p:spPr>
          <a:xfrm>
            <a:off x="4297680" y="3200400"/>
            <a:ext cx="3584448" cy="1417320"/>
          </a:xfrm>
          <a:prstGeom prst="roundRect">
            <a:avLst>
              <a:gd name="adj" fmla="val 7742"/>
            </a:avLst>
          </a:prstGeom>
          <a:solidFill>
            <a:srgbClr val="FFFFFF"/>
          </a:solidFill>
          <a:ln/>
          <a:effectLst>
            <a:outerShdw blurRad="63500" dist="25400" dir="5400000" algn="bl" rotWithShape="0">
              <a:srgbClr val="1B1F3B">
                <a:alpha val="10000"/>
              </a:srgbClr>
            </a:outerShdw>
          </a:effectLst>
        </p:spPr>
      </p:sp>
      <p:sp>
        <p:nvSpPr>
          <p:cNvPr id="21" name="Shape 15"/>
          <p:cNvSpPr/>
          <p:nvPr/>
        </p:nvSpPr>
        <p:spPr>
          <a:xfrm>
            <a:off x="4526280" y="3625596"/>
            <a:ext cx="566928" cy="566928"/>
          </a:xfrm>
          <a:prstGeom prst="ellipse">
            <a:avLst/>
          </a:prstGeom>
          <a:solidFill>
            <a:srgbClr val="2F5CFF"/>
          </a:solidFill>
          <a:ln/>
        </p:spPr>
      </p:sp>
      <p:pic>
        <p:nvPicPr>
          <p:cNvPr id="22" name="Image 4" descr="preencoded.png"/>
          <p:cNvPicPr>
            <a:picLocks noChangeAspect="1"/>
          </p:cNvPicPr>
          <p:nvPr/>
        </p:nvPicPr>
        <p:blipFill>
          <a:blip r:embed="rId7"/>
          <a:stretch>
            <a:fillRect/>
          </a:stretch>
        </p:blipFill>
        <p:spPr>
          <a:xfrm>
            <a:off x="4673681" y="3772997"/>
            <a:ext cx="272125" cy="272125"/>
          </a:xfrm>
          <a:prstGeom prst="rect">
            <a:avLst/>
          </a:prstGeom>
        </p:spPr>
      </p:pic>
      <p:sp>
        <p:nvSpPr>
          <p:cNvPr id="23" name="Text 16"/>
          <p:cNvSpPr/>
          <p:nvPr/>
        </p:nvSpPr>
        <p:spPr>
          <a:xfrm>
            <a:off x="5257800" y="3200400"/>
            <a:ext cx="2487168" cy="1417320"/>
          </a:xfrm>
          <a:prstGeom prst="rect">
            <a:avLst/>
          </a:prstGeom>
          <a:noFill/>
          <a:ln/>
        </p:spPr>
        <p:txBody>
          <a:bodyPr wrap="square" rtlCol="0" anchor="ctr"/>
          <a:lstStyle/>
          <a:p>
            <a:pPr marL="0" indent="0">
              <a:buNone/>
            </a:pPr>
            <a:r>
              <a:rPr lang="en-US" sz="1400" b="1" dirty="0">
                <a:solidFill>
                  <a:srgbClr val="1B1F3B"/>
                </a:solidFill>
                <a:latin typeface="Cambria" pitchFamily="34" charset="0"/>
                <a:ea typeface="Cambria" pitchFamily="34" charset="-122"/>
                <a:cs typeface="Cambria" pitchFamily="34" charset="-120"/>
              </a:rPr>
              <a:t>Student Portal</a:t>
            </a:r>
            <a:endParaRPr lang="en-US" sz="1400" dirty="0"/>
          </a:p>
        </p:txBody>
      </p:sp>
      <p:sp>
        <p:nvSpPr>
          <p:cNvPr id="24" name="Shape 17"/>
          <p:cNvSpPr/>
          <p:nvPr/>
        </p:nvSpPr>
        <p:spPr>
          <a:xfrm>
            <a:off x="8046720" y="3200400"/>
            <a:ext cx="3584448" cy="1417320"/>
          </a:xfrm>
          <a:prstGeom prst="roundRect">
            <a:avLst>
              <a:gd name="adj" fmla="val 7742"/>
            </a:avLst>
          </a:prstGeom>
          <a:solidFill>
            <a:srgbClr val="FFFFFF"/>
          </a:solidFill>
          <a:ln/>
          <a:effectLst>
            <a:outerShdw blurRad="63500" dist="25400" dir="5400000" algn="bl" rotWithShape="0">
              <a:srgbClr val="1B1F3B">
                <a:alpha val="10000"/>
              </a:srgbClr>
            </a:outerShdw>
          </a:effectLst>
        </p:spPr>
      </p:sp>
      <p:sp>
        <p:nvSpPr>
          <p:cNvPr id="25" name="Shape 18"/>
          <p:cNvSpPr/>
          <p:nvPr/>
        </p:nvSpPr>
        <p:spPr>
          <a:xfrm>
            <a:off x="8275320" y="3625596"/>
            <a:ext cx="566928" cy="566928"/>
          </a:xfrm>
          <a:prstGeom prst="ellipse">
            <a:avLst/>
          </a:prstGeom>
          <a:solidFill>
            <a:srgbClr val="6C3CE9"/>
          </a:solidFill>
          <a:ln/>
        </p:spPr>
      </p:sp>
      <p:pic>
        <p:nvPicPr>
          <p:cNvPr id="26" name="Image 5" descr="preencoded.png"/>
          <p:cNvPicPr>
            <a:picLocks noChangeAspect="1"/>
          </p:cNvPicPr>
          <p:nvPr/>
        </p:nvPicPr>
        <p:blipFill>
          <a:blip r:embed="rId8"/>
          <a:stretch>
            <a:fillRect/>
          </a:stretch>
        </p:blipFill>
        <p:spPr>
          <a:xfrm>
            <a:off x="8422721" y="3772997"/>
            <a:ext cx="272125" cy="272125"/>
          </a:xfrm>
          <a:prstGeom prst="rect">
            <a:avLst/>
          </a:prstGeom>
        </p:spPr>
      </p:pic>
      <p:sp>
        <p:nvSpPr>
          <p:cNvPr id="27" name="Text 19"/>
          <p:cNvSpPr/>
          <p:nvPr/>
        </p:nvSpPr>
        <p:spPr>
          <a:xfrm>
            <a:off x="9006840" y="3200400"/>
            <a:ext cx="2487168" cy="1417320"/>
          </a:xfrm>
          <a:prstGeom prst="rect">
            <a:avLst/>
          </a:prstGeom>
          <a:noFill/>
          <a:ln/>
        </p:spPr>
        <p:txBody>
          <a:bodyPr wrap="square" rtlCol="0" anchor="ctr"/>
          <a:lstStyle/>
          <a:p>
            <a:pPr marL="0" indent="0">
              <a:buNone/>
            </a:pPr>
            <a:r>
              <a:rPr lang="en-US" sz="1400" b="1" dirty="0">
                <a:solidFill>
                  <a:srgbClr val="1B1F3B"/>
                </a:solidFill>
                <a:latin typeface="Cambria" pitchFamily="34" charset="0"/>
                <a:ea typeface="Cambria" pitchFamily="34" charset="-122"/>
                <a:cs typeface="Cambria" pitchFamily="34" charset="-120"/>
              </a:rPr>
              <a:t>Email Notifications</a:t>
            </a:r>
            <a:endParaRPr lang="en-US" sz="1400" dirty="0"/>
          </a:p>
        </p:txBody>
      </p:sp>
      <p:sp>
        <p:nvSpPr>
          <p:cNvPr id="28" name="Shape 20"/>
          <p:cNvSpPr/>
          <p:nvPr/>
        </p:nvSpPr>
        <p:spPr>
          <a:xfrm>
            <a:off x="548640" y="4800600"/>
            <a:ext cx="3584448" cy="1417320"/>
          </a:xfrm>
          <a:prstGeom prst="roundRect">
            <a:avLst>
              <a:gd name="adj" fmla="val 7742"/>
            </a:avLst>
          </a:prstGeom>
          <a:solidFill>
            <a:srgbClr val="FFFFFF"/>
          </a:solidFill>
          <a:ln/>
          <a:effectLst>
            <a:outerShdw blurRad="63500" dist="25400" dir="5400000" algn="bl" rotWithShape="0">
              <a:srgbClr val="1B1F3B">
                <a:alpha val="10000"/>
              </a:srgbClr>
            </a:outerShdw>
          </a:effectLst>
        </p:spPr>
      </p:sp>
      <p:sp>
        <p:nvSpPr>
          <p:cNvPr id="29" name="Shape 21"/>
          <p:cNvSpPr/>
          <p:nvPr/>
        </p:nvSpPr>
        <p:spPr>
          <a:xfrm>
            <a:off x="777240" y="5225796"/>
            <a:ext cx="566928" cy="566928"/>
          </a:xfrm>
          <a:prstGeom prst="ellipse">
            <a:avLst/>
          </a:prstGeom>
          <a:solidFill>
            <a:srgbClr val="2F5CFF"/>
          </a:solidFill>
          <a:ln/>
        </p:spPr>
      </p:sp>
      <p:pic>
        <p:nvPicPr>
          <p:cNvPr id="30" name="Image 6" descr="preencoded.png"/>
          <p:cNvPicPr>
            <a:picLocks noChangeAspect="1"/>
          </p:cNvPicPr>
          <p:nvPr/>
        </p:nvPicPr>
        <p:blipFill>
          <a:blip r:embed="rId9"/>
          <a:stretch>
            <a:fillRect/>
          </a:stretch>
        </p:blipFill>
        <p:spPr>
          <a:xfrm>
            <a:off x="924641" y="5373197"/>
            <a:ext cx="272125" cy="272125"/>
          </a:xfrm>
          <a:prstGeom prst="rect">
            <a:avLst/>
          </a:prstGeom>
        </p:spPr>
      </p:pic>
      <p:sp>
        <p:nvSpPr>
          <p:cNvPr id="31" name="Text 22"/>
          <p:cNvSpPr/>
          <p:nvPr/>
        </p:nvSpPr>
        <p:spPr>
          <a:xfrm>
            <a:off x="1508760" y="4800600"/>
            <a:ext cx="2487168" cy="1417320"/>
          </a:xfrm>
          <a:prstGeom prst="rect">
            <a:avLst/>
          </a:prstGeom>
          <a:noFill/>
          <a:ln/>
        </p:spPr>
        <p:txBody>
          <a:bodyPr wrap="square" rtlCol="0" anchor="ctr"/>
          <a:lstStyle/>
          <a:p>
            <a:pPr marL="0" indent="0">
              <a:buNone/>
            </a:pPr>
            <a:r>
              <a:rPr lang="en-US" sz="1400" b="1" dirty="0">
                <a:solidFill>
                  <a:srgbClr val="1B1F3B"/>
                </a:solidFill>
                <a:latin typeface="Cambria" pitchFamily="34" charset="0"/>
                <a:ea typeface="Cambria" pitchFamily="34" charset="-122"/>
                <a:cs typeface="Cambria" pitchFamily="34" charset="-120"/>
              </a:rPr>
              <a:t>Chatbot Integration</a:t>
            </a:r>
            <a:endParaRPr lang="en-US" sz="1400" dirty="0"/>
          </a:p>
        </p:txBody>
      </p:sp>
      <p:sp>
        <p:nvSpPr>
          <p:cNvPr id="32" name="Shape 23"/>
          <p:cNvSpPr/>
          <p:nvPr/>
        </p:nvSpPr>
        <p:spPr>
          <a:xfrm>
            <a:off x="4297680" y="4800600"/>
            <a:ext cx="3584448" cy="1417320"/>
          </a:xfrm>
          <a:prstGeom prst="roundRect">
            <a:avLst>
              <a:gd name="adj" fmla="val 7742"/>
            </a:avLst>
          </a:prstGeom>
          <a:solidFill>
            <a:srgbClr val="FFFFFF"/>
          </a:solidFill>
          <a:ln/>
          <a:effectLst>
            <a:outerShdw blurRad="63500" dist="25400" dir="5400000" algn="bl" rotWithShape="0">
              <a:srgbClr val="1B1F3B">
                <a:alpha val="10000"/>
              </a:srgbClr>
            </a:outerShdw>
          </a:effectLst>
        </p:spPr>
      </p:sp>
      <p:sp>
        <p:nvSpPr>
          <p:cNvPr id="33" name="Shape 24"/>
          <p:cNvSpPr/>
          <p:nvPr/>
        </p:nvSpPr>
        <p:spPr>
          <a:xfrm>
            <a:off x="4526280" y="5225796"/>
            <a:ext cx="566928" cy="566928"/>
          </a:xfrm>
          <a:prstGeom prst="ellipse">
            <a:avLst/>
          </a:prstGeom>
          <a:solidFill>
            <a:srgbClr val="6C3CE9"/>
          </a:solidFill>
          <a:ln/>
        </p:spPr>
      </p:sp>
      <p:pic>
        <p:nvPicPr>
          <p:cNvPr id="34" name="Image 7" descr="preencoded.png"/>
          <p:cNvPicPr>
            <a:picLocks noChangeAspect="1"/>
          </p:cNvPicPr>
          <p:nvPr/>
        </p:nvPicPr>
        <p:blipFill>
          <a:blip r:embed="rId10"/>
          <a:stretch>
            <a:fillRect/>
          </a:stretch>
        </p:blipFill>
        <p:spPr>
          <a:xfrm>
            <a:off x="4673681" y="5373197"/>
            <a:ext cx="272125" cy="272125"/>
          </a:xfrm>
          <a:prstGeom prst="rect">
            <a:avLst/>
          </a:prstGeom>
        </p:spPr>
      </p:pic>
      <p:sp>
        <p:nvSpPr>
          <p:cNvPr id="35" name="Text 25"/>
          <p:cNvSpPr/>
          <p:nvPr/>
        </p:nvSpPr>
        <p:spPr>
          <a:xfrm>
            <a:off x="5257800" y="4800600"/>
            <a:ext cx="2487168" cy="1417320"/>
          </a:xfrm>
          <a:prstGeom prst="rect">
            <a:avLst/>
          </a:prstGeom>
          <a:noFill/>
          <a:ln/>
        </p:spPr>
        <p:txBody>
          <a:bodyPr wrap="square" rtlCol="0" anchor="ctr"/>
          <a:lstStyle/>
          <a:p>
            <a:pPr marL="0" indent="0">
              <a:buNone/>
            </a:pPr>
            <a:r>
              <a:rPr lang="en-US" sz="1400" b="1" dirty="0">
                <a:solidFill>
                  <a:srgbClr val="1B1F3B"/>
                </a:solidFill>
                <a:latin typeface="Cambria" pitchFamily="34" charset="0"/>
                <a:ea typeface="Cambria" pitchFamily="34" charset="-122"/>
                <a:cs typeface="Cambria" pitchFamily="34" charset="-120"/>
              </a:rPr>
              <a:t>Explainable AI</a:t>
            </a:r>
            <a:endParaRPr lang="en-US" sz="1400" dirty="0"/>
          </a:p>
        </p:txBody>
      </p:sp>
      <p:sp>
        <p:nvSpPr>
          <p:cNvPr id="36" name="Shape 26"/>
          <p:cNvSpPr/>
          <p:nvPr/>
        </p:nvSpPr>
        <p:spPr>
          <a:xfrm>
            <a:off x="8046720" y="4800600"/>
            <a:ext cx="3584448" cy="1417320"/>
          </a:xfrm>
          <a:prstGeom prst="roundRect">
            <a:avLst>
              <a:gd name="adj" fmla="val 7742"/>
            </a:avLst>
          </a:prstGeom>
          <a:solidFill>
            <a:srgbClr val="FFFFFF"/>
          </a:solidFill>
          <a:ln/>
          <a:effectLst>
            <a:outerShdw blurRad="63500" dist="25400" dir="5400000" algn="bl" rotWithShape="0">
              <a:srgbClr val="1B1F3B">
                <a:alpha val="10000"/>
              </a:srgbClr>
            </a:outerShdw>
          </a:effectLst>
        </p:spPr>
      </p:sp>
      <p:sp>
        <p:nvSpPr>
          <p:cNvPr id="37" name="Shape 27"/>
          <p:cNvSpPr/>
          <p:nvPr/>
        </p:nvSpPr>
        <p:spPr>
          <a:xfrm>
            <a:off x="8275320" y="5225796"/>
            <a:ext cx="566928" cy="566928"/>
          </a:xfrm>
          <a:prstGeom prst="ellipse">
            <a:avLst/>
          </a:prstGeom>
          <a:solidFill>
            <a:srgbClr val="2F5CFF"/>
          </a:solidFill>
          <a:ln/>
        </p:spPr>
      </p:sp>
      <p:pic>
        <p:nvPicPr>
          <p:cNvPr id="38" name="Image 8" descr="preencoded.png"/>
          <p:cNvPicPr>
            <a:picLocks noChangeAspect="1"/>
          </p:cNvPicPr>
          <p:nvPr/>
        </p:nvPicPr>
        <p:blipFill>
          <a:blip r:embed="rId11"/>
          <a:stretch>
            <a:fillRect/>
          </a:stretch>
        </p:blipFill>
        <p:spPr>
          <a:xfrm>
            <a:off x="8422721" y="5373197"/>
            <a:ext cx="272125" cy="272125"/>
          </a:xfrm>
          <a:prstGeom prst="rect">
            <a:avLst/>
          </a:prstGeom>
        </p:spPr>
      </p:pic>
      <p:sp>
        <p:nvSpPr>
          <p:cNvPr id="39" name="Text 28"/>
          <p:cNvSpPr/>
          <p:nvPr/>
        </p:nvSpPr>
        <p:spPr>
          <a:xfrm>
            <a:off x="9006840" y="4800600"/>
            <a:ext cx="2487168" cy="1417320"/>
          </a:xfrm>
          <a:prstGeom prst="rect">
            <a:avLst/>
          </a:prstGeom>
          <a:noFill/>
          <a:ln/>
        </p:spPr>
        <p:txBody>
          <a:bodyPr wrap="square" rtlCol="0" anchor="ctr"/>
          <a:lstStyle/>
          <a:p>
            <a:pPr marL="0" indent="0">
              <a:buNone/>
            </a:pPr>
            <a:r>
              <a:rPr lang="en-US" sz="1400" b="1" dirty="0">
                <a:solidFill>
                  <a:srgbClr val="1B1F3B"/>
                </a:solidFill>
                <a:latin typeface="Cambria" pitchFamily="34" charset="0"/>
                <a:ea typeface="Cambria" pitchFamily="34" charset="-122"/>
                <a:cs typeface="Cambria" pitchFamily="34" charset="-120"/>
              </a:rPr>
              <a:t>Real-Time Analytics</a:t>
            </a:r>
            <a:endParaRPr lang="en-US" sz="1400" dirty="0"/>
          </a:p>
        </p:txBody>
      </p:sp>
      <p:sp>
        <p:nvSpPr>
          <p:cNvPr id="40" name="Text 29"/>
          <p:cNvSpPr/>
          <p:nvPr/>
        </p:nvSpPr>
        <p:spPr>
          <a:xfrm>
            <a:off x="11475720" y="6510528"/>
            <a:ext cx="548640" cy="274320"/>
          </a:xfrm>
          <a:prstGeom prst="rect">
            <a:avLst/>
          </a:prstGeom>
          <a:noFill/>
          <a:ln/>
        </p:spPr>
        <p:txBody>
          <a:bodyPr wrap="square" rtlCol="0" anchor="ctr"/>
          <a:lstStyle/>
          <a:p>
            <a:pPr marL="0" indent="0" algn="r">
              <a:buNone/>
            </a:pPr>
            <a:r>
              <a:rPr lang="en-US" sz="1000" dirty="0">
                <a:solidFill>
                  <a:srgbClr val="6E7488"/>
                </a:solidFill>
                <a:latin typeface="Calibri" pitchFamily="34" charset="0"/>
                <a:ea typeface="Calibri" pitchFamily="34" charset="-122"/>
                <a:cs typeface="Calibri" pitchFamily="34" charset="-120"/>
              </a:rPr>
              <a:t>13</a:t>
            </a:r>
            <a:endParaRPr lang="en-US" sz="10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6F7FD"/>
        </a:solidFill>
        <a:effectLst/>
      </p:bgPr>
    </p:bg>
    <p:spTree>
      <p:nvGrpSpPr>
        <p:cNvPr id="1" name=""/>
        <p:cNvGrpSpPr/>
        <p:nvPr/>
      </p:nvGrpSpPr>
      <p:grpSpPr>
        <a:xfrm>
          <a:off x="0" y="0"/>
          <a:ext cx="0" cy="0"/>
          <a:chOff x="0" y="0"/>
          <a:chExt cx="0" cy="0"/>
        </a:xfrm>
      </p:grpSpPr>
      <p:sp>
        <p:nvSpPr>
          <p:cNvPr id="2" name="Text 0"/>
          <p:cNvSpPr/>
          <p:nvPr/>
        </p:nvSpPr>
        <p:spPr>
          <a:xfrm>
            <a:off x="548640" y="320040"/>
            <a:ext cx="7315200" cy="320040"/>
          </a:xfrm>
          <a:prstGeom prst="rect">
            <a:avLst/>
          </a:prstGeom>
          <a:noFill/>
          <a:ln/>
        </p:spPr>
        <p:txBody>
          <a:bodyPr wrap="square" rtlCol="0" anchor="ctr"/>
          <a:lstStyle/>
          <a:p>
            <a:pPr marL="0" indent="0">
              <a:buNone/>
            </a:pPr>
            <a:r>
              <a:rPr lang="en-US" sz="1300" b="1" kern="0" spc="200" dirty="0">
                <a:solidFill>
                  <a:srgbClr val="6C3CE9"/>
                </a:solidFill>
                <a:latin typeface="Calibri" pitchFamily="34" charset="0"/>
                <a:ea typeface="Calibri" pitchFamily="34" charset="-122"/>
                <a:cs typeface="Calibri" pitchFamily="34" charset="-120"/>
              </a:rPr>
              <a:t>CONCLUSION</a:t>
            </a:r>
            <a:endParaRPr lang="en-US" sz="1300" dirty="0"/>
          </a:p>
        </p:txBody>
      </p:sp>
      <p:sp>
        <p:nvSpPr>
          <p:cNvPr id="3" name="Text 1"/>
          <p:cNvSpPr/>
          <p:nvPr/>
        </p:nvSpPr>
        <p:spPr>
          <a:xfrm>
            <a:off x="548640" y="621792"/>
            <a:ext cx="10515600" cy="685800"/>
          </a:xfrm>
          <a:prstGeom prst="rect">
            <a:avLst/>
          </a:prstGeom>
          <a:noFill/>
          <a:ln/>
        </p:spPr>
        <p:txBody>
          <a:bodyPr wrap="square" rtlCol="0" anchor="ctr"/>
          <a:lstStyle/>
          <a:p>
            <a:pPr marL="0" indent="0">
              <a:buNone/>
            </a:pPr>
            <a:r>
              <a:rPr lang="en-US" sz="3200" b="1" dirty="0">
                <a:solidFill>
                  <a:srgbClr val="1B1F3B"/>
                </a:solidFill>
                <a:latin typeface="Cambria" pitchFamily="34" charset="0"/>
                <a:ea typeface="Cambria" pitchFamily="34" charset="-122"/>
                <a:cs typeface="Cambria" pitchFamily="34" charset="-120"/>
              </a:rPr>
              <a:t>Conclusion</a:t>
            </a:r>
            <a:endParaRPr lang="en-US" sz="3200" dirty="0"/>
          </a:p>
        </p:txBody>
      </p:sp>
      <p:sp>
        <p:nvSpPr>
          <p:cNvPr id="4" name="Text 2"/>
          <p:cNvSpPr/>
          <p:nvPr/>
        </p:nvSpPr>
        <p:spPr>
          <a:xfrm>
            <a:off x="548640" y="1417320"/>
            <a:ext cx="11064240" cy="731520"/>
          </a:xfrm>
          <a:prstGeom prst="rect">
            <a:avLst/>
          </a:prstGeom>
          <a:noFill/>
          <a:ln/>
        </p:spPr>
        <p:txBody>
          <a:bodyPr wrap="square" rtlCol="0" anchor="ctr"/>
          <a:lstStyle/>
          <a:p>
            <a:pPr marL="0" indent="0">
              <a:lnSpc>
                <a:spcPct val="120000"/>
              </a:lnSpc>
              <a:buNone/>
            </a:pPr>
            <a:r>
              <a:rPr lang="en-US" sz="1500" dirty="0">
                <a:solidFill>
                  <a:srgbClr val="1B1F3B"/>
                </a:solidFill>
                <a:latin typeface="Calibri" pitchFamily="34" charset="0"/>
                <a:ea typeface="Calibri" pitchFamily="34" charset="-122"/>
                <a:cs typeface="Calibri" pitchFamily="34" charset="-120"/>
              </a:rPr>
              <a:t>This project successfully demonstrates how machine learning can transform student performance evaluation from a reactive, exam-driven process into a proactive, data-driven one.</a:t>
            </a:r>
            <a:endParaRPr lang="en-US" sz="1500" dirty="0"/>
          </a:p>
        </p:txBody>
      </p:sp>
      <p:sp>
        <p:nvSpPr>
          <p:cNvPr id="5" name="Shape 3"/>
          <p:cNvSpPr/>
          <p:nvPr/>
        </p:nvSpPr>
        <p:spPr>
          <a:xfrm>
            <a:off x="548640" y="2377440"/>
            <a:ext cx="5440680" cy="1691640"/>
          </a:xfrm>
          <a:prstGeom prst="roundRect">
            <a:avLst>
              <a:gd name="adj" fmla="val 6486"/>
            </a:avLst>
          </a:prstGeom>
          <a:solidFill>
            <a:srgbClr val="FFFFFF"/>
          </a:solidFill>
          <a:ln/>
          <a:effectLst>
            <a:outerShdw blurRad="76200" dist="25400" dir="5400000" algn="bl" rotWithShape="0">
              <a:srgbClr val="1B1F3B">
                <a:alpha val="12000"/>
              </a:srgbClr>
            </a:outerShdw>
          </a:effectLst>
        </p:spPr>
      </p:sp>
      <p:sp>
        <p:nvSpPr>
          <p:cNvPr id="6" name="Shape 4"/>
          <p:cNvSpPr/>
          <p:nvPr/>
        </p:nvSpPr>
        <p:spPr>
          <a:xfrm>
            <a:off x="749808" y="2578608"/>
            <a:ext cx="512064" cy="512064"/>
          </a:xfrm>
          <a:prstGeom prst="ellipse">
            <a:avLst/>
          </a:prstGeom>
          <a:solidFill>
            <a:srgbClr val="6C3CE9"/>
          </a:solidFill>
          <a:ln/>
        </p:spPr>
      </p:sp>
      <p:pic>
        <p:nvPicPr>
          <p:cNvPr id="7" name="Image 0" descr="preencoded.png"/>
          <p:cNvPicPr>
            <a:picLocks noChangeAspect="1"/>
          </p:cNvPicPr>
          <p:nvPr/>
        </p:nvPicPr>
        <p:blipFill>
          <a:blip r:embed="rId3"/>
          <a:stretch>
            <a:fillRect/>
          </a:stretch>
        </p:blipFill>
        <p:spPr>
          <a:xfrm>
            <a:off x="882945" y="2711745"/>
            <a:ext cx="245791" cy="245791"/>
          </a:xfrm>
          <a:prstGeom prst="rect">
            <a:avLst/>
          </a:prstGeom>
        </p:spPr>
      </p:pic>
      <p:sp>
        <p:nvSpPr>
          <p:cNvPr id="8" name="Text 5"/>
          <p:cNvSpPr/>
          <p:nvPr/>
        </p:nvSpPr>
        <p:spPr>
          <a:xfrm>
            <a:off x="1417320" y="2542032"/>
            <a:ext cx="4389120" cy="320040"/>
          </a:xfrm>
          <a:prstGeom prst="rect">
            <a:avLst/>
          </a:prstGeom>
          <a:noFill/>
          <a:ln/>
        </p:spPr>
        <p:txBody>
          <a:bodyPr wrap="square" rtlCol="0" anchor="ctr"/>
          <a:lstStyle/>
          <a:p>
            <a:pPr marL="0" indent="0">
              <a:buNone/>
            </a:pPr>
            <a:r>
              <a:rPr lang="en-US" sz="1500" b="1" dirty="0">
                <a:solidFill>
                  <a:srgbClr val="1B1F3B"/>
                </a:solidFill>
                <a:latin typeface="Cambria" pitchFamily="34" charset="0"/>
                <a:ea typeface="Cambria" pitchFamily="34" charset="-122"/>
                <a:cs typeface="Cambria" pitchFamily="34" charset="-120"/>
              </a:rPr>
              <a:t>Objectives Achieved</a:t>
            </a:r>
            <a:endParaRPr lang="en-US" sz="1500" dirty="0"/>
          </a:p>
        </p:txBody>
      </p:sp>
      <p:sp>
        <p:nvSpPr>
          <p:cNvPr id="9" name="Text 6"/>
          <p:cNvSpPr/>
          <p:nvPr/>
        </p:nvSpPr>
        <p:spPr>
          <a:xfrm>
            <a:off x="1417320" y="2880360"/>
            <a:ext cx="4389120" cy="1051560"/>
          </a:xfrm>
          <a:prstGeom prst="rect">
            <a:avLst/>
          </a:prstGeom>
          <a:noFill/>
          <a:ln/>
        </p:spPr>
        <p:txBody>
          <a:bodyPr wrap="square" rtlCol="0" anchor="t"/>
          <a:lstStyle/>
          <a:p>
            <a:pPr marL="0" indent="0">
              <a:lnSpc>
                <a:spcPct val="108000"/>
              </a:lnSpc>
              <a:buNone/>
            </a:pPr>
            <a:r>
              <a:rPr lang="en-US" sz="1150" dirty="0">
                <a:solidFill>
                  <a:srgbClr val="6E7488"/>
                </a:solidFill>
                <a:latin typeface="Calibri" pitchFamily="34" charset="0"/>
                <a:ea typeface="Calibri" pitchFamily="34" charset="-122"/>
                <a:cs typeface="Calibri" pitchFamily="34" charset="-120"/>
              </a:rPr>
              <a:t>Built an end-to-end system that predicts performance, flags risk, and recommends action.</a:t>
            </a:r>
            <a:endParaRPr lang="en-US" sz="1150" dirty="0"/>
          </a:p>
        </p:txBody>
      </p:sp>
      <p:sp>
        <p:nvSpPr>
          <p:cNvPr id="10" name="Shape 7"/>
          <p:cNvSpPr/>
          <p:nvPr/>
        </p:nvSpPr>
        <p:spPr>
          <a:xfrm>
            <a:off x="6263640" y="2377440"/>
            <a:ext cx="5440680" cy="1691640"/>
          </a:xfrm>
          <a:prstGeom prst="roundRect">
            <a:avLst>
              <a:gd name="adj" fmla="val 6486"/>
            </a:avLst>
          </a:prstGeom>
          <a:solidFill>
            <a:srgbClr val="FFFFFF"/>
          </a:solidFill>
          <a:ln/>
          <a:effectLst>
            <a:outerShdw blurRad="76200" dist="25400" dir="5400000" algn="bl" rotWithShape="0">
              <a:srgbClr val="1B1F3B">
                <a:alpha val="12000"/>
              </a:srgbClr>
            </a:outerShdw>
          </a:effectLst>
        </p:spPr>
      </p:sp>
      <p:sp>
        <p:nvSpPr>
          <p:cNvPr id="11" name="Shape 8"/>
          <p:cNvSpPr/>
          <p:nvPr/>
        </p:nvSpPr>
        <p:spPr>
          <a:xfrm>
            <a:off x="6464808" y="2578608"/>
            <a:ext cx="512064" cy="512064"/>
          </a:xfrm>
          <a:prstGeom prst="ellipse">
            <a:avLst/>
          </a:prstGeom>
          <a:solidFill>
            <a:srgbClr val="6C3CE9"/>
          </a:solidFill>
          <a:ln/>
        </p:spPr>
      </p:sp>
      <p:pic>
        <p:nvPicPr>
          <p:cNvPr id="12" name="Image 1" descr="preencoded.png"/>
          <p:cNvPicPr>
            <a:picLocks noChangeAspect="1"/>
          </p:cNvPicPr>
          <p:nvPr/>
        </p:nvPicPr>
        <p:blipFill>
          <a:blip r:embed="rId4"/>
          <a:stretch>
            <a:fillRect/>
          </a:stretch>
        </p:blipFill>
        <p:spPr>
          <a:xfrm>
            <a:off x="6597945" y="2711745"/>
            <a:ext cx="245791" cy="245791"/>
          </a:xfrm>
          <a:prstGeom prst="rect">
            <a:avLst/>
          </a:prstGeom>
        </p:spPr>
      </p:pic>
      <p:sp>
        <p:nvSpPr>
          <p:cNvPr id="13" name="Text 9"/>
          <p:cNvSpPr/>
          <p:nvPr/>
        </p:nvSpPr>
        <p:spPr>
          <a:xfrm>
            <a:off x="7132320" y="2542032"/>
            <a:ext cx="4389120" cy="320040"/>
          </a:xfrm>
          <a:prstGeom prst="rect">
            <a:avLst/>
          </a:prstGeom>
          <a:noFill/>
          <a:ln/>
        </p:spPr>
        <p:txBody>
          <a:bodyPr wrap="square" rtlCol="0" anchor="ctr"/>
          <a:lstStyle/>
          <a:p>
            <a:pPr marL="0" indent="0">
              <a:buNone/>
            </a:pPr>
            <a:r>
              <a:rPr lang="en-US" sz="1500" b="1" dirty="0">
                <a:solidFill>
                  <a:srgbClr val="1B1F3B"/>
                </a:solidFill>
                <a:latin typeface="Cambria" pitchFamily="34" charset="0"/>
                <a:ea typeface="Cambria" pitchFamily="34" charset="-122"/>
                <a:cs typeface="Cambria" pitchFamily="34" charset="-120"/>
              </a:rPr>
              <a:t>Impact on Education</a:t>
            </a:r>
            <a:endParaRPr lang="en-US" sz="1500" dirty="0"/>
          </a:p>
        </p:txBody>
      </p:sp>
      <p:sp>
        <p:nvSpPr>
          <p:cNvPr id="14" name="Text 10"/>
          <p:cNvSpPr/>
          <p:nvPr/>
        </p:nvSpPr>
        <p:spPr>
          <a:xfrm>
            <a:off x="7132320" y="2880360"/>
            <a:ext cx="4389120" cy="1051560"/>
          </a:xfrm>
          <a:prstGeom prst="rect">
            <a:avLst/>
          </a:prstGeom>
          <a:noFill/>
          <a:ln/>
        </p:spPr>
        <p:txBody>
          <a:bodyPr wrap="square" rtlCol="0" anchor="t"/>
          <a:lstStyle/>
          <a:p>
            <a:pPr marL="0" indent="0">
              <a:lnSpc>
                <a:spcPct val="108000"/>
              </a:lnSpc>
              <a:buNone/>
            </a:pPr>
            <a:r>
              <a:rPr lang="en-US" sz="1150" dirty="0">
                <a:solidFill>
                  <a:srgbClr val="6E7488"/>
                </a:solidFill>
                <a:latin typeface="Calibri" pitchFamily="34" charset="0"/>
                <a:ea typeface="Calibri" pitchFamily="34" charset="-122"/>
                <a:cs typeface="Calibri" pitchFamily="34" charset="-120"/>
              </a:rPr>
              <a:t>Gives teachers early, objective evidence to support timely intervention.</a:t>
            </a:r>
            <a:endParaRPr lang="en-US" sz="1150" dirty="0"/>
          </a:p>
        </p:txBody>
      </p:sp>
      <p:sp>
        <p:nvSpPr>
          <p:cNvPr id="15" name="Shape 11"/>
          <p:cNvSpPr/>
          <p:nvPr/>
        </p:nvSpPr>
        <p:spPr>
          <a:xfrm>
            <a:off x="548640" y="4251960"/>
            <a:ext cx="5440680" cy="1691640"/>
          </a:xfrm>
          <a:prstGeom prst="roundRect">
            <a:avLst>
              <a:gd name="adj" fmla="val 6486"/>
            </a:avLst>
          </a:prstGeom>
          <a:solidFill>
            <a:srgbClr val="FFFFFF"/>
          </a:solidFill>
          <a:ln/>
          <a:effectLst>
            <a:outerShdw blurRad="76200" dist="25400" dir="5400000" algn="bl" rotWithShape="0">
              <a:srgbClr val="1B1F3B">
                <a:alpha val="12000"/>
              </a:srgbClr>
            </a:outerShdw>
          </a:effectLst>
        </p:spPr>
      </p:sp>
      <p:sp>
        <p:nvSpPr>
          <p:cNvPr id="16" name="Shape 12"/>
          <p:cNvSpPr/>
          <p:nvPr/>
        </p:nvSpPr>
        <p:spPr>
          <a:xfrm>
            <a:off x="749808" y="4453128"/>
            <a:ext cx="512064" cy="512064"/>
          </a:xfrm>
          <a:prstGeom prst="ellipse">
            <a:avLst/>
          </a:prstGeom>
          <a:solidFill>
            <a:srgbClr val="6C3CE9"/>
          </a:solidFill>
          <a:ln/>
        </p:spPr>
      </p:sp>
      <p:pic>
        <p:nvPicPr>
          <p:cNvPr id="17" name="Image 2" descr="preencoded.png"/>
          <p:cNvPicPr>
            <a:picLocks noChangeAspect="1"/>
          </p:cNvPicPr>
          <p:nvPr/>
        </p:nvPicPr>
        <p:blipFill>
          <a:blip r:embed="rId5"/>
          <a:stretch>
            <a:fillRect/>
          </a:stretch>
        </p:blipFill>
        <p:spPr>
          <a:xfrm>
            <a:off x="882945" y="4586265"/>
            <a:ext cx="245791" cy="245791"/>
          </a:xfrm>
          <a:prstGeom prst="rect">
            <a:avLst/>
          </a:prstGeom>
        </p:spPr>
      </p:pic>
      <p:sp>
        <p:nvSpPr>
          <p:cNvPr id="18" name="Text 13"/>
          <p:cNvSpPr/>
          <p:nvPr/>
        </p:nvSpPr>
        <p:spPr>
          <a:xfrm>
            <a:off x="1417320" y="4416552"/>
            <a:ext cx="4389120" cy="320040"/>
          </a:xfrm>
          <a:prstGeom prst="rect">
            <a:avLst/>
          </a:prstGeom>
          <a:noFill/>
          <a:ln/>
        </p:spPr>
        <p:txBody>
          <a:bodyPr wrap="square" rtlCol="0" anchor="ctr"/>
          <a:lstStyle/>
          <a:p>
            <a:pPr marL="0" indent="0">
              <a:buNone/>
            </a:pPr>
            <a:r>
              <a:rPr lang="en-US" sz="1500" b="1" dirty="0">
                <a:solidFill>
                  <a:srgbClr val="1B1F3B"/>
                </a:solidFill>
                <a:latin typeface="Cambria" pitchFamily="34" charset="0"/>
                <a:ea typeface="Cambria" pitchFamily="34" charset="-122"/>
                <a:cs typeface="Cambria" pitchFamily="34" charset="-120"/>
              </a:rPr>
              <a:t>Benefits for Students</a:t>
            </a:r>
            <a:endParaRPr lang="en-US" sz="1500" dirty="0"/>
          </a:p>
        </p:txBody>
      </p:sp>
      <p:sp>
        <p:nvSpPr>
          <p:cNvPr id="19" name="Text 14"/>
          <p:cNvSpPr/>
          <p:nvPr/>
        </p:nvSpPr>
        <p:spPr>
          <a:xfrm>
            <a:off x="1417320" y="4754880"/>
            <a:ext cx="4389120" cy="1051560"/>
          </a:xfrm>
          <a:prstGeom prst="rect">
            <a:avLst/>
          </a:prstGeom>
          <a:noFill/>
          <a:ln/>
        </p:spPr>
        <p:txBody>
          <a:bodyPr wrap="square" rtlCol="0" anchor="t"/>
          <a:lstStyle/>
          <a:p>
            <a:pPr marL="0" indent="0">
              <a:lnSpc>
                <a:spcPct val="108000"/>
              </a:lnSpc>
              <a:buNone/>
            </a:pPr>
            <a:r>
              <a:rPr lang="en-US" sz="1150" dirty="0">
                <a:solidFill>
                  <a:srgbClr val="6E7488"/>
                </a:solidFill>
                <a:latin typeface="Calibri" pitchFamily="34" charset="0"/>
                <a:ea typeface="Calibri" pitchFamily="34" charset="-122"/>
                <a:cs typeface="Calibri" pitchFamily="34" charset="-120"/>
              </a:rPr>
              <a:t>Personalized recommendations help students improve before it is too late.</a:t>
            </a:r>
            <a:endParaRPr lang="en-US" sz="1150" dirty="0"/>
          </a:p>
        </p:txBody>
      </p:sp>
      <p:sp>
        <p:nvSpPr>
          <p:cNvPr id="20" name="Shape 15"/>
          <p:cNvSpPr/>
          <p:nvPr/>
        </p:nvSpPr>
        <p:spPr>
          <a:xfrm>
            <a:off x="6263640" y="4251960"/>
            <a:ext cx="5440680" cy="1691640"/>
          </a:xfrm>
          <a:prstGeom prst="roundRect">
            <a:avLst>
              <a:gd name="adj" fmla="val 6486"/>
            </a:avLst>
          </a:prstGeom>
          <a:solidFill>
            <a:srgbClr val="FFFFFF"/>
          </a:solidFill>
          <a:ln/>
          <a:effectLst>
            <a:outerShdw blurRad="76200" dist="25400" dir="5400000" algn="bl" rotWithShape="0">
              <a:srgbClr val="1B1F3B">
                <a:alpha val="12000"/>
              </a:srgbClr>
            </a:outerShdw>
          </a:effectLst>
        </p:spPr>
      </p:sp>
      <p:sp>
        <p:nvSpPr>
          <p:cNvPr id="21" name="Shape 16"/>
          <p:cNvSpPr/>
          <p:nvPr/>
        </p:nvSpPr>
        <p:spPr>
          <a:xfrm>
            <a:off x="6464808" y="4453128"/>
            <a:ext cx="512064" cy="512064"/>
          </a:xfrm>
          <a:prstGeom prst="ellipse">
            <a:avLst/>
          </a:prstGeom>
          <a:solidFill>
            <a:srgbClr val="6C3CE9"/>
          </a:solidFill>
          <a:ln/>
        </p:spPr>
      </p:sp>
      <p:pic>
        <p:nvPicPr>
          <p:cNvPr id="22" name="Image 3" descr="preencoded.png"/>
          <p:cNvPicPr>
            <a:picLocks noChangeAspect="1"/>
          </p:cNvPicPr>
          <p:nvPr/>
        </p:nvPicPr>
        <p:blipFill>
          <a:blip r:embed="rId6"/>
          <a:stretch>
            <a:fillRect/>
          </a:stretch>
        </p:blipFill>
        <p:spPr>
          <a:xfrm>
            <a:off x="6597945" y="4586265"/>
            <a:ext cx="245791" cy="245791"/>
          </a:xfrm>
          <a:prstGeom prst="rect">
            <a:avLst/>
          </a:prstGeom>
        </p:spPr>
      </p:pic>
      <p:sp>
        <p:nvSpPr>
          <p:cNvPr id="23" name="Text 17"/>
          <p:cNvSpPr/>
          <p:nvPr/>
        </p:nvSpPr>
        <p:spPr>
          <a:xfrm>
            <a:off x="7132320" y="4416552"/>
            <a:ext cx="4389120" cy="320040"/>
          </a:xfrm>
          <a:prstGeom prst="rect">
            <a:avLst/>
          </a:prstGeom>
          <a:noFill/>
          <a:ln/>
        </p:spPr>
        <p:txBody>
          <a:bodyPr wrap="square" rtlCol="0" anchor="ctr"/>
          <a:lstStyle/>
          <a:p>
            <a:pPr marL="0" indent="0">
              <a:buNone/>
            </a:pPr>
            <a:r>
              <a:rPr lang="en-US" sz="1500" b="1" dirty="0">
                <a:solidFill>
                  <a:srgbClr val="1B1F3B"/>
                </a:solidFill>
                <a:latin typeface="Cambria" pitchFamily="34" charset="0"/>
                <a:ea typeface="Cambria" pitchFamily="34" charset="-122"/>
                <a:cs typeface="Cambria" pitchFamily="34" charset="-120"/>
              </a:rPr>
              <a:t>Key Learning Outcomes</a:t>
            </a:r>
            <a:endParaRPr lang="en-US" sz="1500" dirty="0"/>
          </a:p>
        </p:txBody>
      </p:sp>
      <p:sp>
        <p:nvSpPr>
          <p:cNvPr id="24" name="Text 18"/>
          <p:cNvSpPr/>
          <p:nvPr/>
        </p:nvSpPr>
        <p:spPr>
          <a:xfrm>
            <a:off x="7132320" y="4754880"/>
            <a:ext cx="4389120" cy="1051560"/>
          </a:xfrm>
          <a:prstGeom prst="rect">
            <a:avLst/>
          </a:prstGeom>
          <a:noFill/>
          <a:ln/>
        </p:spPr>
        <p:txBody>
          <a:bodyPr wrap="square" rtlCol="0" anchor="t"/>
          <a:lstStyle/>
          <a:p>
            <a:pPr marL="0" indent="0">
              <a:lnSpc>
                <a:spcPct val="108000"/>
              </a:lnSpc>
              <a:buNone/>
            </a:pPr>
            <a:r>
              <a:rPr lang="en-US" sz="1150" dirty="0">
                <a:solidFill>
                  <a:srgbClr val="6E7488"/>
                </a:solidFill>
                <a:latin typeface="Calibri" pitchFamily="34" charset="0"/>
                <a:ea typeface="Calibri" pitchFamily="34" charset="-122"/>
                <a:cs typeface="Calibri" pitchFamily="34" charset="-120"/>
              </a:rPr>
              <a:t>Hands-on experience across the full ML lifecycle, Flask development, and deployment practices.</a:t>
            </a:r>
            <a:endParaRPr lang="en-US" sz="1150" dirty="0"/>
          </a:p>
        </p:txBody>
      </p:sp>
      <p:sp>
        <p:nvSpPr>
          <p:cNvPr id="25" name="Text 19"/>
          <p:cNvSpPr/>
          <p:nvPr/>
        </p:nvSpPr>
        <p:spPr>
          <a:xfrm>
            <a:off x="11475720" y="6510528"/>
            <a:ext cx="548640" cy="274320"/>
          </a:xfrm>
          <a:prstGeom prst="rect">
            <a:avLst/>
          </a:prstGeom>
          <a:noFill/>
          <a:ln/>
        </p:spPr>
        <p:txBody>
          <a:bodyPr wrap="square" rtlCol="0" anchor="ctr"/>
          <a:lstStyle/>
          <a:p>
            <a:pPr marL="0" indent="0" algn="r">
              <a:buNone/>
            </a:pPr>
            <a:r>
              <a:rPr lang="en-US" sz="1000" dirty="0">
                <a:solidFill>
                  <a:srgbClr val="6E7488"/>
                </a:solidFill>
                <a:latin typeface="Calibri" pitchFamily="34" charset="0"/>
                <a:ea typeface="Calibri" pitchFamily="34" charset="-122"/>
                <a:cs typeface="Calibri" pitchFamily="34" charset="-120"/>
              </a:rPr>
              <a:t>14</a:t>
            </a:r>
            <a:endParaRPr lang="en-US" sz="10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141A45"/>
        </a:solidFill>
        <a:effectLst/>
      </p:bgPr>
    </p:bg>
    <p:spTree>
      <p:nvGrpSpPr>
        <p:cNvPr id="1" name=""/>
        <p:cNvGrpSpPr/>
        <p:nvPr/>
      </p:nvGrpSpPr>
      <p:grpSpPr>
        <a:xfrm>
          <a:off x="0" y="0"/>
          <a:ext cx="0" cy="0"/>
          <a:chOff x="0" y="0"/>
          <a:chExt cx="0" cy="0"/>
        </a:xfrm>
      </p:grpSpPr>
      <p:sp>
        <p:nvSpPr>
          <p:cNvPr id="2" name="Shape 0"/>
          <p:cNvSpPr/>
          <p:nvPr/>
        </p:nvSpPr>
        <p:spPr>
          <a:xfrm>
            <a:off x="0" y="0"/>
            <a:ext cx="4206240" cy="6858000"/>
          </a:xfrm>
          <a:prstGeom prst="rect">
            <a:avLst/>
          </a:prstGeom>
          <a:solidFill>
            <a:srgbClr val="1E2670"/>
          </a:solidFill>
          <a:ln/>
        </p:spPr>
      </p:sp>
      <p:sp>
        <p:nvSpPr>
          <p:cNvPr id="3" name="Shape 1"/>
          <p:cNvSpPr/>
          <p:nvPr/>
        </p:nvSpPr>
        <p:spPr>
          <a:xfrm flipV="1">
            <a:off x="822960" y="640080"/>
            <a:ext cx="1188720" cy="457200"/>
          </a:xfrm>
          <a:prstGeom prst="line">
            <a:avLst/>
          </a:prstGeom>
          <a:noFill/>
          <a:ln w="9525">
            <a:solidFill>
              <a:srgbClr val="2F5CFF">
                <a:alpha val="45000"/>
              </a:srgbClr>
            </a:solidFill>
            <a:prstDash val="solid"/>
          </a:ln>
        </p:spPr>
      </p:sp>
      <p:sp>
        <p:nvSpPr>
          <p:cNvPr id="4" name="Shape 2"/>
          <p:cNvSpPr/>
          <p:nvPr/>
        </p:nvSpPr>
        <p:spPr>
          <a:xfrm>
            <a:off x="822960" y="1097280"/>
            <a:ext cx="182880" cy="1280160"/>
          </a:xfrm>
          <a:prstGeom prst="line">
            <a:avLst/>
          </a:prstGeom>
          <a:noFill/>
          <a:ln w="9525">
            <a:solidFill>
              <a:srgbClr val="2F5CFF">
                <a:alpha val="45000"/>
              </a:srgbClr>
            </a:solidFill>
            <a:prstDash val="solid"/>
          </a:ln>
        </p:spPr>
      </p:sp>
      <p:sp>
        <p:nvSpPr>
          <p:cNvPr id="5" name="Shape 3"/>
          <p:cNvSpPr/>
          <p:nvPr/>
        </p:nvSpPr>
        <p:spPr>
          <a:xfrm>
            <a:off x="2011680" y="640080"/>
            <a:ext cx="1097280" cy="822960"/>
          </a:xfrm>
          <a:prstGeom prst="line">
            <a:avLst/>
          </a:prstGeom>
          <a:noFill/>
          <a:ln w="9525">
            <a:solidFill>
              <a:srgbClr val="2F5CFF">
                <a:alpha val="45000"/>
              </a:srgbClr>
            </a:solidFill>
            <a:prstDash val="solid"/>
          </a:ln>
        </p:spPr>
      </p:sp>
      <p:sp>
        <p:nvSpPr>
          <p:cNvPr id="6" name="Shape 4"/>
          <p:cNvSpPr/>
          <p:nvPr/>
        </p:nvSpPr>
        <p:spPr>
          <a:xfrm>
            <a:off x="2377440" y="1463040"/>
            <a:ext cx="731520" cy="1188720"/>
          </a:xfrm>
          <a:prstGeom prst="line">
            <a:avLst/>
          </a:prstGeom>
          <a:noFill/>
          <a:ln w="9525">
            <a:solidFill>
              <a:srgbClr val="2F5CFF">
                <a:alpha val="45000"/>
              </a:srgbClr>
            </a:solidFill>
            <a:prstDash val="solid"/>
          </a:ln>
        </p:spPr>
      </p:sp>
      <p:sp>
        <p:nvSpPr>
          <p:cNvPr id="7" name="Shape 5"/>
          <p:cNvSpPr/>
          <p:nvPr/>
        </p:nvSpPr>
        <p:spPr>
          <a:xfrm>
            <a:off x="1005840" y="2377440"/>
            <a:ext cx="1371600" cy="274320"/>
          </a:xfrm>
          <a:prstGeom prst="line">
            <a:avLst/>
          </a:prstGeom>
          <a:noFill/>
          <a:ln w="9525">
            <a:solidFill>
              <a:srgbClr val="2F5CFF">
                <a:alpha val="45000"/>
              </a:srgbClr>
            </a:solidFill>
            <a:prstDash val="solid"/>
          </a:ln>
        </p:spPr>
      </p:sp>
      <p:sp>
        <p:nvSpPr>
          <p:cNvPr id="8" name="Shape 6"/>
          <p:cNvSpPr/>
          <p:nvPr/>
        </p:nvSpPr>
        <p:spPr>
          <a:xfrm>
            <a:off x="640080" y="2377440"/>
            <a:ext cx="365760" cy="1463040"/>
          </a:xfrm>
          <a:prstGeom prst="line">
            <a:avLst/>
          </a:prstGeom>
          <a:noFill/>
          <a:ln w="9525">
            <a:solidFill>
              <a:srgbClr val="2F5CFF">
                <a:alpha val="45000"/>
              </a:srgbClr>
            </a:solidFill>
            <a:prstDash val="solid"/>
          </a:ln>
        </p:spPr>
      </p:sp>
      <p:sp>
        <p:nvSpPr>
          <p:cNvPr id="9" name="Shape 7"/>
          <p:cNvSpPr/>
          <p:nvPr/>
        </p:nvSpPr>
        <p:spPr>
          <a:xfrm>
            <a:off x="2377440" y="2651760"/>
            <a:ext cx="822960" cy="914400"/>
          </a:xfrm>
          <a:prstGeom prst="line">
            <a:avLst/>
          </a:prstGeom>
          <a:noFill/>
          <a:ln w="9525">
            <a:solidFill>
              <a:srgbClr val="2F5CFF">
                <a:alpha val="45000"/>
              </a:srgbClr>
            </a:solidFill>
            <a:prstDash val="solid"/>
          </a:ln>
        </p:spPr>
      </p:sp>
      <p:sp>
        <p:nvSpPr>
          <p:cNvPr id="10" name="Shape 8"/>
          <p:cNvSpPr/>
          <p:nvPr/>
        </p:nvSpPr>
        <p:spPr>
          <a:xfrm>
            <a:off x="640080" y="3840480"/>
            <a:ext cx="1280160" cy="365760"/>
          </a:xfrm>
          <a:prstGeom prst="line">
            <a:avLst/>
          </a:prstGeom>
          <a:noFill/>
          <a:ln w="9525">
            <a:solidFill>
              <a:srgbClr val="2F5CFF">
                <a:alpha val="45000"/>
              </a:srgbClr>
            </a:solidFill>
            <a:prstDash val="solid"/>
          </a:ln>
        </p:spPr>
      </p:sp>
      <p:sp>
        <p:nvSpPr>
          <p:cNvPr id="11" name="Shape 9"/>
          <p:cNvSpPr/>
          <p:nvPr/>
        </p:nvSpPr>
        <p:spPr>
          <a:xfrm flipV="1">
            <a:off x="1920240" y="3566160"/>
            <a:ext cx="1280160" cy="640080"/>
          </a:xfrm>
          <a:prstGeom prst="line">
            <a:avLst/>
          </a:prstGeom>
          <a:noFill/>
          <a:ln w="9525">
            <a:solidFill>
              <a:srgbClr val="2F5CFF">
                <a:alpha val="45000"/>
              </a:srgbClr>
            </a:solidFill>
            <a:prstDash val="solid"/>
          </a:ln>
        </p:spPr>
      </p:sp>
      <p:sp>
        <p:nvSpPr>
          <p:cNvPr id="12" name="Shape 10"/>
          <p:cNvSpPr/>
          <p:nvPr/>
        </p:nvSpPr>
        <p:spPr>
          <a:xfrm>
            <a:off x="1371600" y="4206240"/>
            <a:ext cx="548640" cy="1005840"/>
          </a:xfrm>
          <a:prstGeom prst="line">
            <a:avLst/>
          </a:prstGeom>
          <a:noFill/>
          <a:ln w="9525">
            <a:solidFill>
              <a:srgbClr val="2F5CFF">
                <a:alpha val="45000"/>
              </a:srgbClr>
            </a:solidFill>
            <a:prstDash val="solid"/>
          </a:ln>
        </p:spPr>
      </p:sp>
      <p:sp>
        <p:nvSpPr>
          <p:cNvPr id="13" name="Shape 11"/>
          <p:cNvSpPr/>
          <p:nvPr/>
        </p:nvSpPr>
        <p:spPr>
          <a:xfrm>
            <a:off x="1920240" y="4206240"/>
            <a:ext cx="822960" cy="1188720"/>
          </a:xfrm>
          <a:prstGeom prst="line">
            <a:avLst/>
          </a:prstGeom>
          <a:noFill/>
          <a:ln w="9525">
            <a:solidFill>
              <a:srgbClr val="2F5CFF">
                <a:alpha val="45000"/>
              </a:srgbClr>
            </a:solidFill>
            <a:prstDash val="solid"/>
          </a:ln>
        </p:spPr>
      </p:sp>
      <p:sp>
        <p:nvSpPr>
          <p:cNvPr id="14" name="Shape 12"/>
          <p:cNvSpPr/>
          <p:nvPr/>
        </p:nvSpPr>
        <p:spPr>
          <a:xfrm>
            <a:off x="1371600" y="5212080"/>
            <a:ext cx="1371600" cy="182880"/>
          </a:xfrm>
          <a:prstGeom prst="line">
            <a:avLst/>
          </a:prstGeom>
          <a:noFill/>
          <a:ln w="9525">
            <a:solidFill>
              <a:srgbClr val="2F5CFF">
                <a:alpha val="45000"/>
              </a:srgbClr>
            </a:solidFill>
            <a:prstDash val="solid"/>
          </a:ln>
        </p:spPr>
      </p:sp>
      <p:sp>
        <p:nvSpPr>
          <p:cNvPr id="15" name="Shape 13"/>
          <p:cNvSpPr/>
          <p:nvPr/>
        </p:nvSpPr>
        <p:spPr>
          <a:xfrm>
            <a:off x="740664" y="1014984"/>
            <a:ext cx="164592" cy="164592"/>
          </a:xfrm>
          <a:prstGeom prst="ellipse">
            <a:avLst/>
          </a:prstGeom>
          <a:solidFill>
            <a:srgbClr val="2F5CFF"/>
          </a:solidFill>
          <a:ln w="12700">
            <a:solidFill>
              <a:srgbClr val="FFFFFF"/>
            </a:solidFill>
            <a:prstDash val="solid"/>
          </a:ln>
        </p:spPr>
      </p:sp>
      <p:sp>
        <p:nvSpPr>
          <p:cNvPr id="16" name="Shape 14"/>
          <p:cNvSpPr/>
          <p:nvPr/>
        </p:nvSpPr>
        <p:spPr>
          <a:xfrm>
            <a:off x="1929384" y="557784"/>
            <a:ext cx="164592" cy="164592"/>
          </a:xfrm>
          <a:prstGeom prst="ellipse">
            <a:avLst/>
          </a:prstGeom>
          <a:solidFill>
            <a:srgbClr val="6C3CE9"/>
          </a:solidFill>
          <a:ln w="12700">
            <a:solidFill>
              <a:srgbClr val="FFFFFF"/>
            </a:solidFill>
            <a:prstDash val="solid"/>
          </a:ln>
        </p:spPr>
      </p:sp>
      <p:sp>
        <p:nvSpPr>
          <p:cNvPr id="17" name="Shape 15"/>
          <p:cNvSpPr/>
          <p:nvPr/>
        </p:nvSpPr>
        <p:spPr>
          <a:xfrm>
            <a:off x="3026664" y="1380744"/>
            <a:ext cx="164592" cy="164592"/>
          </a:xfrm>
          <a:prstGeom prst="ellipse">
            <a:avLst/>
          </a:prstGeom>
          <a:solidFill>
            <a:srgbClr val="2F5CFF"/>
          </a:solidFill>
          <a:ln w="12700">
            <a:solidFill>
              <a:srgbClr val="FFFFFF"/>
            </a:solidFill>
            <a:prstDash val="solid"/>
          </a:ln>
        </p:spPr>
      </p:sp>
      <p:sp>
        <p:nvSpPr>
          <p:cNvPr id="18" name="Shape 16"/>
          <p:cNvSpPr/>
          <p:nvPr/>
        </p:nvSpPr>
        <p:spPr>
          <a:xfrm>
            <a:off x="923544" y="2295144"/>
            <a:ext cx="164592" cy="164592"/>
          </a:xfrm>
          <a:prstGeom prst="ellipse">
            <a:avLst/>
          </a:prstGeom>
          <a:solidFill>
            <a:srgbClr val="6C3CE9"/>
          </a:solidFill>
          <a:ln w="12700">
            <a:solidFill>
              <a:srgbClr val="FFFFFF"/>
            </a:solidFill>
            <a:prstDash val="solid"/>
          </a:ln>
        </p:spPr>
      </p:sp>
      <p:sp>
        <p:nvSpPr>
          <p:cNvPr id="19" name="Shape 17"/>
          <p:cNvSpPr/>
          <p:nvPr/>
        </p:nvSpPr>
        <p:spPr>
          <a:xfrm>
            <a:off x="2295144" y="2569464"/>
            <a:ext cx="164592" cy="164592"/>
          </a:xfrm>
          <a:prstGeom prst="ellipse">
            <a:avLst/>
          </a:prstGeom>
          <a:solidFill>
            <a:srgbClr val="2F5CFF"/>
          </a:solidFill>
          <a:ln w="12700">
            <a:solidFill>
              <a:srgbClr val="FFFFFF"/>
            </a:solidFill>
            <a:prstDash val="solid"/>
          </a:ln>
        </p:spPr>
      </p:sp>
      <p:sp>
        <p:nvSpPr>
          <p:cNvPr id="20" name="Shape 18"/>
          <p:cNvSpPr/>
          <p:nvPr/>
        </p:nvSpPr>
        <p:spPr>
          <a:xfrm>
            <a:off x="557784" y="3758184"/>
            <a:ext cx="164592" cy="164592"/>
          </a:xfrm>
          <a:prstGeom prst="ellipse">
            <a:avLst/>
          </a:prstGeom>
          <a:solidFill>
            <a:srgbClr val="6C3CE9"/>
          </a:solidFill>
          <a:ln w="12700">
            <a:solidFill>
              <a:srgbClr val="FFFFFF"/>
            </a:solidFill>
            <a:prstDash val="solid"/>
          </a:ln>
        </p:spPr>
      </p:sp>
      <p:sp>
        <p:nvSpPr>
          <p:cNvPr id="21" name="Shape 19"/>
          <p:cNvSpPr/>
          <p:nvPr/>
        </p:nvSpPr>
        <p:spPr>
          <a:xfrm>
            <a:off x="1837944" y="4123944"/>
            <a:ext cx="164592" cy="164592"/>
          </a:xfrm>
          <a:prstGeom prst="ellipse">
            <a:avLst/>
          </a:prstGeom>
          <a:solidFill>
            <a:srgbClr val="2F5CFF"/>
          </a:solidFill>
          <a:ln w="12700">
            <a:solidFill>
              <a:srgbClr val="FFFFFF"/>
            </a:solidFill>
            <a:prstDash val="solid"/>
          </a:ln>
        </p:spPr>
      </p:sp>
      <p:sp>
        <p:nvSpPr>
          <p:cNvPr id="22" name="Shape 20"/>
          <p:cNvSpPr/>
          <p:nvPr/>
        </p:nvSpPr>
        <p:spPr>
          <a:xfrm>
            <a:off x="3118104" y="3483864"/>
            <a:ext cx="164592" cy="164592"/>
          </a:xfrm>
          <a:prstGeom prst="ellipse">
            <a:avLst/>
          </a:prstGeom>
          <a:solidFill>
            <a:srgbClr val="6C3CE9"/>
          </a:solidFill>
          <a:ln w="12700">
            <a:solidFill>
              <a:srgbClr val="FFFFFF"/>
            </a:solidFill>
            <a:prstDash val="solid"/>
          </a:ln>
        </p:spPr>
      </p:sp>
      <p:sp>
        <p:nvSpPr>
          <p:cNvPr id="23" name="Shape 21"/>
          <p:cNvSpPr/>
          <p:nvPr/>
        </p:nvSpPr>
        <p:spPr>
          <a:xfrm>
            <a:off x="1289304" y="5129784"/>
            <a:ext cx="164592" cy="164592"/>
          </a:xfrm>
          <a:prstGeom prst="ellipse">
            <a:avLst/>
          </a:prstGeom>
          <a:solidFill>
            <a:srgbClr val="2F5CFF"/>
          </a:solidFill>
          <a:ln w="12700">
            <a:solidFill>
              <a:srgbClr val="FFFFFF"/>
            </a:solidFill>
            <a:prstDash val="solid"/>
          </a:ln>
        </p:spPr>
      </p:sp>
      <p:sp>
        <p:nvSpPr>
          <p:cNvPr id="24" name="Shape 22"/>
          <p:cNvSpPr/>
          <p:nvPr/>
        </p:nvSpPr>
        <p:spPr>
          <a:xfrm>
            <a:off x="2660904" y="5312664"/>
            <a:ext cx="164592" cy="164592"/>
          </a:xfrm>
          <a:prstGeom prst="ellipse">
            <a:avLst/>
          </a:prstGeom>
          <a:solidFill>
            <a:srgbClr val="6C3CE9"/>
          </a:solidFill>
          <a:ln w="12700">
            <a:solidFill>
              <a:srgbClr val="FFFFFF"/>
            </a:solidFill>
            <a:prstDash val="solid"/>
          </a:ln>
        </p:spPr>
      </p:sp>
      <p:sp>
        <p:nvSpPr>
          <p:cNvPr id="25" name="Text 23"/>
          <p:cNvSpPr/>
          <p:nvPr/>
        </p:nvSpPr>
        <p:spPr>
          <a:xfrm>
            <a:off x="4663440" y="1965960"/>
            <a:ext cx="6858000" cy="914400"/>
          </a:xfrm>
          <a:prstGeom prst="rect">
            <a:avLst/>
          </a:prstGeom>
          <a:noFill/>
          <a:ln/>
        </p:spPr>
        <p:txBody>
          <a:bodyPr wrap="square" rtlCol="0" anchor="ctr"/>
          <a:lstStyle/>
          <a:p>
            <a:pPr marL="0" indent="0">
              <a:buNone/>
            </a:pPr>
            <a:r>
              <a:rPr lang="en-US" sz="4600" b="1" dirty="0">
                <a:solidFill>
                  <a:srgbClr val="FFFFFF"/>
                </a:solidFill>
                <a:latin typeface="Cambria" pitchFamily="34" charset="0"/>
                <a:ea typeface="Cambria" pitchFamily="34" charset="-122"/>
                <a:cs typeface="Cambria" pitchFamily="34" charset="-120"/>
              </a:rPr>
              <a:t>THANK YOU</a:t>
            </a:r>
            <a:endParaRPr lang="en-US" sz="4600" dirty="0"/>
          </a:p>
        </p:txBody>
      </p:sp>
      <p:sp>
        <p:nvSpPr>
          <p:cNvPr id="26" name="Text 24"/>
          <p:cNvSpPr/>
          <p:nvPr/>
        </p:nvSpPr>
        <p:spPr>
          <a:xfrm>
            <a:off x="4663440" y="2743200"/>
            <a:ext cx="6858000" cy="548640"/>
          </a:xfrm>
          <a:prstGeom prst="rect">
            <a:avLst/>
          </a:prstGeom>
          <a:noFill/>
          <a:ln/>
        </p:spPr>
        <p:txBody>
          <a:bodyPr wrap="square" rtlCol="0" anchor="ctr"/>
          <a:lstStyle/>
          <a:p>
            <a:pPr marL="0" indent="0">
              <a:buNone/>
            </a:pPr>
            <a:r>
              <a:rPr lang="en-US" sz="1800" i="1" dirty="0">
                <a:solidFill>
                  <a:srgbClr val="C7CCEF"/>
                </a:solidFill>
                <a:latin typeface="Calibri" pitchFamily="34" charset="0"/>
                <a:ea typeface="Calibri" pitchFamily="34" charset="-122"/>
                <a:cs typeface="Calibri" pitchFamily="34" charset="-120"/>
              </a:rPr>
              <a:t>Questions &amp; Discussion</a:t>
            </a:r>
            <a:endParaRPr lang="en-US" sz="1800" dirty="0"/>
          </a:p>
        </p:txBody>
      </p:sp>
      <p:sp>
        <p:nvSpPr>
          <p:cNvPr id="27" name="Shape 25"/>
          <p:cNvSpPr/>
          <p:nvPr/>
        </p:nvSpPr>
        <p:spPr>
          <a:xfrm>
            <a:off x="4663440" y="3749040"/>
            <a:ext cx="457200" cy="457200"/>
          </a:xfrm>
          <a:prstGeom prst="ellipse">
            <a:avLst/>
          </a:prstGeom>
          <a:solidFill>
            <a:srgbClr val="6C3CE9"/>
          </a:solidFill>
          <a:ln/>
        </p:spPr>
      </p:sp>
      <p:pic>
        <p:nvPicPr>
          <p:cNvPr id="28" name="Image 0" descr="preencoded.png"/>
          <p:cNvPicPr>
            <a:picLocks noChangeAspect="1"/>
          </p:cNvPicPr>
          <p:nvPr/>
        </p:nvPicPr>
        <p:blipFill>
          <a:blip r:embed="rId3"/>
          <a:stretch>
            <a:fillRect/>
          </a:stretch>
        </p:blipFill>
        <p:spPr>
          <a:xfrm>
            <a:off x="4782312" y="3867912"/>
            <a:ext cx="219456" cy="219456"/>
          </a:xfrm>
          <a:prstGeom prst="rect">
            <a:avLst/>
          </a:prstGeom>
        </p:spPr>
      </p:pic>
      <p:sp>
        <p:nvSpPr>
          <p:cNvPr id="29" name="Text 26"/>
          <p:cNvSpPr/>
          <p:nvPr/>
        </p:nvSpPr>
        <p:spPr>
          <a:xfrm>
            <a:off x="5303520" y="3749040"/>
            <a:ext cx="5486400" cy="457200"/>
          </a:xfrm>
          <a:prstGeom prst="rect">
            <a:avLst/>
          </a:prstGeom>
          <a:noFill/>
          <a:ln/>
        </p:spPr>
        <p:txBody>
          <a:bodyPr wrap="square" rtlCol="0" anchor="ctr"/>
          <a:lstStyle/>
          <a:p>
            <a:pPr marL="0" indent="0">
              <a:buNone/>
            </a:pPr>
            <a:r>
              <a:rPr lang="en-US" sz="1350" dirty="0">
                <a:solidFill>
                  <a:srgbClr val="FFFFFF"/>
                </a:solidFill>
                <a:latin typeface="Calibri" pitchFamily="34" charset="0"/>
                <a:ea typeface="Calibri" pitchFamily="34" charset="-122"/>
                <a:cs typeface="Calibri" pitchFamily="34" charset="-120"/>
              </a:rPr>
              <a:t>goeldhawal5@gmail.com</a:t>
            </a:r>
            <a:endParaRPr lang="en-US" sz="1350" dirty="0"/>
          </a:p>
        </p:txBody>
      </p:sp>
      <p:sp>
        <p:nvSpPr>
          <p:cNvPr id="30" name="Shape 27"/>
          <p:cNvSpPr/>
          <p:nvPr/>
        </p:nvSpPr>
        <p:spPr>
          <a:xfrm>
            <a:off x="4663440" y="4407408"/>
            <a:ext cx="457200" cy="457200"/>
          </a:xfrm>
          <a:prstGeom prst="ellipse">
            <a:avLst/>
          </a:prstGeom>
          <a:solidFill>
            <a:srgbClr val="6C3CE9"/>
          </a:solidFill>
          <a:ln/>
        </p:spPr>
      </p:sp>
      <p:pic>
        <p:nvPicPr>
          <p:cNvPr id="31" name="Image 1" descr="preencoded.png"/>
          <p:cNvPicPr>
            <a:picLocks noChangeAspect="1"/>
          </p:cNvPicPr>
          <p:nvPr/>
        </p:nvPicPr>
        <p:blipFill>
          <a:blip r:embed="rId4"/>
          <a:stretch>
            <a:fillRect/>
          </a:stretch>
        </p:blipFill>
        <p:spPr>
          <a:xfrm>
            <a:off x="4782312" y="4526280"/>
            <a:ext cx="219456" cy="219456"/>
          </a:xfrm>
          <a:prstGeom prst="rect">
            <a:avLst/>
          </a:prstGeom>
        </p:spPr>
      </p:pic>
      <p:sp>
        <p:nvSpPr>
          <p:cNvPr id="32" name="Text 28"/>
          <p:cNvSpPr/>
          <p:nvPr/>
        </p:nvSpPr>
        <p:spPr>
          <a:xfrm>
            <a:off x="5303520" y="4407408"/>
            <a:ext cx="5486400" cy="457200"/>
          </a:xfrm>
          <a:prstGeom prst="rect">
            <a:avLst/>
          </a:prstGeom>
          <a:noFill/>
          <a:ln/>
        </p:spPr>
        <p:txBody>
          <a:bodyPr wrap="square" rtlCol="0" anchor="ctr"/>
          <a:lstStyle/>
          <a:p>
            <a:r>
              <a:rPr lang="en-IN" sz="1400" dirty="0">
                <a:solidFill>
                  <a:schemeClr val="bg1">
                    <a:lumMod val="95000"/>
                  </a:schemeClr>
                </a:solidFill>
              </a:rPr>
              <a:t>www.linkedin.com/in/dhawal-goel</a:t>
            </a:r>
            <a:endParaRPr lang="en-US" sz="1400" dirty="0"/>
          </a:p>
        </p:txBody>
      </p:sp>
      <p:sp>
        <p:nvSpPr>
          <p:cNvPr id="33" name="Shape 29"/>
          <p:cNvSpPr/>
          <p:nvPr/>
        </p:nvSpPr>
        <p:spPr>
          <a:xfrm>
            <a:off x="4663440" y="5065776"/>
            <a:ext cx="457200" cy="457200"/>
          </a:xfrm>
          <a:prstGeom prst="ellipse">
            <a:avLst/>
          </a:prstGeom>
          <a:solidFill>
            <a:srgbClr val="6C3CE9"/>
          </a:solidFill>
          <a:ln/>
        </p:spPr>
      </p:sp>
      <p:pic>
        <p:nvPicPr>
          <p:cNvPr id="34" name="Image 2" descr="preencoded.png"/>
          <p:cNvPicPr>
            <a:picLocks noChangeAspect="1"/>
          </p:cNvPicPr>
          <p:nvPr/>
        </p:nvPicPr>
        <p:blipFill>
          <a:blip r:embed="rId5"/>
          <a:stretch>
            <a:fillRect/>
          </a:stretch>
        </p:blipFill>
        <p:spPr>
          <a:xfrm>
            <a:off x="4782312" y="5184648"/>
            <a:ext cx="219456" cy="219456"/>
          </a:xfrm>
          <a:prstGeom prst="rect">
            <a:avLst/>
          </a:prstGeom>
        </p:spPr>
      </p:pic>
      <p:sp>
        <p:nvSpPr>
          <p:cNvPr id="35" name="Text 30"/>
          <p:cNvSpPr/>
          <p:nvPr/>
        </p:nvSpPr>
        <p:spPr>
          <a:xfrm>
            <a:off x="5303520" y="5065776"/>
            <a:ext cx="5486400" cy="457200"/>
          </a:xfrm>
          <a:prstGeom prst="rect">
            <a:avLst/>
          </a:prstGeom>
          <a:noFill/>
          <a:ln/>
        </p:spPr>
        <p:txBody>
          <a:bodyPr wrap="square" rtlCol="0" anchor="ctr"/>
          <a:lstStyle/>
          <a:p>
            <a:pPr marL="0" indent="0">
              <a:buNone/>
            </a:pPr>
            <a:r>
              <a:rPr lang="en-US" sz="1350" dirty="0">
                <a:solidFill>
                  <a:srgbClr val="FFFFFF"/>
                </a:solidFill>
                <a:latin typeface="Calibri" pitchFamily="34" charset="0"/>
                <a:ea typeface="Calibri" pitchFamily="34" charset="-122"/>
                <a:cs typeface="Calibri" pitchFamily="34" charset="-120"/>
              </a:rPr>
              <a:t>github.com/</a:t>
            </a:r>
            <a:r>
              <a:rPr lang="en-US" sz="1350" dirty="0" err="1">
                <a:solidFill>
                  <a:srgbClr val="FFFFFF"/>
                </a:solidFill>
                <a:latin typeface="Calibri" pitchFamily="34" charset="0"/>
                <a:ea typeface="Calibri" pitchFamily="34" charset="-122"/>
                <a:cs typeface="Calibri" pitchFamily="34" charset="-120"/>
              </a:rPr>
              <a:t>Dhawalgoel</a:t>
            </a:r>
            <a:endParaRPr lang="en-US" sz="13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40</TotalTime>
  <Words>2542</Words>
  <Application>Microsoft Office PowerPoint</Application>
  <PresentationFormat>Widescreen</PresentationFormat>
  <Paragraphs>311</Paragraphs>
  <Slides>15</Slides>
  <Notes>15</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15</vt:i4>
      </vt:variant>
    </vt:vector>
  </HeadingPairs>
  <TitlesOfParts>
    <vt:vector size="19" baseType="lpstr">
      <vt:lpstr>Arial</vt:lpstr>
      <vt:lpstr>Calibri</vt:lpstr>
      <vt:lpstr>Cambria</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AI Student Performance Prediction System</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ML Internship Project</dc:creator>
  <cp:lastModifiedBy>Dhawal Goel</cp:lastModifiedBy>
  <cp:revision>2</cp:revision>
  <dcterms:created xsi:type="dcterms:W3CDTF">2026-07-18T05:34:48Z</dcterms:created>
  <dcterms:modified xsi:type="dcterms:W3CDTF">2026-07-18T06:39:07Z</dcterms:modified>
</cp:coreProperties>
</file>